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1" r:id="rId3"/>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utsche Oper Berlin" id="{597EB93C-57D9-7742-86CE-168E3CD16826}">
          <p14:sldIdLst>
            <p14:sldId id="260"/>
            <p14:sldId id="261"/>
          </p14:sldIdLst>
        </p14:section>
        <p14:section name="Default Section" id="{0223C6C4-206E-934D-B9F8-84AF579917BD}">
          <p14:sldIdLst/>
        </p14:section>
      </p14:sectionLst>
    </p:ex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120" autoAdjust="0"/>
  </p:normalViewPr>
  <p:slideViewPr>
    <p:cSldViewPr snapToGrid="0" showGuides="1">
      <p:cViewPr varScale="1">
        <p:scale>
          <a:sx n="110" d="100"/>
          <a:sy n="110" d="100"/>
        </p:scale>
        <p:origin x="1320" y="184"/>
      </p:cViewPr>
      <p:guideLst>
        <p:guide orient="horz" pos="2160"/>
        <p:guide pos="3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826513-723D-49F3-89E5-D8BF86FF1B32}"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1066494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826513-723D-49F3-89E5-D8BF86FF1B32}"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4118626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826513-723D-49F3-89E5-D8BF86FF1B32}"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2577818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826513-723D-49F3-89E5-D8BF86FF1B32}"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2423876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826513-723D-49F3-89E5-D8BF86FF1B32}" type="datetimeFigureOut">
              <a:rPr lang="en-US" smtClean="0"/>
              <a:t>11/12/25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2071756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826513-723D-49F3-89E5-D8BF86FF1B32}" type="datetimeFigureOut">
              <a:rPr lang="en-US" smtClean="0"/>
              <a:t>11/12/25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956312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826513-723D-49F3-89E5-D8BF86FF1B32}" type="datetimeFigureOut">
              <a:rPr lang="en-US" smtClean="0"/>
              <a:t>11/12/25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1064121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826513-723D-49F3-89E5-D8BF86FF1B32}"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317071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826513-723D-49F3-89E5-D8BF86FF1B32}"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748817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826513-723D-49F3-89E5-D8BF86FF1B32}"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2437318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826513-723D-49F3-89E5-D8BF86FF1B32}"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B48F6-E46A-4746-A42E-17368AC5928E}" type="slidenum">
              <a:rPr lang="en-US" smtClean="0"/>
              <a:t>‹#›</a:t>
            </a:fld>
            <a:endParaRPr lang="en-US"/>
          </a:p>
        </p:txBody>
      </p:sp>
    </p:spTree>
    <p:extLst>
      <p:ext uri="{BB962C8B-B14F-4D97-AF65-F5344CB8AC3E}">
        <p14:creationId xmlns:p14="http://schemas.microsoft.com/office/powerpoint/2010/main" val="1738366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826513-723D-49F3-89E5-D8BF86FF1B32}" type="datetimeFigureOut">
              <a:rPr lang="en-US" smtClean="0"/>
              <a:t>11/12/25</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5B48F6-E46A-4746-A42E-17368AC5928E}" type="slidenum">
              <a:rPr lang="en-US" smtClean="0"/>
              <a:t>‹#›</a:t>
            </a:fld>
            <a:endParaRPr lang="en-US"/>
          </a:p>
        </p:txBody>
      </p:sp>
    </p:spTree>
    <p:extLst>
      <p:ext uri="{BB962C8B-B14F-4D97-AF65-F5344CB8AC3E}">
        <p14:creationId xmlns:p14="http://schemas.microsoft.com/office/powerpoint/2010/main" val="509096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1FB087-DEEA-149E-FAF2-14E1F79BC805}"/>
              </a:ext>
            </a:extLst>
          </p:cNvPr>
          <p:cNvSpPr txBox="1"/>
          <p:nvPr/>
        </p:nvSpPr>
        <p:spPr>
          <a:xfrm>
            <a:off x="138896" y="117693"/>
            <a:ext cx="4814104" cy="6863417"/>
          </a:xfrm>
          <a:prstGeom prst="rect">
            <a:avLst/>
          </a:prstGeom>
          <a:noFill/>
        </p:spPr>
        <p:txBody>
          <a:bodyPr wrap="square">
            <a:spAutoFit/>
          </a:bodyPr>
          <a:lstStyle/>
          <a:p>
            <a:r>
              <a:rPr lang="en-DE" sz="800" b="1" dirty="0"/>
              <a:t>📖 </a:t>
            </a:r>
            <a:r>
              <a:rPr lang="zh-CN" altLang="en-US" sz="800" b="1" dirty="0"/>
              <a:t>剧情概要：方向</a:t>
            </a:r>
            <a:r>
              <a:rPr lang="en-US" altLang="zh-CN" sz="800" b="1" dirty="0"/>
              <a:t>——</a:t>
            </a:r>
            <a:r>
              <a:rPr lang="zh-CN" altLang="en-US" sz="800" b="1" dirty="0"/>
              <a:t>自由</a:t>
            </a:r>
          </a:p>
          <a:p>
            <a:r>
              <a:rPr lang="zh-CN" altLang="en-US" sz="800" dirty="0"/>
              <a:t>（作者：</a:t>
            </a:r>
            <a:r>
              <a:rPr lang="en-GB" sz="800" dirty="0"/>
              <a:t>Katinka </a:t>
            </a:r>
            <a:r>
              <a:rPr lang="en-GB" sz="800" dirty="0" err="1"/>
              <a:t>Deecke</a:t>
            </a:r>
            <a:r>
              <a:rPr lang="en-GB" sz="800" dirty="0"/>
              <a:t>）</a:t>
            </a:r>
          </a:p>
          <a:p>
            <a:r>
              <a:rPr lang="zh-CN" altLang="en-US" sz="800" b="1" dirty="0"/>
              <a:t>第一幕</a:t>
            </a:r>
          </a:p>
          <a:p>
            <a:r>
              <a:rPr lang="zh-CN" altLang="en-US" sz="800" dirty="0"/>
              <a:t>在统治者斯韦托萨尔的宫殿里，王子鲁斯兰与公主柳德米拉的婚礼正热闹举行。</a:t>
            </a:r>
            <a:br>
              <a:rPr lang="zh-CN" altLang="en-US" sz="800" dirty="0"/>
            </a:br>
            <a:r>
              <a:rPr lang="zh-CN" altLang="en-US" sz="800" dirty="0"/>
              <a:t>宾客中有两位家族好友：拉特米尔和法尔拉夫。</a:t>
            </a:r>
            <a:br>
              <a:rPr lang="zh-CN" altLang="en-US" sz="800" dirty="0"/>
            </a:br>
            <a:r>
              <a:rPr lang="zh-CN" altLang="en-US" sz="800" dirty="0"/>
              <a:t>然而欢乐背后暗藏不安</a:t>
            </a:r>
            <a:r>
              <a:rPr lang="en-US" altLang="zh-CN" sz="800" dirty="0"/>
              <a:t>——</a:t>
            </a:r>
          </a:p>
          <a:p>
            <a:r>
              <a:rPr lang="zh-CN" altLang="en-US" sz="800" dirty="0"/>
              <a:t>拉特米尔与恋人戈里斯拉娃的关系出现裂痕；</a:t>
            </a:r>
          </a:p>
          <a:p>
            <a:r>
              <a:rPr lang="zh-CN" altLang="en-US" sz="800" dirty="0"/>
              <a:t>法尔拉夫暗恋新娘柳德米拉，嫉妒鲁斯兰；</a:t>
            </a:r>
          </a:p>
          <a:p>
            <a:r>
              <a:rPr lang="zh-CN" altLang="en-US" sz="800" dirty="0"/>
              <a:t>巫师芬警告众人：国家正陷入暴力与混乱。</a:t>
            </a:r>
          </a:p>
          <a:p>
            <a:r>
              <a:rPr lang="zh-CN" altLang="en-US" sz="800" dirty="0"/>
              <a:t>就在庆典高潮之际，柳德米拉突然神秘失踪。</a:t>
            </a:r>
            <a:br>
              <a:rPr lang="zh-CN" altLang="en-US" sz="800" dirty="0"/>
            </a:br>
            <a:r>
              <a:rPr lang="zh-CN" altLang="en-US" sz="800" dirty="0"/>
              <a:t>鲁斯兰、拉特米尔与法尔拉夫分别踏上寻她的旅程。</a:t>
            </a:r>
          </a:p>
          <a:p>
            <a:endParaRPr lang="zh-CN" altLang="en-US" sz="800" dirty="0"/>
          </a:p>
          <a:p>
            <a:r>
              <a:rPr lang="zh-CN" altLang="en-US" sz="800" b="1" dirty="0"/>
              <a:t>第二幕</a:t>
            </a:r>
          </a:p>
          <a:p>
            <a:r>
              <a:rPr lang="zh-CN" altLang="en-US" sz="800" dirty="0"/>
              <a:t>远离王宫，巫师芬向鲁斯兰讲述了自己的往事：</a:t>
            </a:r>
            <a:br>
              <a:rPr lang="zh-CN" altLang="en-US" sz="800" dirty="0"/>
            </a:br>
            <a:r>
              <a:rPr lang="zh-CN" altLang="en-US" sz="800" dirty="0"/>
              <a:t>他年轻时曾爱上女巫奈娜（</a:t>
            </a:r>
            <a:r>
              <a:rPr lang="en-GB" sz="800" dirty="0"/>
              <a:t>Naina），</a:t>
            </a:r>
            <a:r>
              <a:rPr lang="zh-CN" altLang="en-US" sz="800" dirty="0"/>
              <a:t>并用爱情魔法控制她。如今奈娜衰老丑陋，芬不再爱她，奈娜遂誓言报复。</a:t>
            </a:r>
            <a:br>
              <a:rPr lang="zh-CN" altLang="en-US" sz="800" dirty="0"/>
            </a:br>
            <a:r>
              <a:rPr lang="zh-CN" altLang="en-US" sz="800" dirty="0"/>
              <a:t>她与法尔拉夫结盟，共同策划阴谋。</a:t>
            </a:r>
          </a:p>
          <a:p>
            <a:r>
              <a:rPr lang="zh-CN" altLang="en-US" sz="800" dirty="0"/>
              <a:t>场景转至一片冰冷的战场。</a:t>
            </a:r>
            <a:br>
              <a:rPr lang="zh-CN" altLang="en-US" sz="800" dirty="0"/>
            </a:br>
            <a:r>
              <a:rPr lang="zh-CN" altLang="en-US" sz="800" dirty="0"/>
              <a:t>鲁斯兰在废墟中寻求答案，也在寻找自我。</a:t>
            </a:r>
            <a:br>
              <a:rPr lang="zh-CN" altLang="en-US" sz="800" dirty="0"/>
            </a:br>
            <a:r>
              <a:rPr lang="zh-CN" altLang="en-US" sz="800" dirty="0"/>
              <a:t>最终，他在一位被斩首的巨人头颅处得到了指引。</a:t>
            </a:r>
            <a:br>
              <a:rPr lang="zh-CN" altLang="en-US" sz="800" dirty="0"/>
            </a:br>
            <a:endParaRPr lang="zh-CN" altLang="en-US" sz="800" dirty="0"/>
          </a:p>
          <a:p>
            <a:r>
              <a:rPr lang="zh-CN" altLang="en-US" sz="800" b="1" dirty="0"/>
              <a:t>第三幕</a:t>
            </a:r>
          </a:p>
          <a:p>
            <a:r>
              <a:rPr lang="zh-CN" altLang="en-US" sz="800" dirty="0"/>
              <a:t>场景转至奈娜的魔幻世界。</a:t>
            </a:r>
            <a:br>
              <a:rPr lang="zh-CN" altLang="en-US" sz="800" dirty="0"/>
            </a:br>
            <a:r>
              <a:rPr lang="zh-CN" altLang="en-US" sz="800" dirty="0"/>
              <a:t>拉特米尔的恋人戈里斯拉娃被困于此，但拉特米尔对她已无动于衷。</a:t>
            </a:r>
            <a:br>
              <a:rPr lang="zh-CN" altLang="en-US" sz="800" dirty="0"/>
            </a:br>
            <a:r>
              <a:rPr lang="zh-CN" altLang="en-US" sz="800" dirty="0"/>
              <a:t>鲁斯兰则在幻境中发现自己新的欲望与冲动，几乎忘记了柳德米拉。</a:t>
            </a:r>
            <a:br>
              <a:rPr lang="zh-CN" altLang="en-US" sz="800" dirty="0"/>
            </a:br>
            <a:r>
              <a:rPr lang="zh-CN" altLang="en-US" sz="800" dirty="0"/>
              <a:t>巫师芬突然出现，奈娜的虚幻世界瞬间崩塌。</a:t>
            </a:r>
          </a:p>
          <a:p>
            <a:endParaRPr lang="zh-CN" altLang="en-US" sz="800" dirty="0"/>
          </a:p>
          <a:p>
            <a:r>
              <a:rPr lang="zh-CN" altLang="en-US" sz="800" b="1" dirty="0"/>
              <a:t>第四幕</a:t>
            </a:r>
          </a:p>
          <a:p>
            <a:r>
              <a:rPr lang="zh-CN" altLang="en-US" sz="800" dirty="0"/>
              <a:t>柳德米拉陷入绝望，思索生死的意义。</a:t>
            </a:r>
            <a:br>
              <a:rPr lang="zh-CN" altLang="en-US" sz="800" dirty="0"/>
            </a:br>
            <a:r>
              <a:rPr lang="zh-CN" altLang="en-US" sz="800" dirty="0"/>
              <a:t>梦境与现实交织。</a:t>
            </a:r>
            <a:br>
              <a:rPr lang="zh-CN" altLang="en-US" sz="800" dirty="0"/>
            </a:br>
            <a:r>
              <a:rPr lang="zh-CN" altLang="en-US" sz="800" dirty="0"/>
              <a:t>当鲁斯兰终于赶到时，她已陷入恍惚，无法回应。</a:t>
            </a:r>
            <a:br>
              <a:rPr lang="zh-CN" altLang="en-US" sz="800" dirty="0"/>
            </a:br>
            <a:endParaRPr lang="zh-CN" altLang="en-US" sz="800" dirty="0"/>
          </a:p>
          <a:p>
            <a:r>
              <a:rPr lang="zh-CN" altLang="en-US" sz="800" b="1" dirty="0"/>
              <a:t>第五幕</a:t>
            </a:r>
          </a:p>
          <a:p>
            <a:r>
              <a:rPr lang="zh-CN" altLang="en-US" sz="800" dirty="0"/>
              <a:t>故事回到最初的婚礼大厅。</a:t>
            </a:r>
            <a:br>
              <a:rPr lang="zh-CN" altLang="en-US" sz="800" dirty="0"/>
            </a:br>
            <a:r>
              <a:rPr lang="zh-CN" altLang="en-US" sz="800" dirty="0"/>
              <a:t>柳德米拉与众人似乎都回到了现实。</a:t>
            </a:r>
            <a:br>
              <a:rPr lang="zh-CN" altLang="en-US" sz="800" dirty="0"/>
            </a:br>
            <a:r>
              <a:rPr lang="zh-CN" altLang="en-US" sz="800" dirty="0"/>
              <a:t>婚礼可以继续</a:t>
            </a:r>
            <a:r>
              <a:rPr lang="en-US" altLang="zh-CN" sz="800" dirty="0"/>
              <a:t>——</a:t>
            </a:r>
            <a:br>
              <a:rPr lang="en-US" altLang="zh-CN" sz="800" dirty="0"/>
            </a:br>
            <a:r>
              <a:rPr lang="zh-CN" altLang="en-US" sz="800" dirty="0"/>
              <a:t>但问题是：</a:t>
            </a:r>
            <a:r>
              <a:rPr lang="zh-CN" altLang="en-US" sz="800" b="1" dirty="0"/>
              <a:t>他们真的自由了吗？</a:t>
            </a:r>
            <a:endParaRPr lang="en-US" altLang="zh-CN" sz="800" b="1" dirty="0"/>
          </a:p>
          <a:p>
            <a:endParaRPr lang="en-US" altLang="zh-CN" sz="800" b="1" dirty="0"/>
          </a:p>
          <a:p>
            <a:r>
              <a:rPr lang="zh-CN" altLang="en-US" sz="800" b="1" dirty="0">
                <a:highlight>
                  <a:srgbClr val="FFFF00"/>
                </a:highlight>
              </a:rPr>
              <a:t>采访：结局美满，真的一切美好吗？</a:t>
            </a:r>
          </a:p>
          <a:p>
            <a:r>
              <a:rPr lang="en-US" altLang="zh-CN" sz="800" b="1" dirty="0">
                <a:highlight>
                  <a:srgbClr val="FFFF00"/>
                </a:highlight>
              </a:rPr>
              <a:t>——</a:t>
            </a:r>
            <a:r>
              <a:rPr lang="zh-CN" altLang="en-US" sz="800" b="1" dirty="0">
                <a:highlight>
                  <a:srgbClr val="FFFF00"/>
                </a:highlight>
              </a:rPr>
              <a:t>玛格多尔娜</a:t>
            </a:r>
            <a:r>
              <a:rPr lang="en-US" altLang="zh-CN" sz="800" b="1" dirty="0">
                <a:highlight>
                  <a:srgbClr val="FFFF00"/>
                </a:highlight>
              </a:rPr>
              <a:t>·</a:t>
            </a:r>
            <a:r>
              <a:rPr lang="zh-CN" altLang="en-US" sz="800" b="1" dirty="0">
                <a:highlight>
                  <a:srgbClr val="FFFF00"/>
                </a:highlight>
              </a:rPr>
              <a:t>帕尔迪特卡（</a:t>
            </a:r>
            <a:r>
              <a:rPr lang="en-GB" sz="800" b="1" dirty="0">
                <a:highlight>
                  <a:srgbClr val="FFFF00"/>
                </a:highlight>
              </a:rPr>
              <a:t>Magdolna Parditka）</a:t>
            </a:r>
            <a:r>
              <a:rPr lang="zh-CN" altLang="en-US" sz="800" b="1" dirty="0">
                <a:highlight>
                  <a:srgbClr val="FFFF00"/>
                </a:highlight>
              </a:rPr>
              <a:t>与亚历山德拉</a:t>
            </a:r>
            <a:r>
              <a:rPr lang="en-US" altLang="zh-CN" sz="800" b="1" dirty="0">
                <a:highlight>
                  <a:srgbClr val="FFFF00"/>
                </a:highlight>
              </a:rPr>
              <a:t>·</a:t>
            </a:r>
            <a:r>
              <a:rPr lang="zh-CN" altLang="en-US" sz="800" b="1" dirty="0">
                <a:highlight>
                  <a:srgbClr val="FFFF00"/>
                </a:highlight>
              </a:rPr>
              <a:t>塞梅雷迪（</a:t>
            </a:r>
            <a:r>
              <a:rPr lang="en-GB" sz="800" b="1" dirty="0">
                <a:highlight>
                  <a:srgbClr val="FFFF00"/>
                </a:highlight>
              </a:rPr>
              <a:t>Alexandra Szemerédy）</a:t>
            </a:r>
            <a:r>
              <a:rPr lang="zh-CN" altLang="en-US" sz="800" b="1" dirty="0">
                <a:highlight>
                  <a:srgbClr val="FFFF00"/>
                </a:highlight>
              </a:rPr>
              <a:t>对谈</a:t>
            </a:r>
            <a:br>
              <a:rPr lang="zh-CN" altLang="en-US" sz="800" dirty="0">
                <a:highlight>
                  <a:srgbClr val="FFFF00"/>
                </a:highlight>
              </a:rPr>
            </a:br>
            <a:r>
              <a:rPr lang="zh-CN" altLang="en-US" sz="800" b="1" dirty="0">
                <a:highlight>
                  <a:srgbClr val="FFFF00"/>
                </a:highlight>
              </a:rPr>
              <a:t>采访者：卡廷卡</a:t>
            </a:r>
            <a:r>
              <a:rPr lang="en-US" altLang="zh-CN" sz="800" b="1" dirty="0">
                <a:highlight>
                  <a:srgbClr val="FFFF00"/>
                </a:highlight>
              </a:rPr>
              <a:t>·</a:t>
            </a:r>
            <a:r>
              <a:rPr lang="zh-CN" altLang="en-US" sz="800" b="1" dirty="0">
                <a:highlight>
                  <a:srgbClr val="FFFF00"/>
                </a:highlight>
              </a:rPr>
              <a:t>迪克（</a:t>
            </a:r>
            <a:r>
              <a:rPr lang="en-GB" sz="800" b="1" dirty="0">
                <a:highlight>
                  <a:srgbClr val="FFFF00"/>
                </a:highlight>
              </a:rPr>
              <a:t>Katinka </a:t>
            </a:r>
            <a:r>
              <a:rPr lang="en-GB" sz="800" b="1" dirty="0" err="1">
                <a:highlight>
                  <a:srgbClr val="FFFF00"/>
                </a:highlight>
              </a:rPr>
              <a:t>Deecke</a:t>
            </a:r>
            <a:r>
              <a:rPr lang="en-GB" sz="800" b="1" dirty="0">
                <a:highlight>
                  <a:srgbClr val="FFFF00"/>
                </a:highlight>
              </a:rPr>
              <a:t>）</a:t>
            </a:r>
            <a:r>
              <a:rPr lang="zh-CN" altLang="en-US" sz="800" b="1" dirty="0">
                <a:highlight>
                  <a:srgbClr val="FFFF00"/>
                </a:highlight>
              </a:rPr>
              <a:t>与朱迪思</a:t>
            </a:r>
            <a:r>
              <a:rPr lang="en-US" altLang="zh-CN" sz="800" b="1" dirty="0">
                <a:highlight>
                  <a:srgbClr val="FFFF00"/>
                </a:highlight>
              </a:rPr>
              <a:t>·</a:t>
            </a:r>
            <a:r>
              <a:rPr lang="zh-CN" altLang="en-US" sz="800" b="1" dirty="0">
                <a:highlight>
                  <a:srgbClr val="FFFF00"/>
                </a:highlight>
              </a:rPr>
              <a:t>维默斯（</a:t>
            </a:r>
            <a:r>
              <a:rPr lang="en-GB" sz="800" b="1" dirty="0">
                <a:highlight>
                  <a:srgbClr val="FFFF00"/>
                </a:highlight>
              </a:rPr>
              <a:t>Judith Wiemers）</a:t>
            </a:r>
            <a:endParaRPr lang="en-GB" sz="800" dirty="0">
              <a:highlight>
                <a:srgbClr val="FFFF00"/>
              </a:highlight>
            </a:endParaRPr>
          </a:p>
          <a:p>
            <a:endParaRPr lang="en-GB" sz="800" dirty="0"/>
          </a:p>
          <a:p>
            <a:r>
              <a:rPr lang="zh-CN" altLang="en-US" sz="800" b="1" dirty="0"/>
              <a:t>问题：</a:t>
            </a:r>
          </a:p>
          <a:p>
            <a:r>
              <a:rPr lang="zh-CN" altLang="en-US" sz="800" dirty="0"/>
              <a:t>在原作剧本中，剧情的起点是：一位来自基辅的公主被一个强大的邪恶侏儒绑架。</a:t>
            </a:r>
            <a:br>
              <a:rPr lang="zh-CN" altLang="en-US" sz="800" dirty="0"/>
            </a:br>
            <a:r>
              <a:rPr lang="zh-CN" altLang="en-US" sz="800" dirty="0"/>
              <a:t>在你们看来，这个情节是否与当今紧张的国际政治局势有某种联系？</a:t>
            </a:r>
            <a:br>
              <a:rPr lang="zh-CN" altLang="en-US" sz="800" dirty="0"/>
            </a:br>
            <a:endParaRPr lang="zh-CN" altLang="en-US" sz="800" dirty="0"/>
          </a:p>
          <a:p>
            <a:r>
              <a:rPr lang="zh-CN" altLang="en-US" sz="800" b="1" dirty="0"/>
              <a:t>亚历山德拉</a:t>
            </a:r>
            <a:r>
              <a:rPr lang="en-US" altLang="zh-CN" sz="800" b="1" dirty="0"/>
              <a:t>·</a:t>
            </a:r>
            <a:r>
              <a:rPr lang="zh-CN" altLang="en-US" sz="800" b="1" dirty="0"/>
              <a:t>塞梅雷迪（</a:t>
            </a:r>
            <a:r>
              <a:rPr lang="en-GB" sz="800" b="1" dirty="0"/>
              <a:t>Alexandra Szemerédy）：</a:t>
            </a:r>
          </a:p>
          <a:p>
            <a:r>
              <a:rPr lang="zh-CN" altLang="en-US" sz="800" dirty="0"/>
              <a:t>当然，仅仅从故事发生的地点来看，这个题材就具备了极强的政治敏感性。</a:t>
            </a:r>
            <a:br>
              <a:rPr lang="zh-CN" altLang="en-US" sz="800" dirty="0"/>
            </a:br>
            <a:r>
              <a:rPr lang="zh-CN" altLang="en-US" sz="800" dirty="0"/>
              <a:t>但我认为，如果我们只是简单地将故事与当下的政治现实进行一一对应，那就太过表面，也完全背离了这部作品的本质。</a:t>
            </a:r>
          </a:p>
          <a:p>
            <a:r>
              <a:rPr lang="zh-CN" altLang="en-US" sz="800" dirty="0"/>
              <a:t>我们更关心的是</a:t>
            </a:r>
            <a:r>
              <a:rPr lang="zh-CN" altLang="en-US" sz="800" b="1" dirty="0"/>
              <a:t>社会与人文层面的议题</a:t>
            </a:r>
            <a:r>
              <a:rPr lang="zh-CN" altLang="en-US" sz="800" dirty="0"/>
              <a:t>。</a:t>
            </a:r>
            <a:br>
              <a:rPr lang="zh-CN" altLang="en-US" sz="800" dirty="0"/>
            </a:br>
            <a:r>
              <a:rPr lang="zh-CN" altLang="en-US" sz="800" dirty="0"/>
              <a:t>对我而言，</a:t>
            </a:r>
            <a:r>
              <a:rPr lang="en-US" altLang="zh-CN" sz="800" dirty="0"/>
              <a:t>《</a:t>
            </a:r>
            <a:r>
              <a:rPr lang="zh-CN" altLang="en-US" sz="800" dirty="0"/>
              <a:t>鲁斯兰与柳德米拉</a:t>
            </a:r>
            <a:r>
              <a:rPr lang="en-US" altLang="zh-CN" sz="800" dirty="0"/>
              <a:t>》</a:t>
            </a:r>
            <a:r>
              <a:rPr lang="zh-CN" altLang="en-US" sz="800" dirty="0"/>
              <a:t>首先是一则</a:t>
            </a:r>
            <a:r>
              <a:rPr lang="zh-CN" altLang="en-US" sz="800" b="1" dirty="0"/>
              <a:t>童话</a:t>
            </a:r>
            <a:r>
              <a:rPr lang="en-US" altLang="zh-CN" sz="800" dirty="0"/>
              <a:t>——</a:t>
            </a:r>
            <a:r>
              <a:rPr lang="zh-CN" altLang="en-US" sz="800" dirty="0"/>
              <a:t>一个充满魔法与幻想的故事。</a:t>
            </a:r>
            <a:br>
              <a:rPr lang="zh-CN" altLang="en-US" sz="800" dirty="0"/>
            </a:br>
            <a:r>
              <a:rPr lang="zh-CN" altLang="en-US" sz="800" dirty="0"/>
              <a:t>然而我们如今重新解读这个童话，关注的是那些</a:t>
            </a:r>
            <a:r>
              <a:rPr lang="zh-CN" altLang="en-US" sz="800" b="1" dirty="0"/>
              <a:t>试图突破僵化性别角色的人们</a:t>
            </a:r>
            <a:r>
              <a:rPr lang="zh-CN" altLang="en-US" sz="800" dirty="0"/>
              <a:t>：</a:t>
            </a:r>
            <a:br>
              <a:rPr lang="zh-CN" altLang="en-US" sz="800" dirty="0"/>
            </a:br>
            <a:endParaRPr lang="zh-CN" altLang="en-US" sz="800" dirty="0"/>
          </a:p>
        </p:txBody>
      </p:sp>
      <p:sp>
        <p:nvSpPr>
          <p:cNvPr id="5" name="TextBox 4">
            <a:extLst>
              <a:ext uri="{FF2B5EF4-FFF2-40B4-BE49-F238E27FC236}">
                <a16:creationId xmlns:a16="http://schemas.microsoft.com/office/drawing/2014/main" id="{6AD3058A-0F79-7D99-BE5C-19D654D53AE7}"/>
              </a:ext>
            </a:extLst>
          </p:cNvPr>
          <p:cNvSpPr txBox="1"/>
          <p:nvPr/>
        </p:nvSpPr>
        <p:spPr>
          <a:xfrm>
            <a:off x="4951446" y="117693"/>
            <a:ext cx="4613895" cy="5386090"/>
          </a:xfrm>
          <a:prstGeom prst="rect">
            <a:avLst/>
          </a:prstGeom>
          <a:noFill/>
        </p:spPr>
        <p:txBody>
          <a:bodyPr wrap="square">
            <a:spAutoFit/>
          </a:bodyPr>
          <a:lstStyle/>
          <a:p>
            <a:r>
              <a:rPr lang="zh-CN" altLang="en-US" sz="800" dirty="0"/>
              <a:t>他们不满足于被规定的爱情与身份图景，</a:t>
            </a:r>
            <a:br>
              <a:rPr lang="zh-CN" altLang="en-US" sz="800" dirty="0"/>
            </a:br>
            <a:r>
              <a:rPr lang="zh-CN" altLang="en-US" sz="800" dirty="0"/>
              <a:t>他们希望走出自己的道路，</a:t>
            </a:r>
            <a:br>
              <a:rPr lang="zh-CN" altLang="en-US" sz="800" dirty="0"/>
            </a:br>
            <a:r>
              <a:rPr lang="zh-CN" altLang="en-US" sz="800" dirty="0"/>
              <a:t>即使这条路与主流背道而驰。</a:t>
            </a:r>
          </a:p>
          <a:p>
            <a:r>
              <a:rPr lang="zh-CN" altLang="en-US" sz="800" dirty="0"/>
              <a:t>所以，这个故事对我来说，核心在于</a:t>
            </a:r>
            <a:r>
              <a:rPr lang="zh-CN" altLang="en-US" sz="800" b="1" dirty="0"/>
              <a:t>在一个粗暴而父权的社会中进行抵抗</a:t>
            </a:r>
            <a:r>
              <a:rPr lang="en-US" altLang="zh-CN" sz="800" dirty="0"/>
              <a:t>——</a:t>
            </a:r>
            <a:br>
              <a:rPr lang="en-US" altLang="zh-CN" sz="800" dirty="0"/>
            </a:br>
            <a:r>
              <a:rPr lang="zh-CN" altLang="en-US" sz="800" dirty="0"/>
              <a:t>一个“</a:t>
            </a:r>
            <a:r>
              <a:rPr lang="zh-CN" altLang="en-US" sz="800" b="1" dirty="0"/>
              <a:t>强制异性恋（</a:t>
            </a:r>
            <a:r>
              <a:rPr lang="en-GB" sz="800" b="1" dirty="0"/>
              <a:t>compulsory heterosexuality）</a:t>
            </a:r>
            <a:r>
              <a:rPr lang="en-GB" sz="800" dirty="0"/>
              <a:t>”</a:t>
            </a:r>
            <a:r>
              <a:rPr lang="zh-CN" altLang="en-US" sz="800" dirty="0"/>
              <a:t>被视为唯一规范的世界。</a:t>
            </a:r>
            <a:br>
              <a:rPr lang="zh-CN" altLang="en-US" sz="800" dirty="0"/>
            </a:br>
            <a:r>
              <a:rPr lang="zh-CN" altLang="en-US" sz="800" dirty="0"/>
              <a:t>我思考的问题是：</a:t>
            </a:r>
          </a:p>
          <a:p>
            <a:r>
              <a:rPr lang="zh-CN" altLang="en-US" sz="800" dirty="0"/>
              <a:t>“一个人是否能在被性别刻板印象预先塑造的世界中，仍然找到属于自己的声音？”</a:t>
            </a:r>
            <a:endParaRPr lang="en-US" altLang="zh-CN" sz="800" dirty="0"/>
          </a:p>
          <a:p>
            <a:endParaRPr lang="en-US" altLang="zh-CN" sz="800" dirty="0"/>
          </a:p>
          <a:p>
            <a:r>
              <a:rPr lang="zh-CN" altLang="en-US" sz="800" b="1" dirty="0"/>
              <a:t>问题：</a:t>
            </a:r>
          </a:p>
          <a:p>
            <a:r>
              <a:rPr lang="zh-CN" altLang="en-US" sz="800" dirty="0"/>
              <a:t>你们为什么会想到把中间几个幕的场景设定在一个结构奇特、壮观的地铁世界中？</a:t>
            </a:r>
          </a:p>
          <a:p>
            <a:endParaRPr lang="zh-CN" altLang="en-US" sz="800" dirty="0"/>
          </a:p>
          <a:p>
            <a:r>
              <a:rPr lang="zh-CN" altLang="en-US" sz="800" b="1" dirty="0"/>
              <a:t>亚历山德拉</a:t>
            </a:r>
            <a:r>
              <a:rPr lang="en-US" altLang="zh-CN" sz="800" b="1" dirty="0"/>
              <a:t>·</a:t>
            </a:r>
            <a:r>
              <a:rPr lang="zh-CN" altLang="en-US" sz="800" b="1" dirty="0"/>
              <a:t>塞梅雷迪（</a:t>
            </a:r>
            <a:r>
              <a:rPr lang="en-GB" sz="800" b="1" dirty="0"/>
              <a:t>Alexandra Szemerédy）：</a:t>
            </a:r>
          </a:p>
          <a:p>
            <a:r>
              <a:rPr lang="zh-CN" altLang="en-US" sz="800" dirty="0"/>
              <a:t>切尔诺莫尔（</a:t>
            </a:r>
            <a:r>
              <a:rPr lang="en-GB" sz="800" dirty="0" err="1"/>
              <a:t>Tschernomor</a:t>
            </a:r>
            <a:r>
              <a:rPr lang="en-GB" sz="800" dirty="0"/>
              <a:t>）</a:t>
            </a:r>
            <a:r>
              <a:rPr lang="zh-CN" altLang="en-US" sz="800" dirty="0"/>
              <a:t>是那个绑架柳德米拉的邪恶巫师。</a:t>
            </a:r>
            <a:br>
              <a:rPr lang="zh-CN" altLang="en-US" sz="800" dirty="0"/>
            </a:br>
            <a:r>
              <a:rPr lang="zh-CN" altLang="en-US" sz="800" dirty="0"/>
              <a:t>在我的诠释里，他其实象征着**“死亡”</a:t>
            </a:r>
            <a:r>
              <a:rPr lang="zh-CN" altLang="en-US" sz="800" b="1" dirty="0"/>
              <a:t>本身。</a:t>
            </a:r>
            <a:br>
              <a:rPr lang="zh-CN" altLang="en-US" sz="800" b="1" dirty="0"/>
            </a:br>
            <a:r>
              <a:rPr lang="zh-CN" altLang="en-US" sz="800" b="1" dirty="0"/>
              <a:t>因此，对我来说，这个故事与</a:t>
            </a:r>
            <a:r>
              <a:rPr lang="zh-CN" altLang="en-US" sz="800" dirty="0"/>
              <a:t>“奥菲欧神话（</a:t>
            </a:r>
            <a:r>
              <a:rPr lang="en-GB" sz="800" dirty="0"/>
              <a:t>Orpheus-Mythos）”**</a:t>
            </a:r>
            <a:r>
              <a:rPr lang="zh-CN" altLang="en-US" sz="800" dirty="0"/>
              <a:t>有着密切的关联。</a:t>
            </a:r>
          </a:p>
          <a:p>
            <a:r>
              <a:rPr lang="zh-CN" altLang="en-US" sz="800" dirty="0"/>
              <a:t>于是我们让整个故事发生在一种“地下世界”里</a:t>
            </a:r>
            <a:r>
              <a:rPr lang="en-US" altLang="zh-CN" sz="800" dirty="0"/>
              <a:t>——</a:t>
            </a:r>
            <a:br>
              <a:rPr lang="en-US" altLang="zh-CN" sz="800" dirty="0"/>
            </a:br>
            <a:r>
              <a:rPr lang="zh-CN" altLang="en-US" sz="800" dirty="0"/>
              <a:t>一个与地面社会华丽婚礼场景截然相反的空间。</a:t>
            </a:r>
            <a:br>
              <a:rPr lang="zh-CN" altLang="en-US" sz="800" dirty="0"/>
            </a:br>
            <a:r>
              <a:rPr lang="zh-CN" altLang="en-US" sz="800" dirty="0"/>
              <a:t>在地面上，是一个被完美主义与特权统治的世界：</a:t>
            </a:r>
            <a:br>
              <a:rPr lang="zh-CN" altLang="en-US" sz="800" dirty="0"/>
            </a:br>
            <a:r>
              <a:rPr lang="zh-CN" altLang="en-US" sz="800" dirty="0"/>
              <a:t>柳德米拉是花样滑冰界的明星，而她的父亲绝不容许她有任何差错。</a:t>
            </a:r>
          </a:p>
          <a:p>
            <a:r>
              <a:rPr lang="zh-CN" altLang="en-US" sz="800" dirty="0"/>
              <a:t>鲁斯兰必须进入那个</a:t>
            </a:r>
            <a:r>
              <a:rPr lang="zh-CN" altLang="en-US" sz="800" b="1" dirty="0"/>
              <a:t>颠倒的地下世界</a:t>
            </a:r>
            <a:r>
              <a:rPr lang="zh-CN" altLang="en-US" sz="800" dirty="0"/>
              <a:t>，学习那里的法则，</a:t>
            </a:r>
            <a:br>
              <a:rPr lang="zh-CN" altLang="en-US" sz="800" dirty="0"/>
            </a:br>
            <a:r>
              <a:rPr lang="zh-CN" altLang="en-US" sz="800" dirty="0"/>
              <a:t>像走入一个</a:t>
            </a:r>
            <a:r>
              <a:rPr lang="zh-CN" altLang="en-US" sz="800" b="1" dirty="0"/>
              <a:t>迷宫</a:t>
            </a:r>
            <a:r>
              <a:rPr lang="zh-CN" altLang="en-US" sz="800" dirty="0"/>
              <a:t>一样在其中摸索，</a:t>
            </a:r>
            <a:br>
              <a:rPr lang="zh-CN" altLang="en-US" sz="800" dirty="0"/>
            </a:br>
            <a:r>
              <a:rPr lang="zh-CN" altLang="en-US" sz="800" dirty="0"/>
              <a:t>才能找到通往柳德米拉，</a:t>
            </a:r>
            <a:br>
              <a:rPr lang="zh-CN" altLang="en-US" sz="800" dirty="0"/>
            </a:br>
            <a:r>
              <a:rPr lang="zh-CN" altLang="en-US" sz="800" dirty="0"/>
              <a:t>或者说</a:t>
            </a:r>
            <a:r>
              <a:rPr lang="en-US" altLang="zh-CN" sz="800" dirty="0"/>
              <a:t>——</a:t>
            </a:r>
            <a:r>
              <a:rPr lang="zh-CN" altLang="en-US" sz="800" dirty="0"/>
              <a:t>通往</a:t>
            </a:r>
            <a:r>
              <a:rPr lang="zh-CN" altLang="en-US" sz="800" b="1" dirty="0"/>
              <a:t>自我</a:t>
            </a:r>
            <a:r>
              <a:rPr lang="zh-CN" altLang="en-US" sz="800" dirty="0"/>
              <a:t>的道路。</a:t>
            </a:r>
          </a:p>
          <a:p>
            <a:r>
              <a:rPr lang="zh-CN" altLang="en-US" sz="800" dirty="0"/>
              <a:t>不过，这个“地铁迷宫”其实是由鲁斯兰</a:t>
            </a:r>
            <a:r>
              <a:rPr lang="zh-CN" altLang="en-US" sz="800" b="1" dirty="0"/>
              <a:t>自己的恐惧与自我怀疑</a:t>
            </a:r>
            <a:r>
              <a:rPr lang="zh-CN" altLang="en-US" sz="800" dirty="0"/>
              <a:t>构成的。</a:t>
            </a:r>
            <a:br>
              <a:rPr lang="zh-CN" altLang="en-US" sz="800" dirty="0"/>
            </a:br>
            <a:r>
              <a:rPr lang="zh-CN" altLang="en-US" sz="800" dirty="0"/>
              <a:t>当他被迫面对自己内心深处的渴望</a:t>
            </a:r>
            <a:r>
              <a:rPr lang="en-US" altLang="zh-CN" sz="800" dirty="0"/>
              <a:t>——</a:t>
            </a:r>
            <a:r>
              <a:rPr lang="zh-CN" altLang="en-US" sz="800" dirty="0"/>
              <a:t>那些不符合社会期待的情感</a:t>
            </a:r>
            <a:r>
              <a:rPr lang="en-US" altLang="zh-CN" sz="800" dirty="0"/>
              <a:t>——</a:t>
            </a:r>
            <a:br>
              <a:rPr lang="en-US" altLang="zh-CN" sz="800" dirty="0"/>
            </a:br>
            <a:r>
              <a:rPr lang="zh-CN" altLang="en-US" sz="800" dirty="0"/>
              <a:t>他感到绝望，认为</a:t>
            </a:r>
            <a:r>
              <a:rPr lang="zh-CN" altLang="en-US" sz="800" b="1" dirty="0"/>
              <a:t>死亡</a:t>
            </a:r>
            <a:r>
              <a:rPr lang="zh-CN" altLang="en-US" sz="800" dirty="0"/>
              <a:t>是唯一的出口。</a:t>
            </a:r>
          </a:p>
          <a:p>
            <a:r>
              <a:rPr lang="zh-CN" altLang="en-US" sz="800" dirty="0"/>
              <a:t>他对自己最好的朋友拉特米尔（</a:t>
            </a:r>
            <a:r>
              <a:rPr lang="en-GB" sz="800" dirty="0"/>
              <a:t>Ratmir）</a:t>
            </a:r>
            <a:r>
              <a:rPr lang="zh-CN" altLang="en-US" sz="800" dirty="0"/>
              <a:t>所产生的爱让他恐惧，</a:t>
            </a:r>
            <a:br>
              <a:rPr lang="zh-CN" altLang="en-US" sz="800" dirty="0"/>
            </a:br>
            <a:r>
              <a:rPr lang="zh-CN" altLang="en-US" sz="800" dirty="0"/>
              <a:t>他觉得那是一种“越轨”，</a:t>
            </a:r>
            <a:br>
              <a:rPr lang="zh-CN" altLang="en-US" sz="800" dirty="0"/>
            </a:br>
            <a:r>
              <a:rPr lang="zh-CN" altLang="en-US" sz="800" dirty="0"/>
              <a:t>于是他宁愿“拉下紧急刹车”结束一切。</a:t>
            </a:r>
          </a:p>
          <a:p>
            <a:r>
              <a:rPr lang="zh-CN" altLang="en-US" sz="800" dirty="0"/>
              <a:t>这样，他原本是为了寻找柳德米拉而出发，</a:t>
            </a:r>
            <a:br>
              <a:rPr lang="zh-CN" altLang="en-US" sz="800" dirty="0"/>
            </a:br>
            <a:r>
              <a:rPr lang="zh-CN" altLang="en-US" sz="800" dirty="0"/>
              <a:t>却最终踏上了一条</a:t>
            </a:r>
            <a:r>
              <a:rPr lang="zh-CN" altLang="en-US" sz="800" b="1" dirty="0"/>
              <a:t>自我毁灭的旅程</a:t>
            </a:r>
            <a:r>
              <a:rPr lang="zh-CN" altLang="en-US" sz="800" dirty="0"/>
              <a:t>。</a:t>
            </a:r>
          </a:p>
          <a:p>
            <a:endParaRPr lang="zh-CN" altLang="en-US" sz="800" dirty="0"/>
          </a:p>
          <a:p>
            <a:r>
              <a:rPr lang="zh-CN" altLang="en-US" sz="800" b="1" dirty="0"/>
              <a:t>玛格多尔娜</a:t>
            </a:r>
            <a:r>
              <a:rPr lang="en-US" altLang="zh-CN" sz="800" b="1" dirty="0"/>
              <a:t>·</a:t>
            </a:r>
            <a:r>
              <a:rPr lang="zh-CN" altLang="en-US" sz="800" b="1" dirty="0"/>
              <a:t>帕尔迪特卡（</a:t>
            </a:r>
            <a:r>
              <a:rPr lang="en-GB" sz="800" b="1" dirty="0"/>
              <a:t>Magdolna Parditka）：</a:t>
            </a:r>
          </a:p>
          <a:p>
            <a:r>
              <a:rPr lang="zh-CN" altLang="en-US" sz="800" dirty="0"/>
              <a:t>在一开始，鲁斯兰努力去符合社会强加的“男性刻板形象”。</a:t>
            </a:r>
            <a:br>
              <a:rPr lang="zh-CN" altLang="en-US" sz="800" dirty="0"/>
            </a:br>
            <a:r>
              <a:rPr lang="zh-CN" altLang="en-US" sz="800" dirty="0"/>
              <a:t>但正是在他寻找柳德米拉的旅程中，他的性格逐渐被塑造。</a:t>
            </a:r>
            <a:br>
              <a:rPr lang="zh-CN" altLang="en-US" sz="800" dirty="0"/>
            </a:br>
            <a:r>
              <a:rPr lang="zh-CN" altLang="en-US" sz="800" dirty="0"/>
              <a:t>而在这条路上，他不仅重新发现了柳德米拉，</a:t>
            </a:r>
            <a:br>
              <a:rPr lang="zh-CN" altLang="en-US" sz="800" dirty="0"/>
            </a:br>
            <a:r>
              <a:rPr lang="zh-CN" altLang="en-US" sz="800" dirty="0"/>
              <a:t>也发现了拉特米尔，</a:t>
            </a:r>
            <a:br>
              <a:rPr lang="zh-CN" altLang="en-US" sz="800" dirty="0"/>
            </a:br>
            <a:r>
              <a:rPr lang="zh-CN" altLang="en-US" sz="800" dirty="0"/>
              <a:t>最重要的是</a:t>
            </a:r>
            <a:r>
              <a:rPr lang="en-US" altLang="zh-CN" sz="800" dirty="0"/>
              <a:t>——</a:t>
            </a:r>
            <a:r>
              <a:rPr lang="zh-CN" altLang="en-US" sz="800" b="1" dirty="0"/>
              <a:t>发现了自己</a:t>
            </a:r>
            <a:r>
              <a:rPr lang="zh-CN" altLang="en-US" sz="800" dirty="0"/>
              <a:t>。</a:t>
            </a:r>
          </a:p>
          <a:p>
            <a:r>
              <a:rPr lang="zh-CN" altLang="en-US" sz="800" dirty="0"/>
              <a:t>至于结局</a:t>
            </a:r>
            <a:r>
              <a:rPr lang="en-US" altLang="zh-CN" sz="800" dirty="0"/>
              <a:t>——</a:t>
            </a:r>
            <a:br>
              <a:rPr lang="en-US" altLang="zh-CN" sz="800" dirty="0"/>
            </a:br>
            <a:r>
              <a:rPr lang="zh-CN" altLang="en-US" sz="800" dirty="0"/>
              <a:t>问题也许不在于他能否唤醒柳德米拉，</a:t>
            </a:r>
            <a:br>
              <a:rPr lang="zh-CN" altLang="en-US" sz="800" dirty="0"/>
            </a:br>
            <a:r>
              <a:rPr lang="zh-CN" altLang="en-US" sz="800" dirty="0"/>
              <a:t>而是：</a:t>
            </a:r>
          </a:p>
          <a:p>
            <a:r>
              <a:rPr lang="zh-CN" altLang="en-US" sz="800" dirty="0"/>
              <a:t>“他能否唤醒真正的自我？”</a:t>
            </a:r>
          </a:p>
          <a:p>
            <a:endParaRPr lang="zh-CN" altLang="en-US" sz="800" dirty="0"/>
          </a:p>
        </p:txBody>
      </p:sp>
    </p:spTree>
    <p:extLst>
      <p:ext uri="{BB962C8B-B14F-4D97-AF65-F5344CB8AC3E}">
        <p14:creationId xmlns:p14="http://schemas.microsoft.com/office/powerpoint/2010/main" val="1517093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1FB087-DEEA-149E-FAF2-14E1F79BC805}"/>
              </a:ext>
            </a:extLst>
          </p:cNvPr>
          <p:cNvSpPr txBox="1"/>
          <p:nvPr/>
        </p:nvSpPr>
        <p:spPr>
          <a:xfrm>
            <a:off x="173620" y="117693"/>
            <a:ext cx="4777827" cy="6740307"/>
          </a:xfrm>
          <a:prstGeom prst="rect">
            <a:avLst/>
          </a:prstGeom>
          <a:noFill/>
        </p:spPr>
        <p:txBody>
          <a:bodyPr wrap="square">
            <a:spAutoFit/>
          </a:bodyPr>
          <a:lstStyle/>
          <a:p>
            <a:r>
              <a:rPr lang="en-DE" sz="800" b="1" dirty="0"/>
              <a:t>🎙️ </a:t>
            </a:r>
            <a:r>
              <a:rPr lang="zh-CN" altLang="en-US" sz="800" b="1" dirty="0"/>
              <a:t>采访：艰难时代中的“天真艺术”</a:t>
            </a:r>
          </a:p>
          <a:p>
            <a:r>
              <a:rPr lang="en-US" altLang="zh-CN" sz="800" b="1" dirty="0"/>
              <a:t>——</a:t>
            </a:r>
            <a:r>
              <a:rPr lang="zh-CN" altLang="en-US" sz="800" b="1" dirty="0"/>
              <a:t>阿齐姆</a:t>
            </a:r>
            <a:r>
              <a:rPr lang="en-US" altLang="zh-CN" sz="800" b="1" dirty="0"/>
              <a:t>·</a:t>
            </a:r>
            <a:r>
              <a:rPr lang="zh-CN" altLang="en-US" sz="800" b="1" dirty="0"/>
              <a:t>卡里莫夫（</a:t>
            </a:r>
            <a:r>
              <a:rPr lang="en-GB" sz="800" b="1" dirty="0"/>
              <a:t>Azim Karimov）</a:t>
            </a:r>
            <a:r>
              <a:rPr lang="zh-CN" altLang="en-US" sz="800" b="1" dirty="0"/>
              <a:t>对谈 卡廷卡</a:t>
            </a:r>
            <a:r>
              <a:rPr lang="en-US" altLang="zh-CN" sz="800" b="1" dirty="0"/>
              <a:t>·</a:t>
            </a:r>
            <a:r>
              <a:rPr lang="zh-CN" altLang="en-US" sz="800" b="1" dirty="0"/>
              <a:t>迪克（</a:t>
            </a:r>
            <a:r>
              <a:rPr lang="en-GB" sz="800" b="1" dirty="0"/>
              <a:t>Katinka </a:t>
            </a:r>
            <a:r>
              <a:rPr lang="en-GB" sz="800" b="1" dirty="0" err="1"/>
              <a:t>Deecke</a:t>
            </a:r>
            <a:r>
              <a:rPr lang="en-GB" sz="800" b="1" dirty="0"/>
              <a:t>）</a:t>
            </a:r>
            <a:br>
              <a:rPr lang="en-GB" sz="800" dirty="0"/>
            </a:br>
            <a:endParaRPr lang="en-GB" sz="800" dirty="0"/>
          </a:p>
          <a:p>
            <a:r>
              <a:rPr lang="zh-CN" altLang="en-US" sz="800" b="1" dirty="0"/>
              <a:t>卡廷卡</a:t>
            </a:r>
            <a:r>
              <a:rPr lang="en-US" altLang="zh-CN" sz="800" b="1" dirty="0"/>
              <a:t>·</a:t>
            </a:r>
            <a:r>
              <a:rPr lang="zh-CN" altLang="en-US" sz="800" b="1" dirty="0"/>
              <a:t>迪克</a:t>
            </a:r>
          </a:p>
          <a:p>
            <a:r>
              <a:rPr lang="zh-CN" altLang="en-US" sz="800" dirty="0"/>
              <a:t>作为一位流亡在外的俄罗斯指挥家，你如今要在德国城市指挥</a:t>
            </a:r>
            <a:r>
              <a:rPr lang="en-US" altLang="zh-CN" sz="800" dirty="0"/>
              <a:t>《</a:t>
            </a:r>
            <a:r>
              <a:rPr lang="zh-CN" altLang="en-US" sz="800" dirty="0"/>
              <a:t>鲁斯兰与柳德米拉</a:t>
            </a:r>
            <a:r>
              <a:rPr lang="en-US" altLang="zh-CN" sz="800" dirty="0"/>
              <a:t>》——</a:t>
            </a:r>
            <a:r>
              <a:rPr lang="zh-CN" altLang="en-US" sz="800" dirty="0"/>
              <a:t>有些人甚至称它为“俄罗斯的民族歌剧”。此时你的祖国正在发动战争，而德国又是对立阵营的一员。这对你而言意味着什么？</a:t>
            </a:r>
          </a:p>
          <a:p>
            <a:r>
              <a:rPr lang="zh-CN" altLang="en-US" sz="800" b="1" dirty="0"/>
              <a:t>阿齐姆</a:t>
            </a:r>
            <a:r>
              <a:rPr lang="en-US" altLang="zh-CN" sz="800" b="1" dirty="0"/>
              <a:t>·</a:t>
            </a:r>
            <a:r>
              <a:rPr lang="zh-CN" altLang="en-US" sz="800" b="1" dirty="0"/>
              <a:t>卡里莫夫</a:t>
            </a:r>
          </a:p>
          <a:p>
            <a:r>
              <a:rPr lang="zh-CN" altLang="en-US" sz="800" dirty="0"/>
              <a:t>我认为，如果人们在公共舆论中开始把伟大艺术家的遗产与当下政权的行为直接挂钩，那将是非常令人悲哀的。对我而言，</a:t>
            </a:r>
            <a:r>
              <a:rPr lang="zh-CN" altLang="en-US" sz="800" b="1" dirty="0"/>
              <a:t>艺术高于政治</a:t>
            </a:r>
            <a:r>
              <a:rPr lang="en-US" altLang="zh-CN" sz="800" dirty="0"/>
              <a:t>——</a:t>
            </a:r>
            <a:r>
              <a:rPr lang="zh-CN" altLang="en-US" sz="800" dirty="0"/>
              <a:t>但这只适用于艺术作品本身，而不是艺术家。在错误的人手中，任何艺术作品都可能被扭曲成强大的、甚至危险的政治工具。</a:t>
            </a:r>
            <a:br>
              <a:rPr lang="zh-CN" altLang="en-US" sz="800" dirty="0"/>
            </a:br>
            <a:r>
              <a:rPr lang="zh-CN" altLang="en-US" sz="800" dirty="0"/>
              <a:t>艺术家是公民社会不可分割的一部分，他们同样生活在政治现实之中。当然，每个人都有权拥有自己的立场，那是个人的选择。至于我自己，对祖国近几年所发生的一切，我的立场应当是非常清楚的：我在</a:t>
            </a:r>
            <a:r>
              <a:rPr lang="en-US" altLang="zh-CN" sz="800" dirty="0"/>
              <a:t>2022</a:t>
            </a:r>
            <a:r>
              <a:rPr lang="zh-CN" altLang="en-US" sz="800" dirty="0"/>
              <a:t>年离开了俄罗斯，中断了职业生涯，并于</a:t>
            </a:r>
            <a:r>
              <a:rPr lang="en-US" altLang="zh-CN" sz="800" dirty="0"/>
              <a:t>2023</a:t>
            </a:r>
            <a:r>
              <a:rPr lang="zh-CN" altLang="en-US" sz="800" dirty="0"/>
              <a:t>年在德国重新开始一切。</a:t>
            </a:r>
          </a:p>
          <a:p>
            <a:endParaRPr lang="zh-CN" altLang="en-US" sz="800" dirty="0"/>
          </a:p>
          <a:p>
            <a:r>
              <a:rPr lang="zh-CN" altLang="en-US" sz="800" b="1" dirty="0"/>
              <a:t>卡廷卡</a:t>
            </a:r>
            <a:r>
              <a:rPr lang="en-US" altLang="zh-CN" sz="800" b="1" dirty="0"/>
              <a:t>·</a:t>
            </a:r>
            <a:r>
              <a:rPr lang="zh-CN" altLang="en-US" sz="800" b="1" dirty="0"/>
              <a:t>迪克</a:t>
            </a:r>
          </a:p>
          <a:p>
            <a:r>
              <a:rPr lang="zh-CN" altLang="en-US" sz="800" dirty="0"/>
              <a:t>面对这部作品中带有俄罗斯民族主义色彩的剧本，你是如何处理的？</a:t>
            </a:r>
          </a:p>
          <a:p>
            <a:r>
              <a:rPr lang="zh-CN" altLang="en-US" sz="800" b="1" dirty="0"/>
              <a:t>阿齐姆</a:t>
            </a:r>
            <a:r>
              <a:rPr lang="en-US" altLang="zh-CN" sz="800" b="1" dirty="0"/>
              <a:t>·</a:t>
            </a:r>
            <a:r>
              <a:rPr lang="zh-CN" altLang="en-US" sz="800" b="1" dirty="0"/>
              <a:t>卡里莫夫</a:t>
            </a:r>
          </a:p>
          <a:p>
            <a:r>
              <a:rPr lang="zh-CN" altLang="en-US" sz="800" dirty="0"/>
              <a:t>其实，</a:t>
            </a:r>
            <a:r>
              <a:rPr lang="en-US" altLang="zh-CN" sz="800" dirty="0"/>
              <a:t>《</a:t>
            </a:r>
            <a:r>
              <a:rPr lang="zh-CN" altLang="en-US" sz="800" dirty="0"/>
              <a:t>鲁斯兰与柳德米拉</a:t>
            </a:r>
            <a:r>
              <a:rPr lang="en-US" altLang="zh-CN" sz="800" dirty="0"/>
              <a:t>》</a:t>
            </a:r>
            <a:r>
              <a:rPr lang="zh-CN" altLang="en-US" sz="800" dirty="0"/>
              <a:t>并没有特别突出的民族主义或爱国主义议程，它是一部</a:t>
            </a:r>
            <a:r>
              <a:rPr lang="zh-CN" altLang="en-US" sz="800" b="1" dirty="0"/>
              <a:t>童话歌剧</a:t>
            </a:r>
            <a:r>
              <a:rPr lang="zh-CN" altLang="en-US" sz="800" dirty="0"/>
              <a:t>。与其说它像格林卡早期的</a:t>
            </a:r>
            <a:r>
              <a:rPr lang="en-US" altLang="zh-CN" sz="800" dirty="0"/>
              <a:t>《</a:t>
            </a:r>
            <a:r>
              <a:rPr lang="zh-CN" altLang="en-US" sz="800" dirty="0"/>
              <a:t>为沙皇而生</a:t>
            </a:r>
            <a:r>
              <a:rPr lang="en-US" altLang="zh-CN" sz="800" dirty="0"/>
              <a:t>》</a:t>
            </a:r>
            <a:r>
              <a:rPr lang="zh-CN" altLang="en-US" sz="800" dirty="0"/>
              <a:t>，不如说它更关注</a:t>
            </a:r>
            <a:r>
              <a:rPr lang="zh-CN" altLang="en-US" sz="800" b="1" dirty="0"/>
              <a:t>善战胜恶、爱战胜恨、生战胜死</a:t>
            </a:r>
            <a:r>
              <a:rPr lang="zh-CN" altLang="en-US" sz="800" dirty="0"/>
              <a:t>的主题。</a:t>
            </a:r>
            <a:br>
              <a:rPr lang="zh-CN" altLang="en-US" sz="800" dirty="0"/>
            </a:br>
            <a:r>
              <a:rPr lang="zh-CN" altLang="en-US" sz="800" dirty="0"/>
              <a:t>在作品中，我们看到来自不同文化、性格迥异的人物</a:t>
            </a:r>
            <a:r>
              <a:rPr lang="en-US" altLang="zh-CN" sz="800" dirty="0"/>
              <a:t>——</a:t>
            </a:r>
            <a:r>
              <a:rPr lang="zh-CN" altLang="en-US" sz="800" dirty="0"/>
              <a:t>鲁斯兰、柳德米拉、拉特米尔、戈里斯拉娃和芬</a:t>
            </a:r>
            <a:r>
              <a:rPr lang="en-US" altLang="zh-CN" sz="800" dirty="0"/>
              <a:t>——</a:t>
            </a:r>
            <a:r>
              <a:rPr lang="zh-CN" altLang="en-US" sz="800" dirty="0"/>
              <a:t>他们之间的爱、友情与团结正是这部歌剧</a:t>
            </a:r>
            <a:r>
              <a:rPr lang="zh-CN" altLang="en-US" sz="800" b="1" dirty="0"/>
              <a:t>和平与人性精神</a:t>
            </a:r>
            <a:r>
              <a:rPr lang="zh-CN" altLang="en-US" sz="800" dirty="0"/>
              <a:t>的最好证明。</a:t>
            </a:r>
            <a:br>
              <a:rPr lang="zh-CN" altLang="en-US" sz="800" dirty="0"/>
            </a:br>
            <a:r>
              <a:rPr lang="zh-CN" altLang="en-US" sz="800" dirty="0"/>
              <a:t>我想再次强调：艺术应当高于政治。在如今这样</a:t>
            </a:r>
            <a:r>
              <a:rPr lang="zh-CN" altLang="en-US" sz="800" b="1" dirty="0"/>
              <a:t>动荡、复杂、令人不安的时代</a:t>
            </a:r>
            <a:r>
              <a:rPr lang="zh-CN" altLang="en-US" sz="800" dirty="0"/>
              <a:t>，艺术作品必须被保护。俄罗斯艺术作品也应当像任何文化遗产一样，</a:t>
            </a:r>
            <a:r>
              <a:rPr lang="zh-CN" altLang="en-US" sz="800" b="1" dirty="0"/>
              <a:t>跨越国界地被保存与珍惜</a:t>
            </a:r>
            <a:r>
              <a:rPr lang="zh-CN" altLang="en-US" sz="800" dirty="0"/>
              <a:t>。也许我这么想有些“天真”，但我依然相信人类，相信艺术的使命是</a:t>
            </a:r>
            <a:r>
              <a:rPr lang="zh-CN" altLang="en-US" sz="800" b="1" dirty="0"/>
              <a:t>搭建桥梁，而非筑起高墙</a:t>
            </a:r>
            <a:r>
              <a:rPr lang="zh-CN" altLang="en-US" sz="800" dirty="0"/>
              <a:t>。</a:t>
            </a:r>
            <a:br>
              <a:rPr lang="zh-CN" altLang="en-US" sz="800" dirty="0"/>
            </a:br>
            <a:r>
              <a:rPr lang="zh-CN" altLang="en-US" sz="800" dirty="0"/>
              <a:t>回到你最初的问题</a:t>
            </a:r>
            <a:r>
              <a:rPr lang="en-US" altLang="zh-CN" sz="800" dirty="0"/>
              <a:t>——</a:t>
            </a:r>
            <a:r>
              <a:rPr lang="zh-CN" altLang="en-US" sz="800" dirty="0"/>
              <a:t>对我而言，参与这部歌剧的工作意味着一种</a:t>
            </a:r>
            <a:r>
              <a:rPr lang="zh-CN" altLang="en-US" sz="800" b="1" dirty="0"/>
              <a:t>巨大的责任</a:t>
            </a:r>
            <a:r>
              <a:rPr lang="zh-CN" altLang="en-US" sz="800" dirty="0"/>
              <a:t>。能在欧洲指挥这部乐谱，对我来说是一种</a:t>
            </a:r>
            <a:r>
              <a:rPr lang="zh-CN" altLang="en-US" sz="800" b="1" dirty="0"/>
              <a:t>难得而珍贵的特权</a:t>
            </a:r>
            <a:r>
              <a:rPr lang="zh-CN" altLang="en-US" sz="800" dirty="0"/>
              <a:t>。自</a:t>
            </a:r>
            <a:r>
              <a:rPr lang="en-US" altLang="zh-CN" sz="800" dirty="0"/>
              <a:t>2023</a:t>
            </a:r>
            <a:r>
              <a:rPr lang="zh-CN" altLang="en-US" sz="800" dirty="0"/>
              <a:t>年起，我又重新做我所热爱的事：在出色的剧院里，与富有灵感的音乐家、艺术家和同事们一起工作。对此，我满怀感激</a:t>
            </a:r>
            <a:r>
              <a:rPr lang="en-US" altLang="zh-CN" sz="800" dirty="0"/>
              <a:t>——</a:t>
            </a:r>
            <a:r>
              <a:rPr lang="zh-CN" altLang="en-US" sz="800" dirty="0"/>
              <a:t>感谢德国给予我的新家，也感谢所有相信我、支持我的人。</a:t>
            </a:r>
            <a:br>
              <a:rPr lang="zh-CN" altLang="en-US" sz="800" dirty="0"/>
            </a:br>
            <a:endParaRPr lang="zh-CN" altLang="en-US" sz="800" dirty="0"/>
          </a:p>
          <a:p>
            <a:r>
              <a:rPr lang="zh-CN" altLang="en-US" sz="800" b="1" dirty="0"/>
              <a:t>卡廷卡</a:t>
            </a:r>
            <a:r>
              <a:rPr lang="en-US" altLang="zh-CN" sz="800" b="1" dirty="0"/>
              <a:t>·</a:t>
            </a:r>
            <a:r>
              <a:rPr lang="zh-CN" altLang="en-US" sz="800" b="1" dirty="0"/>
              <a:t>迪克</a:t>
            </a:r>
          </a:p>
          <a:p>
            <a:r>
              <a:rPr lang="zh-CN" altLang="en-US" sz="800" dirty="0"/>
              <a:t>从音乐角度看，格林卡的这部歌剧有什么特别之处？</a:t>
            </a:r>
          </a:p>
          <a:p>
            <a:r>
              <a:rPr lang="zh-CN" altLang="en-US" sz="800" b="1" dirty="0"/>
              <a:t>阿齐姆</a:t>
            </a:r>
            <a:r>
              <a:rPr lang="en-US" altLang="zh-CN" sz="800" b="1" dirty="0"/>
              <a:t>·</a:t>
            </a:r>
            <a:r>
              <a:rPr lang="zh-CN" altLang="en-US" sz="800" b="1" dirty="0"/>
              <a:t>卡里莫夫</a:t>
            </a:r>
          </a:p>
          <a:p>
            <a:r>
              <a:rPr lang="zh-CN" altLang="en-US" sz="800" dirty="0"/>
              <a:t>要用几句话概括</a:t>
            </a:r>
            <a:r>
              <a:rPr lang="en-US" altLang="zh-CN" sz="800" dirty="0"/>
              <a:t>《</a:t>
            </a:r>
            <a:r>
              <a:rPr lang="zh-CN" altLang="en-US" sz="800" dirty="0"/>
              <a:t>鲁斯兰与柳德米拉</a:t>
            </a:r>
            <a:r>
              <a:rPr lang="en-US" altLang="zh-CN" sz="800" dirty="0"/>
              <a:t>》</a:t>
            </a:r>
            <a:r>
              <a:rPr lang="zh-CN" altLang="en-US" sz="800" dirty="0"/>
              <a:t>，并不容易。一方面，它是一部</a:t>
            </a:r>
            <a:r>
              <a:rPr lang="zh-CN" altLang="en-US" sz="800" b="1" dirty="0"/>
              <a:t>美声（</a:t>
            </a:r>
            <a:r>
              <a:rPr lang="en-GB" sz="800" b="1" dirty="0" err="1"/>
              <a:t>Belcanto</a:t>
            </a:r>
            <a:r>
              <a:rPr lang="en-GB" sz="800" b="1" dirty="0"/>
              <a:t>）</a:t>
            </a:r>
            <a:r>
              <a:rPr lang="zh-CN" altLang="en-US" sz="800" b="1" dirty="0"/>
              <a:t>风格的歌剧</a:t>
            </a:r>
            <a:r>
              <a:rPr lang="zh-CN" altLang="en-US" sz="800" dirty="0"/>
              <a:t>，拥有高超的声乐技巧与深情的抒情场景，充满温柔与人性的情感。另一方面，它又是一部</a:t>
            </a:r>
            <a:r>
              <a:rPr lang="zh-CN" altLang="en-US" sz="800" b="1" dirty="0"/>
              <a:t>魔幻歌剧</a:t>
            </a:r>
            <a:r>
              <a:rPr lang="zh-CN" altLang="en-US" sz="800" dirty="0"/>
              <a:t>，剧情充满变化，现实与幻想交织。这正是俄罗斯早期歌剧的典型特征。</a:t>
            </a:r>
            <a:br>
              <a:rPr lang="zh-CN" altLang="en-US" sz="800" dirty="0"/>
            </a:br>
            <a:r>
              <a:rPr lang="zh-CN" altLang="en-US" sz="800" dirty="0"/>
              <a:t>格林卡是那种</a:t>
            </a:r>
            <a:r>
              <a:rPr lang="zh-CN" altLang="en-US" sz="800" b="1" dirty="0"/>
              <a:t>真正热爱音乐的人</a:t>
            </a:r>
            <a:r>
              <a:rPr lang="en-US" altLang="zh-CN" sz="800" dirty="0"/>
              <a:t>——</a:t>
            </a:r>
            <a:r>
              <a:rPr lang="zh-CN" altLang="en-US" sz="800" dirty="0"/>
              <a:t>用原始意义来说，他是个“业余者”（</a:t>
            </a:r>
            <a:r>
              <a:rPr lang="en-GB" sz="800" dirty="0" err="1"/>
              <a:t>Dilettant</a:t>
            </a:r>
            <a:r>
              <a:rPr lang="en-GB" sz="800" dirty="0"/>
              <a:t> / Amateur），</a:t>
            </a:r>
            <a:r>
              <a:rPr lang="zh-CN" altLang="en-US" sz="800" dirty="0"/>
              <a:t>也就是“出于热爱而非职责”去从事艺术的人。他并非学院派的专业作曲家，但这并不意味着他缺乏修养。相反，他汲取了来自世界各地的知识，是一位</a:t>
            </a:r>
            <a:r>
              <a:rPr lang="zh-CN" altLang="en-US" sz="800" b="1" dirty="0"/>
              <a:t>真正的世界主义者（</a:t>
            </a:r>
            <a:r>
              <a:rPr lang="en-GB" sz="800" b="1" dirty="0" err="1"/>
              <a:t>Kosmopolit</a:t>
            </a:r>
            <a:r>
              <a:rPr lang="en-GB" sz="800" b="1" dirty="0"/>
              <a:t>）</a:t>
            </a:r>
            <a:r>
              <a:rPr lang="en-GB" sz="800" dirty="0"/>
              <a:t>。</a:t>
            </a:r>
            <a:br>
              <a:rPr lang="en-GB" sz="800" dirty="0"/>
            </a:br>
            <a:r>
              <a:rPr lang="zh-CN" altLang="en-US" sz="800" dirty="0"/>
              <a:t>他师从约翰</a:t>
            </a:r>
            <a:r>
              <a:rPr lang="en-US" altLang="zh-CN" sz="800" dirty="0"/>
              <a:t>·</a:t>
            </a:r>
            <a:r>
              <a:rPr lang="zh-CN" altLang="en-US" sz="800" dirty="0"/>
              <a:t>菲尔德（</a:t>
            </a:r>
            <a:r>
              <a:rPr lang="en-GB" sz="800" dirty="0"/>
              <a:t>John Field）</a:t>
            </a:r>
            <a:r>
              <a:rPr lang="zh-CN" altLang="en-US" sz="800" dirty="0"/>
              <a:t>和卡尔</a:t>
            </a:r>
            <a:r>
              <a:rPr lang="en-US" altLang="zh-CN" sz="800" dirty="0"/>
              <a:t>·</a:t>
            </a:r>
            <a:r>
              <a:rPr lang="zh-CN" altLang="en-US" sz="800" dirty="0"/>
              <a:t>迈尔（</a:t>
            </a:r>
            <a:r>
              <a:rPr lang="en-GB" sz="800" dirty="0"/>
              <a:t>Carl Mayer），</a:t>
            </a:r>
            <a:r>
              <a:rPr lang="zh-CN" altLang="en-US" sz="800" dirty="0"/>
              <a:t>在德国又受教于西格弗里德</a:t>
            </a:r>
            <a:r>
              <a:rPr lang="en-US" altLang="zh-CN" sz="800" dirty="0"/>
              <a:t>·</a:t>
            </a:r>
            <a:r>
              <a:rPr lang="zh-CN" altLang="en-US" sz="800" dirty="0"/>
              <a:t>德恩（</a:t>
            </a:r>
            <a:r>
              <a:rPr lang="en-GB" sz="800" dirty="0"/>
              <a:t>Siegfried Dehn），</a:t>
            </a:r>
            <a:r>
              <a:rPr lang="zh-CN" altLang="en-US" sz="800" dirty="0"/>
              <a:t>还与多尼采蒂（</a:t>
            </a:r>
            <a:r>
              <a:rPr lang="en-GB" sz="800" dirty="0"/>
              <a:t>Donizetti）</a:t>
            </a:r>
            <a:r>
              <a:rPr lang="zh-CN" altLang="en-US" sz="800" dirty="0"/>
              <a:t>和贝利尼（</a:t>
            </a:r>
            <a:r>
              <a:rPr lang="en-GB" sz="800" dirty="0"/>
              <a:t>Bellini）</a:t>
            </a:r>
            <a:r>
              <a:rPr lang="zh-CN" altLang="en-US" sz="800" dirty="0"/>
              <a:t>是好友。也许正因为他</a:t>
            </a:r>
            <a:r>
              <a:rPr lang="zh-CN" altLang="en-US" sz="800" b="1" dirty="0"/>
              <a:t>没有被学派的框架束缚</a:t>
            </a:r>
            <a:r>
              <a:rPr lang="zh-CN" altLang="en-US" sz="800" dirty="0"/>
              <a:t>，他的音乐才如此自由，成为</a:t>
            </a:r>
            <a:r>
              <a:rPr lang="zh-CN" altLang="en-US" sz="800" b="1" dirty="0"/>
              <a:t>纯粹创作直觉与灵感的表达</a:t>
            </a:r>
            <a:r>
              <a:rPr lang="zh-CN" altLang="en-US" sz="800" dirty="0"/>
              <a:t>。</a:t>
            </a:r>
            <a:br>
              <a:rPr lang="zh-CN" altLang="en-US" sz="800" dirty="0"/>
            </a:br>
            <a:r>
              <a:rPr lang="zh-CN" altLang="en-US" sz="800" dirty="0"/>
              <a:t>前不久我与导师弗拉基米尔</a:t>
            </a:r>
            <a:r>
              <a:rPr lang="en-US" altLang="zh-CN" sz="800" dirty="0"/>
              <a:t>·</a:t>
            </a:r>
            <a:r>
              <a:rPr lang="zh-CN" altLang="en-US" sz="800" dirty="0"/>
              <a:t>尤罗夫斯基（</a:t>
            </a:r>
            <a:r>
              <a:rPr lang="en-GB" sz="800" dirty="0"/>
              <a:t>Vladimir Jurowski）</a:t>
            </a:r>
            <a:r>
              <a:rPr lang="zh-CN" altLang="en-US" sz="800" dirty="0"/>
              <a:t>谈及席勒（</a:t>
            </a:r>
            <a:r>
              <a:rPr lang="en-GB" sz="800" dirty="0"/>
              <a:t>Schiller）</a:t>
            </a:r>
            <a:r>
              <a:rPr lang="zh-CN" altLang="en-US" sz="800" dirty="0"/>
              <a:t>的文章</a:t>
            </a:r>
            <a:r>
              <a:rPr lang="en-US" altLang="zh-CN" sz="800" dirty="0"/>
              <a:t>《</a:t>
            </a:r>
            <a:r>
              <a:rPr lang="zh-CN" altLang="en-US" sz="800" dirty="0"/>
              <a:t>论天真与感伤的诗歌</a:t>
            </a:r>
            <a:r>
              <a:rPr lang="en-US" altLang="zh-CN" sz="800" dirty="0"/>
              <a:t>》</a:t>
            </a:r>
            <a:r>
              <a:rPr lang="zh-CN" altLang="en-US" sz="800" dirty="0"/>
              <a:t>（</a:t>
            </a:r>
            <a:r>
              <a:rPr lang="en-GB" sz="800" dirty="0" err="1"/>
              <a:t>Über</a:t>
            </a:r>
            <a:r>
              <a:rPr lang="en-GB" sz="800" dirty="0"/>
              <a:t> naive und </a:t>
            </a:r>
            <a:r>
              <a:rPr lang="en-GB" sz="800" dirty="0" err="1"/>
              <a:t>sentimentalische</a:t>
            </a:r>
            <a:r>
              <a:rPr lang="en-GB" sz="800" dirty="0"/>
              <a:t> </a:t>
            </a:r>
            <a:r>
              <a:rPr lang="en-GB" sz="800" dirty="0" err="1"/>
              <a:t>Dichtung</a:t>
            </a:r>
            <a:r>
              <a:rPr lang="en-GB" sz="800" dirty="0"/>
              <a:t>）。</a:t>
            </a:r>
            <a:r>
              <a:rPr lang="zh-CN" altLang="en-US" sz="800" dirty="0"/>
              <a:t>如果把席勒的理论应用到音乐中，我认为格林卡的这部作品正是“</a:t>
            </a:r>
            <a:r>
              <a:rPr lang="zh-CN" altLang="en-US" sz="800" b="1" dirty="0"/>
              <a:t>天真艺术（</a:t>
            </a:r>
            <a:r>
              <a:rPr lang="en-GB" sz="800" b="1" dirty="0"/>
              <a:t>naive Kunst）</a:t>
            </a:r>
            <a:r>
              <a:rPr lang="en-GB" sz="800" dirty="0"/>
              <a:t>”</a:t>
            </a:r>
            <a:r>
              <a:rPr lang="zh-CN" altLang="en-US" sz="800" dirty="0"/>
              <a:t>的完美例子</a:t>
            </a:r>
            <a:r>
              <a:rPr lang="en-US" altLang="zh-CN" sz="800" dirty="0"/>
              <a:t>——</a:t>
            </a:r>
            <a:r>
              <a:rPr lang="zh-CN" altLang="en-US" sz="800" dirty="0"/>
              <a:t>它的力量来自</a:t>
            </a:r>
            <a:r>
              <a:rPr lang="zh-CN" altLang="en-US" sz="800" b="1" dirty="0"/>
              <a:t>旋律的真诚、音符的简单</a:t>
            </a:r>
            <a:r>
              <a:rPr lang="zh-CN" altLang="en-US" sz="800" dirty="0"/>
              <a:t>与</a:t>
            </a:r>
            <a:r>
              <a:rPr lang="zh-CN" altLang="en-US" sz="800" b="1" dirty="0"/>
              <a:t>情感的真实</a:t>
            </a:r>
            <a:r>
              <a:rPr lang="zh-CN" altLang="en-US" sz="800" dirty="0"/>
              <a:t>，无需任何复杂的诠释。</a:t>
            </a:r>
            <a:br>
              <a:rPr lang="zh-CN" altLang="en-US" sz="800" dirty="0"/>
            </a:br>
            <a:endParaRPr lang="zh-CN" altLang="en-US" sz="800" dirty="0"/>
          </a:p>
          <a:p>
            <a:r>
              <a:rPr lang="zh-CN" altLang="en-US" sz="800" b="1" dirty="0"/>
              <a:t>卡廷卡</a:t>
            </a:r>
            <a:r>
              <a:rPr lang="en-US" altLang="zh-CN" sz="800" b="1" dirty="0"/>
              <a:t>·</a:t>
            </a:r>
            <a:r>
              <a:rPr lang="zh-CN" altLang="en-US" sz="800" b="1" dirty="0"/>
              <a:t>迪克</a:t>
            </a:r>
          </a:p>
          <a:p>
            <a:r>
              <a:rPr lang="zh-CN" altLang="en-US" sz="800" dirty="0"/>
              <a:t>格林卡受到了哪些音乐传统或作曲家的影响？</a:t>
            </a:r>
          </a:p>
          <a:p>
            <a:r>
              <a:rPr lang="zh-CN" altLang="en-US" sz="800" b="1" dirty="0"/>
              <a:t>阿齐姆</a:t>
            </a:r>
            <a:r>
              <a:rPr lang="en-US" altLang="zh-CN" sz="800" b="1" dirty="0"/>
              <a:t>·</a:t>
            </a:r>
            <a:r>
              <a:rPr lang="zh-CN" altLang="en-US" sz="800" b="1" dirty="0"/>
              <a:t>卡里莫夫</a:t>
            </a:r>
          </a:p>
          <a:p>
            <a:r>
              <a:rPr lang="en-US" altLang="zh-CN" sz="800" dirty="0"/>
              <a:t>《</a:t>
            </a:r>
            <a:r>
              <a:rPr lang="zh-CN" altLang="en-US" sz="800" dirty="0"/>
              <a:t>鲁斯兰与柳德米拉</a:t>
            </a:r>
            <a:r>
              <a:rPr lang="en-US" altLang="zh-CN" sz="800" dirty="0"/>
              <a:t>》</a:t>
            </a:r>
            <a:r>
              <a:rPr lang="zh-CN" altLang="en-US" sz="800" dirty="0"/>
              <a:t>完成于与威尔第的</a:t>
            </a:r>
            <a:r>
              <a:rPr lang="en-US" altLang="zh-CN" sz="800" dirty="0"/>
              <a:t>《</a:t>
            </a:r>
            <a:r>
              <a:rPr lang="zh-CN" altLang="en-US" sz="800" dirty="0"/>
              <a:t>纳布科</a:t>
            </a:r>
            <a:r>
              <a:rPr lang="en-US" altLang="zh-CN" sz="800" dirty="0"/>
              <a:t>》</a:t>
            </a:r>
            <a:r>
              <a:rPr lang="zh-CN" altLang="en-US" sz="800" dirty="0"/>
              <a:t>（</a:t>
            </a:r>
            <a:r>
              <a:rPr lang="en-GB" sz="800" dirty="0"/>
              <a:t>Nabucco）</a:t>
            </a:r>
            <a:r>
              <a:rPr lang="zh-CN" altLang="en-US" sz="800" dirty="0"/>
              <a:t>和瓦格纳的</a:t>
            </a:r>
            <a:r>
              <a:rPr lang="en-US" altLang="zh-CN" sz="800" dirty="0"/>
              <a:t>《</a:t>
            </a:r>
            <a:r>
              <a:rPr lang="zh-CN" altLang="en-US" sz="800" dirty="0"/>
              <a:t>漂泊的荷兰人</a:t>
            </a:r>
            <a:r>
              <a:rPr lang="en-US" altLang="zh-CN" sz="800" dirty="0"/>
              <a:t>》</a:t>
            </a:r>
            <a:r>
              <a:rPr lang="zh-CN" altLang="en-US" sz="800" dirty="0"/>
              <a:t>（</a:t>
            </a:r>
            <a:r>
              <a:rPr lang="en-GB" sz="800" dirty="0"/>
              <a:t>Der </a:t>
            </a:r>
            <a:r>
              <a:rPr lang="en-GB" sz="800" dirty="0" err="1"/>
              <a:t>fliegende</a:t>
            </a:r>
            <a:r>
              <a:rPr lang="en-GB" sz="800" dirty="0"/>
              <a:t> </a:t>
            </a:r>
            <a:r>
              <a:rPr lang="en-GB" sz="800" dirty="0" err="1"/>
              <a:t>Holländer</a:t>
            </a:r>
            <a:r>
              <a:rPr lang="en-GB" sz="800" dirty="0"/>
              <a:t>）</a:t>
            </a:r>
            <a:r>
              <a:rPr lang="zh-CN" altLang="en-US" sz="800" dirty="0"/>
              <a:t>同一时期。格林卡的影响范围虽然地理上有限，但在艺术意义上</a:t>
            </a:r>
            <a:r>
              <a:rPr lang="zh-CN" altLang="en-US" sz="800" b="1" dirty="0"/>
              <a:t>丝毫不逊于威尔第或瓦格纳</a:t>
            </a:r>
            <a:r>
              <a:rPr lang="zh-CN" altLang="en-US" sz="800" dirty="0"/>
              <a:t>。</a:t>
            </a:r>
            <a:br>
              <a:rPr lang="zh-CN" altLang="en-US" sz="800" dirty="0"/>
            </a:br>
            <a:r>
              <a:rPr lang="zh-CN" altLang="en-US" sz="800" dirty="0"/>
              <a:t>当然，我们可以细致分析他从他人那里吸取了哪些创意，但对我而言，更有趣的是去观察：他为后来的</a:t>
            </a:r>
          </a:p>
        </p:txBody>
      </p:sp>
      <p:sp>
        <p:nvSpPr>
          <p:cNvPr id="5" name="TextBox 4">
            <a:extLst>
              <a:ext uri="{FF2B5EF4-FFF2-40B4-BE49-F238E27FC236}">
                <a16:creationId xmlns:a16="http://schemas.microsoft.com/office/drawing/2014/main" id="{6AD3058A-0F79-7D99-BE5C-19D654D53AE7}"/>
              </a:ext>
            </a:extLst>
          </p:cNvPr>
          <p:cNvSpPr txBox="1"/>
          <p:nvPr/>
        </p:nvSpPr>
        <p:spPr>
          <a:xfrm>
            <a:off x="4951446" y="117693"/>
            <a:ext cx="4694578" cy="3416320"/>
          </a:xfrm>
          <a:prstGeom prst="rect">
            <a:avLst/>
          </a:prstGeom>
          <a:noFill/>
        </p:spPr>
        <p:txBody>
          <a:bodyPr wrap="square">
            <a:spAutoFit/>
          </a:bodyPr>
          <a:lstStyle/>
          <a:p>
            <a:r>
              <a:rPr lang="zh-CN" altLang="en-US" sz="800" dirty="0"/>
              <a:t>俄罗斯作曲家</a:t>
            </a:r>
            <a:r>
              <a:rPr lang="zh-CN" altLang="en-US" sz="800" b="1" dirty="0"/>
              <a:t>开启了怎样的大门</a:t>
            </a:r>
            <a:r>
              <a:rPr lang="zh-CN" altLang="en-US" sz="800" dirty="0"/>
              <a:t>。</a:t>
            </a:r>
            <a:br>
              <a:rPr lang="zh-CN" altLang="en-US" sz="800" dirty="0"/>
            </a:br>
            <a:r>
              <a:rPr lang="zh-CN" altLang="en-US" sz="800" dirty="0"/>
              <a:t>如果用“快进”的方式去聆听，你会在他的音乐里听到未来的回响：柴可夫斯基、里姆斯基</a:t>
            </a:r>
            <a:r>
              <a:rPr lang="en-US" altLang="zh-CN" sz="800" dirty="0"/>
              <a:t>-</a:t>
            </a:r>
            <a:r>
              <a:rPr lang="zh-CN" altLang="en-US" sz="800" dirty="0"/>
              <a:t>科萨科夫、穆索尔斯基、斯特拉文斯基，甚至普罗科菲耶夫的影子，还有苏联时期音乐剧与童话电影的预示性旋律。格林卡是一位充满激情的理想主义者，他为后来整个“</a:t>
            </a:r>
            <a:r>
              <a:rPr lang="zh-CN" altLang="en-US" sz="800" b="1" dirty="0"/>
              <a:t>俄罗斯音乐</a:t>
            </a:r>
            <a:r>
              <a:rPr lang="zh-CN" altLang="en-US" sz="800" dirty="0"/>
              <a:t>”传统提供了</a:t>
            </a:r>
            <a:r>
              <a:rPr lang="zh-CN" altLang="en-US" sz="800" b="1" dirty="0"/>
              <a:t>最初的强劲脉动</a:t>
            </a:r>
            <a:r>
              <a:rPr lang="zh-CN" altLang="en-US" sz="800" dirty="0"/>
              <a:t>。</a:t>
            </a:r>
            <a:endParaRPr lang="en-US" altLang="zh-CN" sz="800" dirty="0"/>
          </a:p>
          <a:p>
            <a:endParaRPr lang="en-US" altLang="zh-CN" sz="800" dirty="0"/>
          </a:p>
          <a:p>
            <a:r>
              <a:rPr lang="zh-CN" altLang="en-US" sz="800" b="1" dirty="0"/>
              <a:t>卡廷卡</a:t>
            </a:r>
            <a:r>
              <a:rPr lang="en-US" altLang="zh-CN" sz="800" b="1" dirty="0"/>
              <a:t>·</a:t>
            </a:r>
            <a:r>
              <a:rPr lang="zh-CN" altLang="en-US" sz="800" b="1" dirty="0"/>
              <a:t>迪克</a:t>
            </a:r>
          </a:p>
          <a:p>
            <a:r>
              <a:rPr lang="zh-CN" altLang="en-US" sz="800" dirty="0"/>
              <a:t>在这部乐谱中，你最喜爱的片段是哪一处？</a:t>
            </a:r>
          </a:p>
          <a:p>
            <a:r>
              <a:rPr lang="zh-CN" altLang="en-US" sz="800" b="1" dirty="0"/>
              <a:t>阿齐姆</a:t>
            </a:r>
            <a:r>
              <a:rPr lang="en-US" altLang="zh-CN" sz="800" b="1" dirty="0"/>
              <a:t>·</a:t>
            </a:r>
            <a:r>
              <a:rPr lang="zh-CN" altLang="en-US" sz="800" b="1" dirty="0"/>
              <a:t>卡里莫夫</a:t>
            </a:r>
          </a:p>
          <a:p>
            <a:r>
              <a:rPr lang="zh-CN" altLang="en-US" sz="800" dirty="0"/>
              <a:t>这问题很难回答，尤其对于这样一部作品。</a:t>
            </a:r>
            <a:r>
              <a:rPr lang="en-US" altLang="zh-CN" sz="800" dirty="0"/>
              <a:t>《</a:t>
            </a:r>
            <a:r>
              <a:rPr lang="zh-CN" altLang="en-US" sz="800" dirty="0"/>
              <a:t>鲁斯兰与柳德米拉</a:t>
            </a:r>
            <a:r>
              <a:rPr lang="en-US" altLang="zh-CN" sz="800" dirty="0"/>
              <a:t>》</a:t>
            </a:r>
            <a:r>
              <a:rPr lang="zh-CN" altLang="en-US" sz="800" dirty="0"/>
              <a:t>的几乎每一场景都极具魅力，旋律令人难忘。</a:t>
            </a:r>
            <a:br>
              <a:rPr lang="zh-CN" altLang="en-US" sz="800" dirty="0"/>
            </a:br>
            <a:r>
              <a:rPr lang="zh-CN" altLang="en-US" sz="800" dirty="0"/>
              <a:t>在排练中，我常听到德语中一个词</a:t>
            </a:r>
            <a:r>
              <a:rPr lang="en-US" altLang="zh-CN" sz="800" dirty="0"/>
              <a:t>——“</a:t>
            </a:r>
            <a:r>
              <a:rPr lang="en-GB" sz="800" dirty="0" err="1"/>
              <a:t>Ohrwurm</a:t>
            </a:r>
            <a:r>
              <a:rPr lang="en-GB" sz="800" dirty="0"/>
              <a:t>”，</a:t>
            </a:r>
            <a:r>
              <a:rPr lang="zh-CN" altLang="en-US" sz="800" dirty="0"/>
              <a:t>意为“耳虫”，也就是“洗脑旋律”。这部歌剧几乎充满了这样的“耳虫”！</a:t>
            </a:r>
            <a:br>
              <a:rPr lang="zh-CN" altLang="en-US" sz="800" dirty="0"/>
            </a:br>
            <a:r>
              <a:rPr lang="zh-CN" altLang="en-US" sz="800" dirty="0"/>
              <a:t>例如：第四幕的</a:t>
            </a:r>
            <a:r>
              <a:rPr lang="zh-CN" altLang="en-US" sz="800" b="1" dirty="0"/>
              <a:t>切尔诺莫尔进行曲（</a:t>
            </a:r>
            <a:r>
              <a:rPr lang="en-GB" sz="800" b="1" dirty="0"/>
              <a:t>Marsch von </a:t>
            </a:r>
            <a:r>
              <a:rPr lang="en-GB" sz="800" b="1" dirty="0" err="1"/>
              <a:t>Tschernomor</a:t>
            </a:r>
            <a:r>
              <a:rPr lang="en-GB" sz="800" b="1" dirty="0"/>
              <a:t>）</a:t>
            </a:r>
            <a:r>
              <a:rPr lang="en-GB" sz="800" dirty="0"/>
              <a:t>，</a:t>
            </a:r>
            <a:r>
              <a:rPr lang="zh-CN" altLang="en-US" sz="800" dirty="0"/>
              <a:t>李斯特尤为推崇；第四幕的</a:t>
            </a:r>
            <a:r>
              <a:rPr lang="zh-CN" altLang="en-US" sz="800" b="1" dirty="0"/>
              <a:t>奈娜之舞</a:t>
            </a:r>
            <a:r>
              <a:rPr lang="zh-CN" altLang="en-US" sz="800" dirty="0"/>
              <a:t>与“</a:t>
            </a:r>
            <a:r>
              <a:rPr lang="zh-CN" altLang="en-US" sz="800" b="1" dirty="0"/>
              <a:t>东方舞曲（</a:t>
            </a:r>
            <a:r>
              <a:rPr lang="en-GB" sz="800" b="1" dirty="0" err="1"/>
              <a:t>Orientalische</a:t>
            </a:r>
            <a:r>
              <a:rPr lang="en-GB" sz="800" b="1" dirty="0"/>
              <a:t> </a:t>
            </a:r>
            <a:r>
              <a:rPr lang="en-GB" sz="800" b="1" dirty="0" err="1"/>
              <a:t>Tänze</a:t>
            </a:r>
            <a:r>
              <a:rPr lang="en-GB" sz="800" b="1" dirty="0"/>
              <a:t>）</a:t>
            </a:r>
            <a:r>
              <a:rPr lang="en-GB" sz="800" dirty="0"/>
              <a:t>”，</a:t>
            </a:r>
            <a:r>
              <a:rPr lang="zh-CN" altLang="en-US" sz="800" dirty="0"/>
              <a:t>贝里奥兹曾在演出中多次指挥。</a:t>
            </a:r>
            <a:br>
              <a:rPr lang="zh-CN" altLang="en-US" sz="800" dirty="0"/>
            </a:br>
            <a:r>
              <a:rPr lang="zh-CN" altLang="en-US" sz="800" dirty="0"/>
              <a:t>还有第三幕</a:t>
            </a:r>
            <a:r>
              <a:rPr lang="zh-CN" altLang="en-US" sz="800" b="1" dirty="0"/>
              <a:t>戈里斯拉娃的咏叹调</a:t>
            </a:r>
            <a:r>
              <a:rPr lang="en-US" altLang="zh-CN" sz="800" dirty="0"/>
              <a:t>——</a:t>
            </a:r>
            <a:r>
              <a:rPr lang="zh-CN" altLang="en-US" sz="800" dirty="0"/>
              <a:t>几乎可以肯定，柴可夫斯基在创作</a:t>
            </a:r>
            <a:r>
              <a:rPr lang="en-US" altLang="zh-CN" sz="800" dirty="0"/>
              <a:t>《</a:t>
            </a:r>
            <a:r>
              <a:rPr lang="zh-CN" altLang="en-US" sz="800" dirty="0"/>
              <a:t>叶甫盖尼</a:t>
            </a:r>
            <a:r>
              <a:rPr lang="en-US" altLang="zh-CN" sz="800" dirty="0"/>
              <a:t>·</a:t>
            </a:r>
            <a:r>
              <a:rPr lang="zh-CN" altLang="en-US" sz="800" dirty="0"/>
              <a:t>奥涅金</a:t>
            </a:r>
            <a:r>
              <a:rPr lang="en-US" altLang="zh-CN" sz="800" dirty="0"/>
              <a:t>》</a:t>
            </a:r>
            <a:r>
              <a:rPr lang="zh-CN" altLang="en-US" sz="800" dirty="0"/>
              <a:t>中塔季扬娜写信场景时受到了它的启发。</a:t>
            </a:r>
            <a:br>
              <a:rPr lang="zh-CN" altLang="en-US" sz="800" dirty="0"/>
            </a:br>
            <a:r>
              <a:rPr lang="zh-CN" altLang="en-US" sz="800" dirty="0"/>
              <a:t>当然，也不能忘记第四幕的</a:t>
            </a:r>
            <a:r>
              <a:rPr lang="zh-CN" altLang="en-US" sz="800" b="1" dirty="0"/>
              <a:t>柳德米拉场景</a:t>
            </a:r>
            <a:r>
              <a:rPr lang="zh-CN" altLang="en-US" sz="800" dirty="0"/>
              <a:t>：她的独唱伴随着无形的女子合唱、悠长的小提琴独奏，以及空灵的玻璃琴音色</a:t>
            </a:r>
            <a:r>
              <a:rPr lang="en-US" altLang="zh-CN" sz="800" dirty="0"/>
              <a:t>——</a:t>
            </a:r>
            <a:r>
              <a:rPr lang="zh-CN" altLang="en-US" sz="800" dirty="0"/>
              <a:t>这段音乐之美，令人屏息。</a:t>
            </a:r>
            <a:br>
              <a:rPr lang="zh-CN" altLang="en-US" sz="800" dirty="0"/>
            </a:br>
            <a:r>
              <a:rPr lang="zh-CN" altLang="en-US" sz="800" dirty="0"/>
              <a:t>此外，这部歌剧的独特之处在于：它并非只有一个，而是</a:t>
            </a:r>
            <a:r>
              <a:rPr lang="zh-CN" altLang="en-US" sz="800" b="1" dirty="0"/>
              <a:t>两个舞台管弦乐队</a:t>
            </a:r>
            <a:r>
              <a:rPr lang="en-US" altLang="zh-CN" sz="800" dirty="0"/>
              <a:t>——</a:t>
            </a:r>
            <a:r>
              <a:rPr lang="zh-CN" altLang="en-US" sz="800" dirty="0"/>
              <a:t>一个葬礼乐队，一个由约四十件铜管乐器组成的完整吹奏乐团。</a:t>
            </a:r>
            <a:br>
              <a:rPr lang="zh-CN" altLang="en-US" sz="800" dirty="0"/>
            </a:br>
            <a:r>
              <a:rPr lang="zh-CN" altLang="en-US" sz="800" dirty="0"/>
              <a:t>这一细节常常被忽略，因为在乐谱第一页只列出乐池中的主乐团，但紧接着，在下面的西里尔字母中写着：“舞台上另有两个吹奏乐团同时演奏”。如果你不识俄文或翻页过快，就会被突然出现的多个乐队吓一跳。</a:t>
            </a:r>
            <a:br>
              <a:rPr lang="zh-CN" altLang="en-US" sz="800" dirty="0"/>
            </a:br>
            <a:r>
              <a:rPr lang="zh-CN" altLang="en-US" sz="800" dirty="0"/>
              <a:t>整部歌剧充满了</a:t>
            </a:r>
            <a:r>
              <a:rPr lang="zh-CN" altLang="en-US" sz="800" b="1" dirty="0"/>
              <a:t>闪光的创意与生动的音乐想象力</a:t>
            </a:r>
            <a:r>
              <a:rPr lang="zh-CN" altLang="en-US" sz="800" dirty="0"/>
              <a:t>，那是格林卡独有的精神结晶。而最让我动容的时刻，是</a:t>
            </a:r>
            <a:r>
              <a:rPr lang="zh-CN" altLang="en-US" sz="800" b="1" dirty="0"/>
              <a:t>第五幕柳德米拉的苏醒</a:t>
            </a:r>
            <a:r>
              <a:rPr lang="zh-CN" altLang="en-US" sz="800" dirty="0"/>
              <a:t>。在那一刻的简洁之中，蕴含着力量与温柔</a:t>
            </a:r>
            <a:r>
              <a:rPr lang="en-US" altLang="zh-CN" sz="800" dirty="0"/>
              <a:t>——</a:t>
            </a:r>
            <a:r>
              <a:rPr lang="zh-CN" altLang="en-US" sz="800" dirty="0"/>
              <a:t>一种</a:t>
            </a:r>
            <a:r>
              <a:rPr lang="zh-CN" altLang="en-US" sz="800" b="1" dirty="0"/>
              <a:t>静谧的魔力</a:t>
            </a:r>
            <a:r>
              <a:rPr lang="zh-CN" altLang="en-US" sz="800" dirty="0"/>
              <a:t>，即使音乐结束后，仍久久回荡在心中。</a:t>
            </a:r>
          </a:p>
          <a:p>
            <a:endParaRPr lang="zh-CN" altLang="en-US" sz="800" dirty="0"/>
          </a:p>
        </p:txBody>
      </p:sp>
    </p:spTree>
    <p:extLst>
      <p:ext uri="{BB962C8B-B14F-4D97-AF65-F5344CB8AC3E}">
        <p14:creationId xmlns:p14="http://schemas.microsoft.com/office/powerpoint/2010/main" val="22679995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1446</TotalTime>
  <Words>2714</Words>
  <Application>Microsoft Macintosh PowerPoint</Application>
  <PresentationFormat>A4 Paper (210x297 mm)</PresentationFormat>
  <Paragraphs>72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Bai, Zehui</dc:creator>
  <cp:lastModifiedBy>Zehui Bai</cp:lastModifiedBy>
  <cp:revision>18</cp:revision>
  <cp:lastPrinted>2025-11-12T16:34:58Z</cp:lastPrinted>
  <dcterms:created xsi:type="dcterms:W3CDTF">2024-07-11T19:33:48Z</dcterms:created>
  <dcterms:modified xsi:type="dcterms:W3CDTF">2025-11-13T13:37:25Z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3fbf10-3297-4327-bf73-27d15f2d6bd0_Enabled">
    <vt:lpwstr>true</vt:lpwstr>
  </property>
  <property fmtid="{D5CDD505-2E9C-101B-9397-08002B2CF9AE}" pid="3" name="MSIP_Label_e33fbf10-3297-4327-bf73-27d15f2d6bd0_SetDate">
    <vt:lpwstr>2024-07-11T19:36:05Z</vt:lpwstr>
  </property>
  <property fmtid="{D5CDD505-2E9C-101B-9397-08002B2CF9AE}" pid="4" name="MSIP_Label_e33fbf10-3297-4327-bf73-27d15f2d6bd0_Method">
    <vt:lpwstr>Standard</vt:lpwstr>
  </property>
  <property fmtid="{D5CDD505-2E9C-101B-9397-08002B2CF9AE}" pid="5" name="MSIP_Label_e33fbf10-3297-4327-bf73-27d15f2d6bd0_Name">
    <vt:lpwstr>Confidential – Any Recipient Only</vt:lpwstr>
  </property>
  <property fmtid="{D5CDD505-2E9C-101B-9397-08002B2CF9AE}" pid="6" name="MSIP_Label_e33fbf10-3297-4327-bf73-27d15f2d6bd0_SiteId">
    <vt:lpwstr>06fe4af5-9412-436c-acdb-444ee0010489</vt:lpwstr>
  </property>
  <property fmtid="{D5CDD505-2E9C-101B-9397-08002B2CF9AE}" pid="7" name="MSIP_Label_e33fbf10-3297-4327-bf73-27d15f2d6bd0_ActionId">
    <vt:lpwstr>e9c86c4f-0358-434c-9bdd-a2c2656a6b33</vt:lpwstr>
  </property>
  <property fmtid="{D5CDD505-2E9C-101B-9397-08002B2CF9AE}" pid="8" name="MSIP_Label_e33fbf10-3297-4327-bf73-27d15f2d6bd0_ContentBits">
    <vt:lpwstr>0</vt:lpwstr>
  </property>
</Properties>
</file>