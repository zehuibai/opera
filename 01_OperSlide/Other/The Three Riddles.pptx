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64" r:id="rId2"/>
    <p:sldId id="370" r:id="rId3"/>
    <p:sldId id="371" r:id="rId4"/>
    <p:sldId id="372" r:id="rId5"/>
    <p:sldId id="369" r:id="rId6"/>
    <p:sldId id="373" r:id="rId7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8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80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720" y="18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406" cy="49733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750" y="1"/>
            <a:ext cx="2945405" cy="49733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r">
              <a:defRPr sz="1200"/>
            </a:lvl1pPr>
          </a:lstStyle>
          <a:p>
            <a:fld id="{1E980196-448A-481A-8A1B-A58FF56D884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71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94" tIns="44097" rIns="88194" bIns="44097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0527" y="4777782"/>
            <a:ext cx="5438140" cy="3907834"/>
          </a:xfrm>
          <a:prstGeom prst="rect">
            <a:avLst/>
          </a:prstGeom>
        </p:spPr>
        <p:txBody>
          <a:bodyPr vert="horz" lIns="88194" tIns="44097" rIns="88194" bIns="44097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429305"/>
            <a:ext cx="2945406" cy="49733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750" y="9429305"/>
            <a:ext cx="2945405" cy="49733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r">
              <a:defRPr sz="1200"/>
            </a:lvl1pPr>
          </a:lstStyle>
          <a:p>
            <a:fld id="{B552DB39-1987-4DDB-8E06-96607888F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36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785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80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34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10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90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72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2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3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76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85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70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92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eutsche Oper Berlin - The AIDS Foundation benefit concert - 2017 | Schedule">
            <a:extLst>
              <a:ext uri="{FF2B5EF4-FFF2-40B4-BE49-F238E27FC236}">
                <a16:creationId xmlns:a16="http://schemas.microsoft.com/office/drawing/2014/main" id="{0AD2D478-9C18-CEC1-0346-C914AB734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43" y="290574"/>
            <a:ext cx="4476755" cy="1124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4868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8F633-4C29-7280-5ABB-FC70B602F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47F2B51F-9CA6-2E97-03D8-2CC64A9B7E1D}"/>
              </a:ext>
            </a:extLst>
          </p:cNvPr>
          <p:cNvSpPr txBox="1"/>
          <p:nvPr/>
        </p:nvSpPr>
        <p:spPr>
          <a:xfrm>
            <a:off x="-896" y="0"/>
            <a:ext cx="495389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/>
              <a:t>第一幕</a:t>
            </a:r>
          </a:p>
          <a:p>
            <a:r>
              <a:rPr lang="zh-CN" altLang="en-US" sz="800" b="1" dirty="0"/>
              <a:t>场景一：波帕的酒窖</a:t>
            </a:r>
          </a:p>
          <a:p>
            <a:r>
              <a:rPr lang="zh-CN" altLang="en-US" sz="800" dirty="0"/>
              <a:t>拉索在他母亲波帕的酒窖里长大。他与那些中午就已经喝醉的常客争吵不休，和其他孩子们一起胡闹，还梦想着过上更好的生活。</a:t>
            </a:r>
          </a:p>
          <a:p>
            <a:r>
              <a:rPr lang="zh-CN" altLang="en-US" sz="800" dirty="0"/>
              <a:t>他从报纸上得知，在布西利斯王国（</a:t>
            </a:r>
            <a:r>
              <a:rPr lang="en-GB" sz="800" dirty="0" err="1"/>
              <a:t>Busillis</a:t>
            </a:r>
            <a:r>
              <a:rPr lang="en-GB" sz="800" dirty="0"/>
              <a:t>）</a:t>
            </a:r>
            <a:r>
              <a:rPr lang="zh-CN" altLang="en-US" sz="800" dirty="0"/>
              <a:t>里，国王正在为王位继承人</a:t>
            </a:r>
            <a:r>
              <a:rPr lang="en-US" altLang="zh-CN" sz="800" dirty="0"/>
              <a:t>——</a:t>
            </a:r>
            <a:r>
              <a:rPr lang="zh-CN" altLang="en-US" sz="800" dirty="0"/>
              <a:t>公主莎拉达</a:t>
            </a:r>
            <a:r>
              <a:rPr lang="en-US" altLang="zh-CN" sz="800" dirty="0"/>
              <a:t>——</a:t>
            </a:r>
            <a:r>
              <a:rPr lang="zh-CN" altLang="en-US" sz="800" dirty="0"/>
              <a:t>寻找一位丈夫。唯一的条件是：求婚者必须向公主提出三个谜语，只要有一个她答不出来，便可娶她为妻；但如果她答出其中任何一个谜语，求婚者就会被斩首。</a:t>
            </a:r>
          </a:p>
          <a:p>
            <a:r>
              <a:rPr lang="zh-CN" altLang="en-US" sz="800" dirty="0"/>
              <a:t>拉索决定前往布西利斯，试一试运气。波帕不想让儿子离开，却拦不住他。她心想反正他多半回不来，便给他准备了一个“旅途干粮”</a:t>
            </a:r>
            <a:r>
              <a:rPr lang="en-US" altLang="zh-CN" sz="800" dirty="0"/>
              <a:t>——</a:t>
            </a:r>
            <a:r>
              <a:rPr lang="zh-CN" altLang="en-US" sz="800" dirty="0"/>
              <a:t>一块下了毒的蛋糕。</a:t>
            </a:r>
          </a:p>
          <a:p>
            <a:br>
              <a:rPr lang="zh-CN" altLang="en-US" sz="800" dirty="0"/>
            </a:br>
            <a:endParaRPr lang="zh-CN" altLang="en-US" sz="800" dirty="0"/>
          </a:p>
          <a:p>
            <a:r>
              <a:rPr lang="zh-CN" altLang="en-US" sz="800" b="1" dirty="0"/>
              <a:t>场景二：一片森林（黄昏）</a:t>
            </a:r>
          </a:p>
          <a:p>
            <a:r>
              <a:rPr lang="zh-CN" altLang="en-US" sz="800" dirty="0"/>
              <a:t>在森林里、河岸边，拉索遭到一头饥饿的野猪袭击。野猪吃掉了那块蛋糕，随后中毒身亡。接着，拉索又被一群强盗抓住，他们把他绑起来，但在动手前，先吃了那头野猪。毒性随着野猪肉传到他们身上，结果强盗们也一个个死去。</a:t>
            </a:r>
          </a:p>
          <a:p>
            <a:r>
              <a:rPr lang="zh-CN" altLang="en-US" sz="800" dirty="0"/>
              <a:t>就在此时，一个叫“绞刑鸟”（</a:t>
            </a:r>
            <a:r>
              <a:rPr lang="en-GB" sz="800" dirty="0" err="1"/>
              <a:t>Galgenvogel</a:t>
            </a:r>
            <a:r>
              <a:rPr lang="en-GB" sz="800" dirty="0"/>
              <a:t>）</a:t>
            </a:r>
            <a:r>
              <a:rPr lang="zh-CN" altLang="en-US" sz="800" dirty="0"/>
              <a:t>的人从树上摔下来。他原本想上吊自杀</a:t>
            </a:r>
            <a:r>
              <a:rPr lang="en-US" altLang="zh-CN" sz="800" dirty="0"/>
              <a:t>——</a:t>
            </a:r>
            <a:r>
              <a:rPr lang="zh-CN" altLang="en-US" sz="800" dirty="0"/>
              <a:t>因为女友离开了他</a:t>
            </a:r>
            <a:r>
              <a:rPr lang="en-US" altLang="zh-CN" sz="800" dirty="0"/>
              <a:t>——</a:t>
            </a:r>
            <a:r>
              <a:rPr lang="zh-CN" altLang="en-US" sz="800" dirty="0"/>
              <a:t>却没想到绳子断了。绞刑鸟帮拉索解开绑绳，打算自己再用那根绳子试一次。但拉索劝慰他，告诉他自己正要踏上冒险旅程，并劝他一同前往布西利斯。</a:t>
            </a:r>
          </a:p>
          <a:p>
            <a:r>
              <a:rPr lang="zh-CN" altLang="en-US" sz="800" dirty="0"/>
              <a:t>他们用绞刑鸟早已为自己准备好的棺材当作船，渡过河流，踏上征途。</a:t>
            </a:r>
          </a:p>
          <a:p>
            <a:br>
              <a:rPr lang="zh-CN" altLang="en-US" sz="800" dirty="0"/>
            </a:br>
            <a:endParaRPr lang="zh-CN" altLang="en-US" sz="800" dirty="0"/>
          </a:p>
          <a:p>
            <a:r>
              <a:rPr lang="zh-CN" altLang="en-US" sz="800" b="1" dirty="0"/>
              <a:t>场景三</a:t>
            </a:r>
          </a:p>
          <a:p>
            <a:r>
              <a:rPr lang="zh-CN" altLang="en-US" sz="800" b="1" dirty="0"/>
              <a:t>（</a:t>
            </a:r>
            <a:r>
              <a:rPr lang="en-GB" sz="800" b="1" dirty="0"/>
              <a:t>a）</a:t>
            </a:r>
            <a:r>
              <a:rPr lang="zh-CN" altLang="en-US" sz="800" b="1" dirty="0"/>
              <a:t>城堡前的露台</a:t>
            </a:r>
          </a:p>
          <a:p>
            <a:r>
              <a:rPr lang="zh-CN" altLang="en-US" sz="800" dirty="0"/>
              <a:t>到达布西利斯后，拉索和绞刑鸟在王宫前遇到了国王泽法洛斯（</a:t>
            </a:r>
            <a:r>
              <a:rPr lang="en-GB" sz="800" dirty="0" err="1"/>
              <a:t>Zephalus</a:t>
            </a:r>
            <a:r>
              <a:rPr lang="en-GB" sz="800" dirty="0"/>
              <a:t>）</a:t>
            </a:r>
            <a:r>
              <a:rPr lang="zh-CN" altLang="en-US" sz="800" dirty="0"/>
              <a:t>的两位大臣</a:t>
            </a:r>
            <a:r>
              <a:rPr lang="en-US" altLang="zh-CN" sz="800" dirty="0"/>
              <a:t>——</a:t>
            </a:r>
            <a:r>
              <a:rPr lang="zh-CN" altLang="en-US" sz="800" dirty="0"/>
              <a:t>同时也是刽子手</a:t>
            </a:r>
            <a:r>
              <a:rPr lang="en-US" altLang="zh-CN" sz="800" dirty="0"/>
              <a:t>——</a:t>
            </a:r>
            <a:r>
              <a:rPr lang="zh-CN" altLang="en-US" sz="800" dirty="0"/>
              <a:t>塔塔罗斯（</a:t>
            </a:r>
            <a:r>
              <a:rPr lang="en-GB" sz="800" dirty="0"/>
              <a:t>Tartarus）</a:t>
            </a:r>
            <a:r>
              <a:rPr lang="zh-CN" altLang="en-US" sz="800" dirty="0"/>
              <a:t>与阿韦尔努斯（</a:t>
            </a:r>
            <a:r>
              <a:rPr lang="en-GB" sz="800" dirty="0"/>
              <a:t>Avernus）。</a:t>
            </a:r>
            <a:r>
              <a:rPr lang="zh-CN" altLang="en-US" sz="800" dirty="0"/>
              <a:t>他们一开始不打算放拉索进去，但当得知他是来参加“谜语考验”的挑战者时，两人兴奋不已，暗自庆幸又找到一个“下一个受害者”。</a:t>
            </a:r>
          </a:p>
          <a:p>
            <a:r>
              <a:rPr lang="zh-CN" altLang="en-US" sz="800" b="1" dirty="0"/>
              <a:t>（</a:t>
            </a:r>
            <a:r>
              <a:rPr lang="en-GB" sz="800" b="1" dirty="0"/>
              <a:t>b）</a:t>
            </a:r>
            <a:r>
              <a:rPr lang="zh-CN" altLang="en-US" sz="800" b="1" dirty="0"/>
              <a:t>谜语大厅</a:t>
            </a:r>
          </a:p>
          <a:p>
            <a:r>
              <a:rPr lang="zh-CN" altLang="en-US" sz="800" dirty="0"/>
              <a:t>在宫殿中，拉索受到宫廷众人的迎接</a:t>
            </a:r>
            <a:r>
              <a:rPr lang="en-US" altLang="zh-CN" sz="800" dirty="0"/>
              <a:t>——</a:t>
            </a:r>
            <a:r>
              <a:rPr lang="zh-CN" altLang="en-US" sz="800" dirty="0"/>
              <a:t>包括阿韦尔努斯、塔塔罗斯、阴险的宫女克诺亨夫人（</a:t>
            </a:r>
            <a:r>
              <a:rPr lang="en-GB" sz="800" dirty="0"/>
              <a:t>Frau </a:t>
            </a:r>
            <a:r>
              <a:rPr lang="en-GB" sz="800" dirty="0" err="1"/>
              <a:t>Knochen</a:t>
            </a:r>
            <a:r>
              <a:rPr lang="en-GB" sz="800" dirty="0"/>
              <a:t>）</a:t>
            </a:r>
            <a:r>
              <a:rPr lang="zh-CN" altLang="en-US" sz="800" dirty="0"/>
              <a:t>以及国王泽法洛斯本人。拉索向公主莎拉达提出三个谜语。莎拉达全都没能解出。她震惊又恐惧，想到自己必须嫁给拉索。拉索被她的神情打动，便宽限她三十分钟，再给她一次机会去解谜。</a:t>
            </a:r>
          </a:p>
          <a:p>
            <a:br>
              <a:rPr lang="zh-CN" altLang="en-US" sz="800" dirty="0"/>
            </a:br>
            <a:endParaRPr lang="zh-CN" altLang="en-US" sz="800" dirty="0"/>
          </a:p>
          <a:p>
            <a:r>
              <a:rPr lang="zh-CN" altLang="en-US" sz="800" b="1" dirty="0"/>
              <a:t>第二幕</a:t>
            </a:r>
          </a:p>
          <a:p>
            <a:r>
              <a:rPr lang="zh-CN" altLang="en-US" sz="800" b="1" dirty="0"/>
              <a:t>场景四：谜语大厅</a:t>
            </a:r>
          </a:p>
          <a:p>
            <a:r>
              <a:rPr lang="zh-CN" altLang="en-US" sz="800" dirty="0"/>
              <a:t>莎拉达召集炼金术士、占星师和学者，竭力破解谜题。与此同时，克诺亨夫人、塔塔罗斯和阿韦尔努斯抓住了绞刑鸟，试图用暴力从他口中逼出答案。连国王泽法洛斯也亲自审问，但仍无结果。最终，拉索亲自解开了谜语。</a:t>
            </a:r>
          </a:p>
          <a:p>
            <a:r>
              <a:rPr lang="zh-CN" altLang="en-US" sz="800" dirty="0"/>
              <a:t>然而，他并不急于让莎拉达履行婚约。因为他渐渐喜欢上了她，希望她能心甘情愿地嫁给他。于是他提议：他们共度一夜，但他不会碰她，只想让她</a:t>
            </a:r>
            <a:r>
              <a:rPr lang="en-US" altLang="zh-CN" sz="800" dirty="0"/>
              <a:t>——</a:t>
            </a:r>
            <a:r>
              <a:rPr lang="zh-CN" altLang="en-US" sz="800" dirty="0"/>
              <a:t>那个从未笑过的女孩</a:t>
            </a:r>
            <a:r>
              <a:rPr lang="en-US" altLang="zh-CN" sz="800" dirty="0"/>
              <a:t>——</a:t>
            </a:r>
            <a:r>
              <a:rPr lang="zh-CN" altLang="en-US" sz="800" dirty="0"/>
              <a:t>笑一次。</a:t>
            </a:r>
          </a:p>
          <a:p>
            <a:r>
              <a:rPr lang="zh-CN" altLang="en-US" sz="800" dirty="0"/>
              <a:t>克诺亨夫人、塔塔罗斯和阿韦尔努斯害怕失去权力和收入，决心竭尽全力阻止两人结合。于是克诺亨夫人动身，前去把拉索的母亲波帕带来。</a:t>
            </a:r>
          </a:p>
          <a:p>
            <a:br>
              <a:rPr lang="zh-CN" altLang="en-US" sz="800" dirty="0"/>
            </a:br>
            <a:endParaRPr lang="zh-CN" altLang="en-US" sz="800" dirty="0"/>
          </a:p>
          <a:p>
            <a:r>
              <a:rPr lang="zh-CN" altLang="en-US" sz="800" b="1" dirty="0"/>
              <a:t>场景五：莎拉达的房间</a:t>
            </a:r>
          </a:p>
          <a:p>
            <a:r>
              <a:rPr lang="zh-CN" altLang="en-US" sz="800" dirty="0"/>
              <a:t>在莎拉达的寝宫里，整个宫廷的人都偷偷藏起来，想监视拉索与莎拉达。拉索给莎拉达讲笑话，成功让她笑了出来，也赢得了她的心。与此同时，暴风雨酝酿而起，恰在克诺亨夫人带着波帕出现的那一刻爆发。混乱中，莎拉达、拉索和绞刑鸟趁乱逃脱。</a:t>
            </a:r>
          </a:p>
          <a:p>
            <a:br>
              <a:rPr lang="zh-CN" altLang="en-US" sz="800" dirty="0"/>
            </a:br>
            <a:endParaRPr lang="zh-CN" altLang="en-US" sz="800" dirty="0"/>
          </a:p>
          <a:p>
            <a:r>
              <a:rPr lang="zh-CN" altLang="en-US" sz="800" b="1" dirty="0"/>
              <a:t>场景六：海边（黎明）</a:t>
            </a:r>
          </a:p>
          <a:p>
            <a:r>
              <a:rPr lang="zh-CN" altLang="en-US" sz="800" dirty="0"/>
              <a:t>在海岸上，绞刑鸟发现了一只名为“康奇莉”（</a:t>
            </a:r>
            <a:r>
              <a:rPr lang="en-GB" sz="800" dirty="0" err="1"/>
              <a:t>Konkilie</a:t>
            </a:r>
            <a:r>
              <a:rPr lang="en-GB" sz="800" dirty="0"/>
              <a:t>）</a:t>
            </a:r>
            <a:r>
              <a:rPr lang="zh-CN" altLang="en-US" sz="800" dirty="0"/>
              <a:t>的贝壳，并决定留下来与它作伴。莎拉达与拉索登上小船，一同驶向新的生活。</a:t>
            </a:r>
          </a:p>
        </p:txBody>
      </p:sp>
      <p:sp>
        <p:nvSpPr>
          <p:cNvPr id="2" name="Textfeld 2">
            <a:extLst>
              <a:ext uri="{FF2B5EF4-FFF2-40B4-BE49-F238E27FC236}">
                <a16:creationId xmlns:a16="http://schemas.microsoft.com/office/drawing/2014/main" id="{B3B1AAFB-1939-0EB7-D385-E134D4BBB5F4}"/>
              </a:ext>
            </a:extLst>
          </p:cNvPr>
          <p:cNvSpPr txBox="1"/>
          <p:nvPr/>
        </p:nvSpPr>
        <p:spPr>
          <a:xfrm>
            <a:off x="4953000" y="0"/>
            <a:ext cx="4953896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/>
              <a:t>“人必须永远知道</a:t>
            </a:r>
            <a:r>
              <a:rPr lang="en-US" altLang="zh-CN" sz="800" b="1" dirty="0"/>
              <a:t>——</a:t>
            </a:r>
            <a:r>
              <a:rPr lang="zh-CN" altLang="en-US" sz="800" b="1" dirty="0"/>
              <a:t>自己到底走得有多远，才算太远。”</a:t>
            </a:r>
          </a:p>
          <a:p>
            <a:r>
              <a:rPr lang="zh-CN" altLang="en-US" sz="800" b="1" dirty="0"/>
              <a:t>作曲家德特列夫</a:t>
            </a:r>
            <a:r>
              <a:rPr lang="en-US" altLang="zh-CN" sz="800" b="1" dirty="0"/>
              <a:t>·</a:t>
            </a:r>
            <a:r>
              <a:rPr lang="zh-CN" altLang="en-US" sz="800" b="1" dirty="0"/>
              <a:t>格拉纳特访谈</a:t>
            </a:r>
            <a:endParaRPr lang="zh-CN" altLang="en-US" sz="800" dirty="0"/>
          </a:p>
          <a:p>
            <a:br>
              <a:rPr lang="zh-CN" altLang="en-US" sz="800" dirty="0"/>
            </a:br>
            <a:endParaRPr lang="zh-CN" altLang="en-US" sz="800" dirty="0"/>
          </a:p>
          <a:p>
            <a:r>
              <a:rPr lang="zh-CN" altLang="en-US" sz="800" b="1" dirty="0"/>
              <a:t>问题：</a:t>
            </a:r>
            <a:r>
              <a:rPr lang="zh-CN" altLang="en-US" sz="800" dirty="0"/>
              <a:t> 如果没有蒙特普尔恰诺（</a:t>
            </a:r>
            <a:r>
              <a:rPr lang="en-GB" sz="800" dirty="0"/>
              <a:t>Montepulciano）</a:t>
            </a:r>
            <a:r>
              <a:rPr lang="zh-CN" altLang="en-US" sz="800" dirty="0"/>
              <a:t>的国际艺术工坊（</a:t>
            </a:r>
            <a:r>
              <a:rPr lang="en-GB" sz="800" dirty="0" err="1"/>
              <a:t>Cantiere</a:t>
            </a:r>
            <a:r>
              <a:rPr lang="en-GB" sz="800" dirty="0"/>
              <a:t> Internazionale </a:t>
            </a:r>
            <a:r>
              <a:rPr lang="en-GB" sz="800" dirty="0" err="1"/>
              <a:t>d’Arte</a:t>
            </a:r>
            <a:r>
              <a:rPr lang="en-GB" sz="800" dirty="0"/>
              <a:t>），</a:t>
            </a:r>
            <a:r>
              <a:rPr lang="zh-CN" altLang="en-US" sz="800" dirty="0"/>
              <a:t>你大概永远不会写出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》——</a:t>
            </a:r>
            <a:r>
              <a:rPr lang="zh-CN" altLang="en-US" sz="800" dirty="0"/>
              <a:t>至少不会以现在这样的形式。</a:t>
            </a:r>
            <a:br>
              <a:rPr lang="zh-CN" altLang="en-US" sz="800" dirty="0"/>
            </a:br>
            <a:r>
              <a:rPr lang="zh-CN" altLang="en-US" sz="800" dirty="0"/>
              <a:t>这部作品与汉斯</a:t>
            </a:r>
            <a:r>
              <a:rPr lang="en-US" altLang="zh-CN" sz="800" dirty="0"/>
              <a:t>·</a:t>
            </a:r>
            <a:r>
              <a:rPr lang="zh-CN" altLang="en-US" sz="800" dirty="0"/>
              <a:t>维尔纳</a:t>
            </a:r>
            <a:r>
              <a:rPr lang="en-US" altLang="zh-CN" sz="800" dirty="0"/>
              <a:t>·</a:t>
            </a:r>
            <a:r>
              <a:rPr lang="zh-CN" altLang="en-US" sz="800" dirty="0"/>
              <a:t>亨策（</a:t>
            </a:r>
            <a:r>
              <a:rPr lang="en-GB" sz="800" dirty="0"/>
              <a:t>Hans Werner Henze）</a:t>
            </a:r>
            <a:r>
              <a:rPr lang="zh-CN" altLang="en-US" sz="800" dirty="0"/>
              <a:t>创办的那个夏季课程有什么关联？自</a:t>
            </a:r>
            <a:r>
              <a:rPr lang="en-US" altLang="zh-CN" sz="800" dirty="0"/>
              <a:t>1976</a:t>
            </a:r>
            <a:r>
              <a:rPr lang="zh-CN" altLang="en-US" sz="800" dirty="0"/>
              <a:t>年以来，这个课程连同其附属的节日就在托斯卡纳那座美丽的小城举办。</a:t>
            </a:r>
          </a:p>
          <a:p>
            <a:r>
              <a:rPr lang="zh-CN" altLang="en-US" sz="800" b="1" dirty="0"/>
              <a:t>德特列夫</a:t>
            </a:r>
            <a:r>
              <a:rPr lang="en-US" altLang="zh-CN" sz="800" b="1" dirty="0"/>
              <a:t>·</a:t>
            </a:r>
            <a:r>
              <a:rPr lang="zh-CN" altLang="en-US" sz="800" b="1" dirty="0"/>
              <a:t>格拉纳特：</a:t>
            </a:r>
            <a:br>
              <a:rPr lang="zh-CN" altLang="en-US" sz="800" dirty="0"/>
            </a:br>
            <a:r>
              <a:rPr lang="zh-CN" altLang="en-US" sz="800" dirty="0"/>
              <a:t>亨策创办“国际艺术工坊”的基本理念，是让业余者有机会以最高的艺术水准体验艺术的诞生</a:t>
            </a:r>
            <a:r>
              <a:rPr lang="en-US" altLang="zh-CN" sz="800" dirty="0"/>
              <a:t>——</a:t>
            </a:r>
            <a:r>
              <a:rPr lang="zh-CN" altLang="en-US" sz="800" dirty="0"/>
              <a:t>例如音乐形式是如何形成的，或者说把一部歌剧搬上舞台意味着什么。</a:t>
            </a:r>
            <a:br>
              <a:rPr lang="zh-CN" altLang="en-US" sz="800" dirty="0"/>
            </a:br>
            <a:r>
              <a:rPr lang="zh-CN" altLang="en-US" sz="800" dirty="0"/>
              <a:t>他采取了一种教学性的方式，但与之相结合的，是一种“游戏式”的、全新的、通过亲身实践进行的学习理念</a:t>
            </a:r>
            <a:r>
              <a:rPr lang="en-US" altLang="zh-CN" sz="800" dirty="0"/>
              <a:t>——</a:t>
            </a:r>
            <a:r>
              <a:rPr lang="zh-CN" altLang="en-US" sz="800" dirty="0"/>
              <a:t>在业余者与专业艺术家的合作中完成。</a:t>
            </a:r>
          </a:p>
          <a:p>
            <a:r>
              <a:rPr lang="zh-CN" altLang="en-US" sz="800" dirty="0"/>
              <a:t>他坚信，业余者可以向专业人士学习，但专业人士也能从业余者身上学到东西。而他明确地把孩子也包括在“业余者”之中。</a:t>
            </a:r>
            <a:br>
              <a:rPr lang="zh-CN" altLang="en-US" sz="800" dirty="0"/>
            </a:br>
            <a:r>
              <a:rPr lang="zh-CN" altLang="en-US" sz="800" dirty="0"/>
              <a:t>他本人也在蒙特普尔恰诺开设并组织了作曲课程。</a:t>
            </a:r>
            <a:br>
              <a:rPr lang="zh-CN" altLang="en-US" sz="800" dirty="0"/>
            </a:br>
            <a:r>
              <a:rPr lang="zh-CN" altLang="en-US" sz="800" dirty="0"/>
              <a:t>我曾于</a:t>
            </a:r>
            <a:r>
              <a:rPr lang="en-US" altLang="zh-CN" sz="800" dirty="0"/>
              <a:t>1984</a:t>
            </a:r>
            <a:r>
              <a:rPr lang="zh-CN" altLang="en-US" sz="800" dirty="0"/>
              <a:t>年至</a:t>
            </a:r>
            <a:r>
              <a:rPr lang="en-US" altLang="zh-CN" sz="800" dirty="0"/>
              <a:t>1989</a:t>
            </a:r>
            <a:r>
              <a:rPr lang="zh-CN" altLang="en-US" sz="800" dirty="0"/>
              <a:t>年在科隆师从他学习作曲，是他第一个邀请我在那里开设作曲班的人。</a:t>
            </a:r>
          </a:p>
          <a:p>
            <a:br>
              <a:rPr lang="zh-CN" altLang="en-US" sz="800" dirty="0"/>
            </a:br>
            <a:endParaRPr lang="zh-CN" altLang="en-US" sz="800" dirty="0"/>
          </a:p>
          <a:p>
            <a:r>
              <a:rPr lang="zh-CN" altLang="en-US" sz="800" dirty="0"/>
              <a:t>在蒙特普尔恰诺早在</a:t>
            </a:r>
            <a:r>
              <a:rPr lang="en-US" altLang="zh-CN" sz="800" dirty="0"/>
              <a:t>1720</a:t>
            </a:r>
            <a:r>
              <a:rPr lang="zh-CN" altLang="en-US" sz="800" dirty="0"/>
              <a:t>年就已成立了一所音乐学校。</a:t>
            </a:r>
            <a:br>
              <a:rPr lang="zh-CN" altLang="en-US" sz="800" dirty="0"/>
            </a:br>
            <a:r>
              <a:rPr lang="zh-CN" altLang="en-US" sz="800" dirty="0"/>
              <a:t>那时学校非常先进</a:t>
            </a:r>
            <a:r>
              <a:rPr lang="en-US" altLang="zh-CN" sz="800" dirty="0"/>
              <a:t>——</a:t>
            </a:r>
            <a:r>
              <a:rPr lang="zh-CN" altLang="en-US" sz="800" dirty="0"/>
              <a:t>市政府出资聘请教师，为市民教授乐器与声乐。</a:t>
            </a:r>
            <a:br>
              <a:rPr lang="zh-CN" altLang="en-US" sz="800" dirty="0"/>
            </a:br>
            <a:r>
              <a:rPr lang="zh-CN" altLang="en-US" sz="800" dirty="0"/>
              <a:t>亨策正是在此基础上创办了夏季课程。他为那里的第一个大型音乐戏剧项目创作了自己的儿童歌剧</a:t>
            </a:r>
            <a:r>
              <a:rPr lang="en-US" altLang="zh-CN" sz="800" dirty="0"/>
              <a:t>《</a:t>
            </a:r>
            <a:r>
              <a:rPr lang="zh-CN" altLang="en-US" sz="800" dirty="0"/>
              <a:t>小拇指</a:t>
            </a:r>
            <a:r>
              <a:rPr lang="en-US" altLang="zh-CN" sz="800" dirty="0"/>
              <a:t>》</a:t>
            </a:r>
            <a:r>
              <a:rPr lang="zh-CN" altLang="en-US" sz="800" dirty="0"/>
              <a:t>（</a:t>
            </a:r>
            <a:r>
              <a:rPr lang="en-GB" sz="800" i="1" dirty="0"/>
              <a:t>Pollicino</a:t>
            </a:r>
            <a:r>
              <a:rPr lang="en-GB" sz="800" dirty="0"/>
              <a:t>），</a:t>
            </a:r>
            <a:r>
              <a:rPr lang="zh-CN" altLang="en-US" sz="800" dirty="0"/>
              <a:t>该作于</a:t>
            </a:r>
            <a:r>
              <a:rPr lang="en-US" altLang="zh-CN" sz="800" dirty="0"/>
              <a:t>1980</a:t>
            </a:r>
            <a:r>
              <a:rPr lang="zh-CN" altLang="en-US" sz="800" dirty="0"/>
              <a:t>年首演，取得巨大成功。</a:t>
            </a:r>
          </a:p>
          <a:p>
            <a:r>
              <a:rPr lang="zh-CN" altLang="en-US" sz="800" dirty="0"/>
              <a:t>从</a:t>
            </a:r>
            <a:r>
              <a:rPr lang="en-US" altLang="zh-CN" sz="800" dirty="0"/>
              <a:t>1989</a:t>
            </a:r>
            <a:r>
              <a:rPr lang="zh-CN" altLang="en-US" sz="800" dirty="0"/>
              <a:t>年到</a:t>
            </a:r>
            <a:r>
              <a:rPr lang="en-US" altLang="zh-CN" sz="800" dirty="0"/>
              <a:t>1993</a:t>
            </a:r>
            <a:r>
              <a:rPr lang="zh-CN" altLang="en-US" sz="800" dirty="0"/>
              <a:t>年，我与一位意大利朋友共同担任那所音乐学校的校长，当时学校正经历危机，我们致力于让它重新振作。也就是在那段时间，萌生了继续委托创作更多歌剧的想法。于是产生了六部风格各异的儿童歌剧。</a:t>
            </a:r>
          </a:p>
          <a:p>
            <a:r>
              <a:rPr lang="en-US" altLang="zh-CN" sz="800" dirty="0"/>
              <a:t>1993</a:t>
            </a:r>
            <a:r>
              <a:rPr lang="zh-CN" altLang="en-US" sz="800" dirty="0"/>
              <a:t>年我获得罗马马西莫别墅（</a:t>
            </a:r>
            <a:r>
              <a:rPr lang="en-GB" sz="800" dirty="0"/>
              <a:t>Villa Massimo）</a:t>
            </a:r>
            <a:r>
              <a:rPr lang="zh-CN" altLang="en-US" sz="800" dirty="0"/>
              <a:t>的奖学金，之后回到德国，但与蒙特普尔恰诺的联系一直保持。此后数年，我经常回到那里，并在</a:t>
            </a:r>
            <a:r>
              <a:rPr lang="en-US" altLang="zh-CN" sz="800" dirty="0"/>
              <a:t>2009</a:t>
            </a:r>
            <a:r>
              <a:rPr lang="zh-CN" altLang="en-US" sz="800" dirty="0"/>
              <a:t>年至</a:t>
            </a:r>
            <a:r>
              <a:rPr lang="en-US" altLang="zh-CN" sz="800" dirty="0"/>
              <a:t>2011</a:t>
            </a:r>
            <a:r>
              <a:rPr lang="zh-CN" altLang="en-US" sz="800" dirty="0"/>
              <a:t>年再次担任艺术节的艺术总监。</a:t>
            </a:r>
          </a:p>
          <a:p>
            <a:r>
              <a:rPr lang="zh-CN" altLang="en-US" sz="800" dirty="0"/>
              <a:t>不过在那之前（大约</a:t>
            </a:r>
            <a:r>
              <a:rPr lang="en-US" altLang="zh-CN" sz="800" dirty="0"/>
              <a:t>2002</a:t>
            </a:r>
            <a:r>
              <a:rPr lang="zh-CN" altLang="en-US" sz="800" dirty="0"/>
              <a:t>年），他们就已经问我是否愿意为蒙特普尔恰诺写一部儿童歌剧。那时我已是自由作曲家，必须靠作曲为生，而蒙特普尔恰诺则是一个彻底“无预算”的机构</a:t>
            </a:r>
            <a:r>
              <a:rPr lang="en-US" altLang="zh-CN" sz="800" dirty="0"/>
              <a:t>——</a:t>
            </a:r>
            <a:r>
              <a:rPr lang="zh-CN" altLang="en-US" sz="800" dirty="0"/>
              <a:t>秉承最纯粹的“共产主义”精神：没有任何酬劳，即便是像吉顿</a:t>
            </a:r>
            <a:r>
              <a:rPr lang="en-US" altLang="zh-CN" sz="800" dirty="0"/>
              <a:t>·</a:t>
            </a:r>
            <a:r>
              <a:rPr lang="zh-CN" altLang="en-US" sz="800" dirty="0"/>
              <a:t>克雷默（</a:t>
            </a:r>
            <a:r>
              <a:rPr lang="en-GB" sz="800" dirty="0"/>
              <a:t>Gidon Kremer）、</a:t>
            </a:r>
            <a:r>
              <a:rPr lang="zh-CN" altLang="en-US" sz="800" dirty="0"/>
              <a:t>维利</a:t>
            </a:r>
            <a:r>
              <a:rPr lang="en-US" altLang="zh-CN" sz="800" dirty="0"/>
              <a:t>·</a:t>
            </a:r>
            <a:r>
              <a:rPr lang="zh-CN" altLang="en-US" sz="800" dirty="0"/>
              <a:t>德克尔（</a:t>
            </a:r>
            <a:r>
              <a:rPr lang="en-GB" sz="800" dirty="0"/>
              <a:t>Willy Decker）</a:t>
            </a:r>
            <a:r>
              <a:rPr lang="zh-CN" altLang="en-US" sz="800" dirty="0"/>
              <a:t>或威廉</a:t>
            </a:r>
            <a:r>
              <a:rPr lang="en-US" altLang="zh-CN" sz="800" dirty="0"/>
              <a:t>·</a:t>
            </a:r>
            <a:r>
              <a:rPr lang="zh-CN" altLang="en-US" sz="800" dirty="0"/>
              <a:t>福赛思（</a:t>
            </a:r>
            <a:r>
              <a:rPr lang="en-GB" sz="800" dirty="0"/>
              <a:t>William Forsythe）</a:t>
            </a:r>
            <a:r>
              <a:rPr lang="zh-CN" altLang="en-US" sz="800" dirty="0"/>
              <a:t>这样的巨星也一样。</a:t>
            </a:r>
          </a:p>
          <a:p>
            <a:r>
              <a:rPr lang="zh-CN" altLang="en-US" sz="800" dirty="0"/>
              <a:t>唯一提供的，是差旅费用、当地住宿，以及</a:t>
            </a:r>
            <a:r>
              <a:rPr lang="en-US" altLang="zh-CN" sz="800" dirty="0"/>
              <a:t>——</a:t>
            </a:r>
            <a:r>
              <a:rPr lang="zh-CN" altLang="en-US" sz="800" dirty="0"/>
              <a:t>这一点非常重要</a:t>
            </a:r>
            <a:r>
              <a:rPr lang="en-US" altLang="zh-CN" sz="800" dirty="0"/>
              <a:t>——</a:t>
            </a:r>
            <a:r>
              <a:rPr lang="zh-CN" altLang="en-US" sz="800" dirty="0"/>
              <a:t>每天两顿由亨策的伴侣福斯托</a:t>
            </a:r>
            <a:r>
              <a:rPr lang="en-US" altLang="zh-CN" sz="800" dirty="0"/>
              <a:t>·</a:t>
            </a:r>
            <a:r>
              <a:rPr lang="zh-CN" altLang="en-US" sz="800" dirty="0"/>
              <a:t>莫罗尼（</a:t>
            </a:r>
            <a:r>
              <a:rPr lang="en-GB" sz="800" dirty="0"/>
              <a:t>Fausto Moroni）</a:t>
            </a:r>
            <a:r>
              <a:rPr lang="zh-CN" altLang="en-US" sz="800" dirty="0"/>
              <a:t>创办的食堂提供的极佳膳食。每天在那里，大约四百人聚在一起</a:t>
            </a:r>
            <a:r>
              <a:rPr lang="en-US" altLang="zh-CN" sz="800" dirty="0"/>
              <a:t>——</a:t>
            </a:r>
            <a:r>
              <a:rPr lang="zh-CN" altLang="en-US" sz="800" dirty="0"/>
              <a:t>他们平时分散在各个部门、工坊或排练室中工作</a:t>
            </a:r>
            <a:r>
              <a:rPr lang="en-US" altLang="zh-CN" sz="800" dirty="0"/>
              <a:t>——</a:t>
            </a:r>
            <a:r>
              <a:rPr lang="zh-CN" altLang="en-US" sz="800" dirty="0"/>
              <a:t>而那两顿饭，是整个社交生活的中心。那家食堂至今仍然存在！</a:t>
            </a:r>
          </a:p>
          <a:p>
            <a:br>
              <a:rPr lang="zh-CN" altLang="en-US" sz="800" dirty="0"/>
            </a:br>
            <a:endParaRPr lang="zh-CN" altLang="en-US" sz="800" dirty="0"/>
          </a:p>
          <a:p>
            <a:r>
              <a:rPr lang="zh-CN" altLang="en-US" sz="800" dirty="0"/>
              <a:t>后来，我们为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找到了合作伙伴</a:t>
            </a:r>
            <a:r>
              <a:rPr lang="en-US" altLang="zh-CN" sz="800" dirty="0"/>
              <a:t>——</a:t>
            </a:r>
            <a:r>
              <a:rPr lang="zh-CN" altLang="en-US" sz="800" dirty="0"/>
              <a:t>哈雷歌剧院（</a:t>
            </a:r>
            <a:r>
              <a:rPr lang="en-GB" sz="800" dirty="0"/>
              <a:t>Oper Halle），</a:t>
            </a:r>
            <a:r>
              <a:rPr lang="zh-CN" altLang="en-US" sz="800" dirty="0"/>
              <a:t>他们承担了作曲委托。</a:t>
            </a:r>
            <a:br>
              <a:rPr lang="zh-CN" altLang="en-US" sz="800" dirty="0"/>
            </a:br>
            <a:r>
              <a:rPr lang="zh-CN" altLang="en-US" sz="800" dirty="0"/>
              <a:t>德语版首演于</a:t>
            </a:r>
            <a:r>
              <a:rPr lang="en-US" altLang="zh-CN" sz="800" dirty="0"/>
              <a:t>2003</a:t>
            </a:r>
            <a:r>
              <a:rPr lang="zh-CN" altLang="en-US" sz="800" dirty="0"/>
              <a:t>年</a:t>
            </a:r>
            <a:r>
              <a:rPr lang="en-US" altLang="zh-CN" sz="800" dirty="0"/>
              <a:t>10</a:t>
            </a:r>
            <a:r>
              <a:rPr lang="zh-CN" altLang="en-US" sz="800" dirty="0"/>
              <a:t>月</a:t>
            </a:r>
            <a:r>
              <a:rPr lang="en-US" altLang="zh-CN" sz="800" dirty="0"/>
              <a:t>12</a:t>
            </a:r>
            <a:r>
              <a:rPr lang="zh-CN" altLang="en-US" sz="800" dirty="0"/>
              <a:t>日在哈雷举行，由弗兰克</a:t>
            </a:r>
            <a:r>
              <a:rPr lang="en-US" altLang="zh-CN" sz="800" dirty="0"/>
              <a:t>·</a:t>
            </a:r>
            <a:r>
              <a:rPr lang="zh-CN" altLang="en-US" sz="800" dirty="0"/>
              <a:t>马丁</a:t>
            </a:r>
            <a:r>
              <a:rPr lang="en-US" altLang="zh-CN" sz="800" dirty="0"/>
              <a:t>·</a:t>
            </a:r>
            <a:r>
              <a:rPr lang="zh-CN" altLang="en-US" sz="800" dirty="0"/>
              <a:t>维德迈尔（</a:t>
            </a:r>
            <a:r>
              <a:rPr lang="en-GB" sz="800" dirty="0"/>
              <a:t>Frank Martin Widmaier）</a:t>
            </a:r>
            <a:r>
              <a:rPr lang="zh-CN" altLang="en-US" sz="800" dirty="0"/>
              <a:t>执导，帕维尔</a:t>
            </a:r>
            <a:r>
              <a:rPr lang="en-US" altLang="zh-CN" sz="800" dirty="0"/>
              <a:t>·</a:t>
            </a:r>
            <a:r>
              <a:rPr lang="zh-CN" altLang="en-US" sz="800" dirty="0"/>
              <a:t>巴列夫（</a:t>
            </a:r>
            <a:r>
              <a:rPr lang="en-GB" sz="800" dirty="0"/>
              <a:t>Pavel </a:t>
            </a:r>
            <a:r>
              <a:rPr lang="en-GB" sz="800" dirty="0" err="1"/>
              <a:t>Baleff</a:t>
            </a:r>
            <a:r>
              <a:rPr lang="en-GB" sz="800" dirty="0"/>
              <a:t>）</a:t>
            </a:r>
            <a:r>
              <a:rPr lang="zh-CN" altLang="en-US" sz="800" dirty="0"/>
              <a:t>指挥。</a:t>
            </a:r>
            <a:br>
              <a:rPr lang="zh-CN" altLang="en-US" sz="800" dirty="0"/>
            </a:br>
            <a:r>
              <a:rPr lang="zh-CN" altLang="en-US" sz="800" dirty="0"/>
              <a:t>在此之前，我们已经在蒙特普尔恰诺举办过几场意大利语的预演，由奥蕾莉娅</a:t>
            </a:r>
            <a:r>
              <a:rPr lang="en-US" altLang="zh-CN" sz="800" dirty="0"/>
              <a:t>·</a:t>
            </a:r>
            <a:r>
              <a:rPr lang="zh-CN" altLang="en-US" sz="800" dirty="0"/>
              <a:t>艾格斯（</a:t>
            </a:r>
            <a:r>
              <a:rPr lang="en-GB" sz="800" dirty="0"/>
              <a:t>Aurelia Eggers）</a:t>
            </a:r>
            <a:r>
              <a:rPr lang="zh-CN" altLang="en-US" sz="800" dirty="0"/>
              <a:t>执导，卢恰诺</a:t>
            </a:r>
            <a:r>
              <a:rPr lang="en-US" altLang="zh-CN" sz="800" dirty="0"/>
              <a:t>·</a:t>
            </a:r>
            <a:r>
              <a:rPr lang="zh-CN" altLang="en-US" sz="800" dirty="0"/>
              <a:t>加罗西（</a:t>
            </a:r>
            <a:r>
              <a:rPr lang="en-GB" sz="800" dirty="0"/>
              <a:t>Luciano </a:t>
            </a:r>
            <a:r>
              <a:rPr lang="en-GB" sz="800" dirty="0" err="1"/>
              <a:t>Garosi</a:t>
            </a:r>
            <a:r>
              <a:rPr lang="en-GB" sz="800" dirty="0"/>
              <a:t>）</a:t>
            </a:r>
            <a:r>
              <a:rPr lang="zh-CN" altLang="en-US" sz="800" dirty="0"/>
              <a:t>指挥。</a:t>
            </a:r>
          </a:p>
          <a:p>
            <a:br>
              <a:rPr lang="zh-CN" altLang="en-US" sz="800" dirty="0"/>
            </a:br>
            <a:endParaRPr lang="zh-CN" altLang="en-US" sz="800" dirty="0"/>
          </a:p>
          <a:p>
            <a:r>
              <a:rPr lang="zh-CN" altLang="en-US" sz="800" b="1" dirty="0"/>
              <a:t>问题：</a:t>
            </a:r>
            <a:br>
              <a:rPr lang="zh-CN" altLang="en-US" sz="800" dirty="0"/>
            </a:br>
            <a:r>
              <a:rPr lang="zh-CN" altLang="en-US" sz="800" dirty="0"/>
              <a:t>亨策的</a:t>
            </a:r>
            <a:r>
              <a:rPr lang="en-US" altLang="zh-CN" sz="800" dirty="0"/>
              <a:t>《</a:t>
            </a:r>
            <a:r>
              <a:rPr lang="zh-CN" altLang="en-US" sz="800" dirty="0"/>
              <a:t>小拇指</a:t>
            </a:r>
            <a:r>
              <a:rPr lang="en-US" altLang="zh-CN" sz="800" dirty="0"/>
              <a:t>》</a:t>
            </a:r>
            <a:r>
              <a:rPr lang="zh-CN" altLang="en-US" sz="800" dirty="0"/>
              <a:t>（</a:t>
            </a:r>
            <a:r>
              <a:rPr lang="en-GB" sz="800" i="1" dirty="0"/>
              <a:t>Pollicino</a:t>
            </a:r>
            <a:r>
              <a:rPr lang="en-GB" sz="800" dirty="0"/>
              <a:t>）</a:t>
            </a:r>
            <a:r>
              <a:rPr lang="zh-CN" altLang="en-US" sz="800" dirty="0"/>
              <a:t>在</a:t>
            </a:r>
            <a:r>
              <a:rPr lang="en-US" altLang="zh-CN" sz="800" dirty="0"/>
              <a:t>1976</a:t>
            </a:r>
            <a:r>
              <a:rPr lang="zh-CN" altLang="en-US" sz="800" dirty="0"/>
              <a:t>年的首演，是一项绝对开创性的举动。这部儿童歌剧并不是把现有曲目“改编为适合儿童”的版本，而是直接以儿童为听众和演出主体，用属于他们的叙事方式和音乐语言创作的作品。</a:t>
            </a:r>
            <a:br>
              <a:rPr lang="zh-CN" altLang="en-US" sz="800" dirty="0"/>
            </a:br>
            <a:r>
              <a:rPr lang="zh-CN" altLang="en-US" sz="800" dirty="0"/>
              <a:t>该剧极具参与性</a:t>
            </a:r>
            <a:r>
              <a:rPr lang="en-US" altLang="zh-CN" sz="800" dirty="0"/>
              <a:t>——</a:t>
            </a:r>
            <a:r>
              <a:rPr lang="zh-CN" altLang="en-US" sz="800" dirty="0"/>
              <a:t>孩子们不仅在舞台上演出，也在乐池中演奏。而与此同时，它仍然是一部完全成熟的当代艺术作品，而非教育性质的游戏音乐。</a:t>
            </a:r>
            <a:br>
              <a:rPr lang="zh-CN" altLang="en-US" sz="800" dirty="0"/>
            </a:br>
            <a:r>
              <a:rPr lang="zh-CN" altLang="en-US" sz="800" dirty="0"/>
              <a:t>作为它的继承者，你在创作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时遇到了哪些特别的挑战？</a:t>
            </a:r>
          </a:p>
          <a:p>
            <a:r>
              <a:rPr lang="zh-CN" altLang="en-US" sz="800" b="1" dirty="0"/>
              <a:t>格拉纳特：</a:t>
            </a:r>
            <a:br>
              <a:rPr lang="zh-CN" altLang="en-US" sz="800" dirty="0"/>
            </a:br>
            <a:r>
              <a:rPr lang="zh-CN" altLang="en-US" sz="800" dirty="0"/>
              <a:t>在</a:t>
            </a:r>
            <a:r>
              <a:rPr lang="en-US" altLang="zh-CN" sz="800" dirty="0"/>
              <a:t>《</a:t>
            </a:r>
            <a:r>
              <a:rPr lang="zh-CN" altLang="en-US" sz="800" dirty="0"/>
              <a:t>小拇指</a:t>
            </a:r>
            <a:r>
              <a:rPr lang="en-US" altLang="zh-CN" sz="800" dirty="0"/>
              <a:t>》</a:t>
            </a:r>
            <a:r>
              <a:rPr lang="zh-CN" altLang="en-US" sz="800" dirty="0"/>
              <a:t>之后为蒙特普尔恰诺创作的所有作品，都必须遵循一个原则：</a:t>
            </a:r>
            <a:r>
              <a:rPr lang="zh-CN" altLang="en-US" sz="800" b="1" dirty="0"/>
              <a:t>不能写出那些在有限排练时间内无法完成的作品。</a:t>
            </a:r>
            <a:br>
              <a:rPr lang="zh-CN" altLang="en-US" sz="800" dirty="0"/>
            </a:br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1170787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2">
            <a:extLst>
              <a:ext uri="{FF2B5EF4-FFF2-40B4-BE49-F238E27FC236}">
                <a16:creationId xmlns:a16="http://schemas.microsoft.com/office/drawing/2014/main" id="{68DE011C-B627-354A-50E5-0C1033FC4E5B}"/>
              </a:ext>
            </a:extLst>
          </p:cNvPr>
          <p:cNvSpPr txBox="1"/>
          <p:nvPr/>
        </p:nvSpPr>
        <p:spPr>
          <a:xfrm>
            <a:off x="0" y="0"/>
            <a:ext cx="495389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/>
              <a:t>这听起来似乎理所当然，但根据演出者的水平，即便是一个三八拍的小节，也可能成为大问题。</a:t>
            </a:r>
          </a:p>
          <a:p>
            <a:r>
              <a:rPr lang="zh-CN" altLang="en-US" sz="800" dirty="0"/>
              <a:t>亨策本人常常会直接干预作品</a:t>
            </a:r>
            <a:r>
              <a:rPr lang="en-US" altLang="zh-CN" sz="800" dirty="0"/>
              <a:t>——</a:t>
            </a:r>
            <a:r>
              <a:rPr lang="zh-CN" altLang="en-US" sz="800" dirty="0"/>
              <a:t>或者授权别人干预。这种方式相当“残酷”，有时在准备阶段甚至会引发激烈争论。</a:t>
            </a:r>
            <a:br>
              <a:rPr lang="zh-CN" altLang="en-US" sz="800" dirty="0"/>
            </a:br>
            <a:r>
              <a:rPr lang="zh-CN" altLang="en-US" sz="800" dirty="0"/>
              <a:t>我运气比较好，受到的波及较少，但我也曾帮其他作曲同行“整修”过整部总谱。</a:t>
            </a:r>
          </a:p>
          <a:p>
            <a:r>
              <a:rPr lang="zh-CN" altLang="en-US" sz="800" dirty="0"/>
              <a:t>我对孩子们的能力范围很清楚</a:t>
            </a:r>
            <a:r>
              <a:rPr lang="en-US" altLang="zh-CN" sz="800" dirty="0"/>
              <a:t>——</a:t>
            </a:r>
            <a:r>
              <a:rPr lang="zh-CN" altLang="en-US" sz="800" dirty="0"/>
              <a:t>特别是声乐方面。儿童的音域并不宽，尤其是现代的孩子。他们的声音比一百年前的儿童更低。</a:t>
            </a:r>
            <a:br>
              <a:rPr lang="zh-CN" altLang="en-US" sz="800" dirty="0"/>
            </a:br>
            <a:r>
              <a:rPr lang="zh-CN" altLang="en-US" sz="800" dirty="0"/>
              <a:t>这一点从旧乐谱中就能看出</a:t>
            </a:r>
            <a:r>
              <a:rPr lang="en-US" altLang="zh-CN" sz="800" dirty="0"/>
              <a:t>——</a:t>
            </a:r>
            <a:r>
              <a:rPr lang="zh-CN" altLang="en-US" sz="800" dirty="0"/>
              <a:t>许多儿童声部的教材仍以此为参考。事实上，儿童声带变得更长了</a:t>
            </a:r>
            <a:r>
              <a:rPr lang="en-US" altLang="zh-CN" sz="800" dirty="0"/>
              <a:t>——</a:t>
            </a:r>
            <a:r>
              <a:rPr lang="zh-CN" altLang="en-US" sz="800" dirty="0"/>
              <a:t>这有生理原因，与战后欧洲维生素充足、整体营养改善有关。</a:t>
            </a:r>
          </a:p>
          <a:p>
            <a:r>
              <a:rPr lang="zh-CN" altLang="en-US" sz="800" dirty="0"/>
              <a:t>此外，现代儿童在成长过程中通过媒体接触到更多音乐</a:t>
            </a:r>
            <a:r>
              <a:rPr lang="en-US" altLang="zh-CN" sz="800" dirty="0"/>
              <a:t>——</a:t>
            </a:r>
            <a:r>
              <a:rPr lang="zh-CN" altLang="en-US" sz="800" dirty="0"/>
              <a:t>主要是流行音乐。</a:t>
            </a:r>
            <a:br>
              <a:rPr lang="zh-CN" altLang="en-US" sz="800" dirty="0"/>
            </a:br>
            <a:r>
              <a:rPr lang="zh-CN" altLang="en-US" sz="800" dirty="0"/>
              <a:t>他们在节奏上的感知远比以前强，而早期的孩子则更注重旋律感。</a:t>
            </a:r>
          </a:p>
          <a:p>
            <a:r>
              <a:rPr lang="zh-CN" altLang="en-US" sz="800" dirty="0"/>
              <a:t>当然也存在地区差异。平均而言，意大利孩子的音准极好，但在节奏方面明显不如德国孩子。</a:t>
            </a:r>
          </a:p>
          <a:p>
            <a:br>
              <a:rPr lang="zh-CN" altLang="en-US" sz="800" dirty="0"/>
            </a:br>
            <a:endParaRPr lang="zh-CN" altLang="en-US" sz="800" dirty="0"/>
          </a:p>
          <a:p>
            <a:r>
              <a:rPr lang="zh-CN" altLang="en-US" sz="800" dirty="0"/>
              <a:t>在德国，也有关于“儿童歌剧”或“与儿童合唱”的讨论，尤其是它是否具有过于“肯定性（</a:t>
            </a:r>
            <a:r>
              <a:rPr lang="en-GB" sz="800" dirty="0" err="1"/>
              <a:t>affirmativ</a:t>
            </a:r>
            <a:r>
              <a:rPr lang="en-GB" sz="800" dirty="0"/>
              <a:t>）”</a:t>
            </a:r>
            <a:r>
              <a:rPr lang="zh-CN" altLang="en-US" sz="800" dirty="0"/>
              <a:t>的倾向。</a:t>
            </a:r>
            <a:br>
              <a:rPr lang="zh-CN" altLang="en-US" sz="800" dirty="0"/>
            </a:br>
            <a:r>
              <a:rPr lang="zh-CN" altLang="en-US" sz="800" dirty="0"/>
              <a:t>不过我并不认为“肯定性”本身就是坏事。连作曲都是从“肯定”开始的</a:t>
            </a:r>
            <a:r>
              <a:rPr lang="en-US" altLang="zh-CN" sz="800" dirty="0"/>
              <a:t>——</a:t>
            </a:r>
            <a:r>
              <a:rPr lang="zh-CN" altLang="en-US" sz="800" dirty="0"/>
              <a:t>我们最初是模仿学习，从肯定出发，然后逐渐形成自己独立的音乐语言。</a:t>
            </a:r>
            <a:endParaRPr lang="en-US" altLang="zh-CN" sz="800" dirty="0"/>
          </a:p>
          <a:p>
            <a:endParaRPr lang="en-US" altLang="zh-CN" sz="800" dirty="0"/>
          </a:p>
          <a:p>
            <a:r>
              <a:rPr lang="zh-CN" altLang="en-US" sz="800" b="1" dirty="0"/>
              <a:t>问题：</a:t>
            </a:r>
            <a:br>
              <a:rPr lang="zh-CN" altLang="en-US" sz="800" dirty="0"/>
            </a:br>
            <a:r>
              <a:rPr lang="zh-CN" altLang="en-US" sz="800" dirty="0"/>
              <a:t>你刚才提到“儿童歌剧”中关于“肯定性”的讨论。</a:t>
            </a:r>
            <a:br>
              <a:rPr lang="zh-CN" altLang="en-US" sz="800" dirty="0"/>
            </a:b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这部作品显然既不是说教的，也不是纯娱乐的。</a:t>
            </a:r>
            <a:br>
              <a:rPr lang="zh-CN" altLang="en-US" sz="800" dirty="0"/>
            </a:br>
            <a:r>
              <a:rPr lang="zh-CN" altLang="en-US" sz="800" dirty="0"/>
              <a:t>你在其中如何找到平衡？</a:t>
            </a:r>
          </a:p>
          <a:p>
            <a:r>
              <a:rPr lang="zh-CN" altLang="en-US" sz="800" b="1" dirty="0"/>
              <a:t>德特列夫</a:t>
            </a:r>
            <a:r>
              <a:rPr lang="en-US" altLang="zh-CN" sz="800" b="1" dirty="0"/>
              <a:t>·</a:t>
            </a:r>
            <a:r>
              <a:rPr lang="zh-CN" altLang="en-US" sz="800" b="1" dirty="0"/>
              <a:t>格拉纳特：</a:t>
            </a:r>
            <a:br>
              <a:rPr lang="zh-CN" altLang="en-US" sz="800" dirty="0"/>
            </a:br>
            <a:r>
              <a:rPr lang="zh-CN" altLang="en-US" sz="800" dirty="0"/>
              <a:t>对我来说，关键在于真诚。孩子们非常敏锐</a:t>
            </a:r>
            <a:r>
              <a:rPr lang="en-US" altLang="zh-CN" sz="800" dirty="0"/>
              <a:t>——</a:t>
            </a:r>
            <a:r>
              <a:rPr lang="zh-CN" altLang="en-US" sz="800" dirty="0"/>
              <a:t>他们立刻能察觉出是否有人在“装样子”。</a:t>
            </a:r>
            <a:br>
              <a:rPr lang="zh-CN" altLang="en-US" sz="800" dirty="0"/>
            </a:br>
            <a:r>
              <a:rPr lang="zh-CN" altLang="en-US" sz="800" dirty="0"/>
              <a:t>所以我必须创作出他们能感受到真实的东西。</a:t>
            </a:r>
            <a:br>
              <a:rPr lang="zh-CN" altLang="en-US" sz="800" dirty="0"/>
            </a:b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当然是一个童话故事，但它同时也讲述了两个年轻人</a:t>
            </a:r>
            <a:r>
              <a:rPr lang="en-US" altLang="zh-CN" sz="800" dirty="0"/>
              <a:t>——</a:t>
            </a:r>
            <a:r>
              <a:rPr lang="zh-CN" altLang="en-US" sz="800" dirty="0"/>
              <a:t>拉索和莎拉达</a:t>
            </a:r>
            <a:r>
              <a:rPr lang="en-US" altLang="zh-CN" sz="800" dirty="0"/>
              <a:t>——</a:t>
            </a:r>
            <a:r>
              <a:rPr lang="zh-CN" altLang="en-US" sz="800" dirty="0"/>
              <a:t>如何对抗一个僵化的成人世界。</a:t>
            </a:r>
            <a:br>
              <a:rPr lang="zh-CN" altLang="en-US" sz="800" dirty="0"/>
            </a:br>
            <a:r>
              <a:rPr lang="zh-CN" altLang="en-US" sz="800" dirty="0"/>
              <a:t>他们必须自己找出属于他们那一代的价值观。</a:t>
            </a:r>
            <a:br>
              <a:rPr lang="zh-CN" altLang="en-US" sz="800" dirty="0"/>
            </a:br>
            <a:r>
              <a:rPr lang="zh-CN" altLang="en-US" sz="800" dirty="0"/>
              <a:t>这让我非常感兴趣，因为我也经历过那个阶段</a:t>
            </a:r>
            <a:r>
              <a:rPr lang="en-US" altLang="zh-CN" sz="800" dirty="0"/>
              <a:t>——</a:t>
            </a:r>
            <a:r>
              <a:rPr lang="zh-CN" altLang="en-US" sz="800" dirty="0"/>
              <a:t>从服从到独立的过程。</a:t>
            </a:r>
          </a:p>
          <a:p>
            <a:r>
              <a:rPr lang="zh-CN" altLang="en-US" sz="800" dirty="0"/>
              <a:t>我希望孩子们在音乐中体验到一种真正的复杂性。</a:t>
            </a:r>
            <a:br>
              <a:rPr lang="zh-CN" altLang="en-US" sz="800" dirty="0"/>
            </a:br>
            <a:r>
              <a:rPr lang="zh-CN" altLang="en-US" sz="800" dirty="0"/>
              <a:t>他们能够理解复杂的音乐，只要作品是诚实的。</a:t>
            </a:r>
            <a:br>
              <a:rPr lang="zh-CN" altLang="en-US" sz="800" dirty="0"/>
            </a:br>
            <a:r>
              <a:rPr lang="zh-CN" altLang="en-US" sz="800" dirty="0"/>
              <a:t>孩子们不需要“简化”的音乐，他们需要的是能让他们惊讶的音乐。</a:t>
            </a:r>
            <a:br>
              <a:rPr lang="zh-CN" altLang="en-US" sz="800" dirty="0"/>
            </a:br>
            <a:r>
              <a:rPr lang="zh-CN" altLang="en-US" sz="800" dirty="0"/>
              <a:t>我想让他们听到音乐能够表达的所有情感：愤怒、快乐、混乱、恐惧、幽默。</a:t>
            </a:r>
            <a:br>
              <a:rPr lang="zh-CN" altLang="en-US" sz="800" dirty="0"/>
            </a:br>
            <a:r>
              <a:rPr lang="zh-CN" altLang="en-US" sz="800" dirty="0"/>
              <a:t>我不想告诉他们“音乐是这样的”，而是要让他们感受到“音乐什么都能是”。</a:t>
            </a:r>
          </a:p>
          <a:p>
            <a:br>
              <a:rPr lang="zh-CN" altLang="en-US" sz="800" dirty="0"/>
            </a:br>
            <a:endParaRPr lang="zh-CN" altLang="en-US" sz="800" dirty="0"/>
          </a:p>
          <a:p>
            <a:r>
              <a:rPr lang="zh-CN" altLang="en-US" sz="800" b="1" dirty="0"/>
              <a:t>问题：</a:t>
            </a:r>
            <a:br>
              <a:rPr lang="zh-CN" altLang="en-US" sz="800" dirty="0"/>
            </a:b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的音乐语言跨越了多种风格。</a:t>
            </a:r>
            <a:br>
              <a:rPr lang="zh-CN" altLang="en-US" sz="800" dirty="0"/>
            </a:br>
            <a:r>
              <a:rPr lang="zh-CN" altLang="en-US" sz="800" dirty="0"/>
              <a:t>这是一种有意的美学选择吗？</a:t>
            </a:r>
          </a:p>
          <a:p>
            <a:r>
              <a:rPr lang="zh-CN" altLang="en-US" sz="800" b="1" dirty="0"/>
              <a:t>格拉纳特：</a:t>
            </a:r>
            <a:br>
              <a:rPr lang="zh-CN" altLang="en-US" sz="800" dirty="0"/>
            </a:br>
            <a:r>
              <a:rPr lang="zh-CN" altLang="en-US" sz="800" dirty="0"/>
              <a:t>是的，我希望音乐像人生本身那样多样化。</a:t>
            </a:r>
            <a:br>
              <a:rPr lang="zh-CN" altLang="en-US" sz="800" dirty="0"/>
            </a:br>
            <a:r>
              <a:rPr lang="zh-CN" altLang="en-US" sz="800" dirty="0"/>
              <a:t>这部作品中有传统的咏叹调、戏剧性的合唱，也有爵士的节奏感、现代管弦的音色、甚至滑稽的马戏团段落。</a:t>
            </a:r>
            <a:br>
              <a:rPr lang="zh-CN" altLang="en-US" sz="800" dirty="0"/>
            </a:br>
            <a:r>
              <a:rPr lang="zh-CN" altLang="en-US" sz="800" dirty="0"/>
              <a:t>这种多样性本身就是作品的主题之一。</a:t>
            </a:r>
          </a:p>
          <a:p>
            <a:r>
              <a:rPr lang="zh-CN" altLang="en-US" sz="800" dirty="0"/>
              <a:t>因为这部歌剧的理念与蒙特普尔恰诺的教育理念完全一致：</a:t>
            </a:r>
            <a:br>
              <a:rPr lang="zh-CN" altLang="en-US" sz="800" dirty="0"/>
            </a:br>
            <a:r>
              <a:rPr lang="zh-CN" altLang="en-US" sz="800" dirty="0"/>
              <a:t>所有人</a:t>
            </a:r>
            <a:r>
              <a:rPr lang="en-US" altLang="zh-CN" sz="800" dirty="0"/>
              <a:t>——</a:t>
            </a:r>
            <a:r>
              <a:rPr lang="zh-CN" altLang="en-US" sz="800" dirty="0"/>
              <a:t>无论是职业音乐家、学生还是孩子</a:t>
            </a:r>
            <a:r>
              <a:rPr lang="en-US" altLang="zh-CN" sz="800" dirty="0"/>
              <a:t>——</a:t>
            </a:r>
            <a:r>
              <a:rPr lang="zh-CN" altLang="en-US" sz="800" dirty="0"/>
              <a:t>都能在其中找到属于自己的表达方式。</a:t>
            </a:r>
            <a:br>
              <a:rPr lang="zh-CN" altLang="en-US" sz="800" dirty="0"/>
            </a:br>
            <a:r>
              <a:rPr lang="zh-CN" altLang="en-US" sz="800" dirty="0"/>
              <a:t>音乐本身也必须反映这种“共存”。</a:t>
            </a:r>
            <a:br>
              <a:rPr lang="zh-CN" altLang="en-US" sz="800" dirty="0"/>
            </a:br>
            <a:r>
              <a:rPr lang="zh-CN" altLang="en-US" sz="800" dirty="0"/>
              <a:t>因此，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在音乐上是多声部的、多层次的、多风格的。</a:t>
            </a:r>
          </a:p>
          <a:p>
            <a:r>
              <a:rPr lang="zh-CN" altLang="en-US" sz="800" dirty="0"/>
              <a:t>对我来说，重要的不是让音乐“统一”，而是让它“有机”。</a:t>
            </a:r>
            <a:br>
              <a:rPr lang="zh-CN" altLang="en-US" sz="800" dirty="0"/>
            </a:br>
            <a:r>
              <a:rPr lang="zh-CN" altLang="en-US" sz="800" dirty="0"/>
              <a:t>听起来或许不一样，但内在的逻辑始终清晰。</a:t>
            </a:r>
            <a:br>
              <a:rPr lang="zh-CN" altLang="en-US" sz="800" dirty="0"/>
            </a:br>
            <a:r>
              <a:rPr lang="zh-CN" altLang="en-US" sz="800" dirty="0"/>
              <a:t>我喜欢引用和玩弄不同的风格</a:t>
            </a:r>
            <a:r>
              <a:rPr lang="en-US" altLang="zh-CN" sz="800" dirty="0"/>
              <a:t>——</a:t>
            </a:r>
            <a:r>
              <a:rPr lang="zh-CN" altLang="en-US" sz="800" dirty="0"/>
              <a:t>有时严肃，有时讽刺</a:t>
            </a:r>
            <a:r>
              <a:rPr lang="en-US" altLang="zh-CN" sz="800" dirty="0"/>
              <a:t>——</a:t>
            </a:r>
            <a:r>
              <a:rPr lang="zh-CN" altLang="en-US" sz="800" dirty="0"/>
              <a:t>但总是有目标、有情感的。</a:t>
            </a:r>
          </a:p>
          <a:p>
            <a:br>
              <a:rPr lang="zh-CN" altLang="en-US" sz="800" dirty="0"/>
            </a:br>
            <a:endParaRPr lang="zh-CN" altLang="en-US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C3A211-E8A6-39FC-BCA6-A76CDFA3005B}"/>
              </a:ext>
            </a:extLst>
          </p:cNvPr>
          <p:cNvSpPr txBox="1"/>
          <p:nvPr/>
        </p:nvSpPr>
        <p:spPr>
          <a:xfrm>
            <a:off x="4953000" y="-111928"/>
            <a:ext cx="4953662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800" dirty="0"/>
          </a:p>
          <a:p>
            <a:r>
              <a:rPr lang="zh-CN" altLang="en-US" sz="800" b="1" dirty="0"/>
              <a:t>问题：</a:t>
            </a:r>
            <a:br>
              <a:rPr lang="zh-CN" altLang="en-US" sz="800" dirty="0"/>
            </a:br>
            <a:r>
              <a:rPr lang="zh-CN" altLang="en-US" sz="800" dirty="0"/>
              <a:t>你提到在蒙特普尔恰诺的排练过程中，孩子们与专业音乐家共同演出。</a:t>
            </a:r>
            <a:br>
              <a:rPr lang="zh-CN" altLang="en-US" sz="800" dirty="0"/>
            </a:br>
            <a:r>
              <a:rPr lang="zh-CN" altLang="en-US" sz="800" dirty="0"/>
              <a:t>这种混合编制的理念对作品的结构有什么影响？</a:t>
            </a:r>
          </a:p>
          <a:p>
            <a:r>
              <a:rPr lang="zh-CN" altLang="en-US" sz="800" b="1" dirty="0"/>
              <a:t>格拉纳特：</a:t>
            </a:r>
            <a:br>
              <a:rPr lang="zh-CN" altLang="en-US" sz="800" dirty="0"/>
            </a:br>
            <a:r>
              <a:rPr lang="zh-CN" altLang="en-US" sz="800" dirty="0"/>
              <a:t>影响非常大。</a:t>
            </a:r>
            <a:br>
              <a:rPr lang="zh-CN" altLang="en-US" sz="800" dirty="0"/>
            </a:b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的总谱是模块化的</a:t>
            </a:r>
            <a:r>
              <a:rPr lang="en-US" altLang="zh-CN" sz="800" dirty="0"/>
              <a:t>——</a:t>
            </a:r>
            <a:r>
              <a:rPr lang="zh-CN" altLang="en-US" sz="800" dirty="0"/>
              <a:t>也就是说，它可以根据演出地点和演出者水平调整。</a:t>
            </a:r>
            <a:br>
              <a:rPr lang="zh-CN" altLang="en-US" sz="800" dirty="0"/>
            </a:br>
            <a:r>
              <a:rPr lang="zh-CN" altLang="en-US" sz="800" dirty="0"/>
              <a:t>有的声部非常复杂，只有职业乐手能演奏；</a:t>
            </a:r>
            <a:br>
              <a:rPr lang="zh-CN" altLang="en-US" sz="800" dirty="0"/>
            </a:br>
            <a:r>
              <a:rPr lang="zh-CN" altLang="en-US" sz="800" dirty="0"/>
              <a:t>有的声部则是专门为初学者设计的，比如只使用开放弦或少量把位的弦乐声部。</a:t>
            </a:r>
          </a:p>
          <a:p>
            <a:r>
              <a:rPr lang="zh-CN" altLang="en-US" sz="800" dirty="0"/>
              <a:t>在柏林的演出中，我们的乐团编制比蒙特普尔恰诺更大，甚至专门加了一个大号声部</a:t>
            </a:r>
            <a:r>
              <a:rPr lang="en-US" altLang="zh-CN" sz="800" dirty="0"/>
              <a:t>——</a:t>
            </a:r>
            <a:r>
              <a:rPr lang="zh-CN" altLang="en-US" sz="800" dirty="0"/>
              <a:t>因为有个年轻的大号手非常想参与。</a:t>
            </a:r>
            <a:br>
              <a:rPr lang="zh-CN" altLang="en-US" sz="800" dirty="0"/>
            </a:br>
            <a:r>
              <a:rPr lang="zh-CN" altLang="en-US" sz="800" dirty="0"/>
              <a:t>这就是作品的精神：只要有人愿意参与，就让他有一席之地。</a:t>
            </a:r>
          </a:p>
          <a:p>
            <a:r>
              <a:rPr lang="zh-CN" altLang="en-US" sz="800" dirty="0"/>
              <a:t>我常说：“音乐教育的本质，不在于独奏，而在于合奏。”</a:t>
            </a:r>
            <a:br>
              <a:rPr lang="zh-CN" altLang="en-US" sz="800" dirty="0"/>
            </a:br>
            <a:r>
              <a:rPr lang="zh-CN" altLang="en-US" sz="800" dirty="0"/>
              <a:t>学习音乐并不是为了孤立的完美，而是为了体验合作。</a:t>
            </a:r>
            <a:br>
              <a:rPr lang="zh-CN" altLang="en-US" sz="800" dirty="0"/>
            </a:br>
            <a:r>
              <a:rPr lang="zh-CN" altLang="en-US" sz="800" dirty="0"/>
              <a:t>这是我从亨策那里学到的最重要的东西。</a:t>
            </a:r>
            <a:br>
              <a:rPr lang="zh-CN" altLang="en-US" sz="800" dirty="0"/>
            </a:br>
            <a:endParaRPr lang="zh-CN" altLang="en-US" sz="800" dirty="0"/>
          </a:p>
          <a:p>
            <a:r>
              <a:rPr lang="zh-CN" altLang="en-US" sz="800" b="1" dirty="0"/>
              <a:t>问题：</a:t>
            </a:r>
            <a:br>
              <a:rPr lang="zh-CN" altLang="en-US" sz="800" dirty="0"/>
            </a:br>
            <a:r>
              <a:rPr lang="zh-CN" altLang="en-US" sz="800" dirty="0"/>
              <a:t>在这个意义上，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是否也是对“艺术教育”的一种思考？</a:t>
            </a:r>
          </a:p>
          <a:p>
            <a:r>
              <a:rPr lang="zh-CN" altLang="en-US" sz="800" b="1" dirty="0"/>
              <a:t>格拉纳特：</a:t>
            </a:r>
            <a:br>
              <a:rPr lang="zh-CN" altLang="en-US" sz="800" dirty="0"/>
            </a:br>
            <a:r>
              <a:rPr lang="zh-CN" altLang="en-US" sz="800" dirty="0"/>
              <a:t>完全是。</a:t>
            </a:r>
            <a:br>
              <a:rPr lang="zh-CN" altLang="en-US" sz="800" dirty="0"/>
            </a:br>
            <a:r>
              <a:rPr lang="zh-CN" altLang="en-US" sz="800" dirty="0"/>
              <a:t>艺术教育并不是“传授知识”，而是创造体验。</a:t>
            </a:r>
            <a:br>
              <a:rPr lang="zh-CN" altLang="en-US" sz="800" dirty="0"/>
            </a:br>
            <a:r>
              <a:rPr lang="zh-CN" altLang="en-US" sz="800" dirty="0"/>
              <a:t>孩子必须亲身经历艺术，而不是被告知它是什么。</a:t>
            </a:r>
            <a:br>
              <a:rPr lang="zh-CN" altLang="en-US" sz="800" dirty="0"/>
            </a:br>
            <a:r>
              <a:rPr lang="zh-CN" altLang="en-US" sz="800" dirty="0"/>
              <a:t>他们要自己参与、自己创造、自己犯错、自己发现其中的乐趣。</a:t>
            </a:r>
            <a:br>
              <a:rPr lang="zh-CN" altLang="en-US" sz="800" dirty="0"/>
            </a:b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的创作理念正是如此。</a:t>
            </a:r>
          </a:p>
          <a:p>
            <a:r>
              <a:rPr lang="zh-CN" altLang="en-US" sz="800" dirty="0"/>
              <a:t>孩子们不仅是观众，他们是参与者。</a:t>
            </a:r>
            <a:br>
              <a:rPr lang="zh-CN" altLang="en-US" sz="800" dirty="0"/>
            </a:br>
            <a:r>
              <a:rPr lang="zh-CN" altLang="en-US" sz="800" dirty="0"/>
              <a:t>他们在舞台上唱，在乐池里演奏。</a:t>
            </a:r>
            <a:br>
              <a:rPr lang="zh-CN" altLang="en-US" sz="800" dirty="0"/>
            </a:br>
            <a:r>
              <a:rPr lang="zh-CN" altLang="en-US" sz="800" dirty="0"/>
              <a:t>他们不仅学习技巧，更学习倾听彼此、感受节奏、理解合作。</a:t>
            </a:r>
            <a:br>
              <a:rPr lang="zh-CN" altLang="en-US" sz="800" dirty="0"/>
            </a:br>
            <a:r>
              <a:rPr lang="zh-CN" altLang="en-US" sz="800" dirty="0"/>
              <a:t>这是一种比任何课堂都更深刻的学习。</a:t>
            </a:r>
            <a:br>
              <a:rPr lang="zh-CN" altLang="en-US" sz="800" dirty="0"/>
            </a:br>
            <a:endParaRPr lang="zh-CN" altLang="en-US" sz="800" dirty="0"/>
          </a:p>
          <a:p>
            <a:r>
              <a:rPr lang="zh-CN" altLang="en-US" sz="800" b="1" dirty="0"/>
              <a:t>问题：</a:t>
            </a:r>
            <a:br>
              <a:rPr lang="zh-CN" altLang="en-US" sz="800" dirty="0"/>
            </a:br>
            <a:r>
              <a:rPr lang="zh-CN" altLang="en-US" sz="800" dirty="0"/>
              <a:t>最后一个问题</a:t>
            </a:r>
            <a:r>
              <a:rPr lang="en-US" altLang="zh-CN" sz="800" dirty="0"/>
              <a:t>——</a:t>
            </a:r>
            <a:r>
              <a:rPr lang="zh-CN" altLang="en-US" sz="800" dirty="0"/>
              <a:t>你常被称为歌剧作曲家中“最具戏剧性意识”的一位。</a:t>
            </a:r>
            <a:br>
              <a:rPr lang="zh-CN" altLang="en-US" sz="800" dirty="0"/>
            </a:br>
            <a:r>
              <a:rPr lang="zh-CN" altLang="en-US" sz="800" dirty="0"/>
              <a:t>在你看来，音乐剧场的魅力在哪里？</a:t>
            </a:r>
          </a:p>
          <a:p>
            <a:r>
              <a:rPr lang="zh-CN" altLang="en-US" sz="800" b="1" dirty="0"/>
              <a:t>格拉纳特：</a:t>
            </a:r>
            <a:br>
              <a:rPr lang="zh-CN" altLang="en-US" sz="800" dirty="0"/>
            </a:br>
            <a:r>
              <a:rPr lang="zh-CN" altLang="en-US" sz="800" dirty="0"/>
              <a:t>在于它能同时容纳一切</a:t>
            </a:r>
            <a:r>
              <a:rPr lang="en-US" altLang="zh-CN" sz="800" dirty="0"/>
              <a:t>——</a:t>
            </a:r>
            <a:r>
              <a:rPr lang="zh-CN" altLang="en-US" sz="800" dirty="0"/>
              <a:t>文字、声音、身体、情感、思想。</a:t>
            </a:r>
            <a:br>
              <a:rPr lang="zh-CN" altLang="en-US" sz="800" dirty="0"/>
            </a:br>
            <a:r>
              <a:rPr lang="zh-CN" altLang="en-US" sz="800" dirty="0"/>
              <a:t>歌剧是最复杂、也是最完整的艺术形式。</a:t>
            </a:r>
            <a:br>
              <a:rPr lang="zh-CN" altLang="en-US" sz="800" dirty="0"/>
            </a:br>
            <a:r>
              <a:rPr lang="zh-CN" altLang="en-US" sz="800" dirty="0"/>
              <a:t>我喜欢这种复杂性。</a:t>
            </a:r>
          </a:p>
          <a:p>
            <a:r>
              <a:rPr lang="zh-CN" altLang="en-US" sz="800" dirty="0"/>
              <a:t>当音乐与戏剧、与人的存在交织在一起时，就会产生无法言喻的能量。</a:t>
            </a:r>
            <a:br>
              <a:rPr lang="zh-CN" altLang="en-US" sz="800" dirty="0"/>
            </a:br>
            <a:r>
              <a:rPr lang="zh-CN" altLang="en-US" sz="800" dirty="0"/>
              <a:t>这正是我一直追求的</a:t>
            </a:r>
            <a:r>
              <a:rPr lang="en-US" altLang="zh-CN" sz="800" dirty="0"/>
              <a:t>——</a:t>
            </a:r>
            <a:r>
              <a:rPr lang="zh-CN" altLang="en-US" sz="800" dirty="0"/>
              <a:t>无论是为成人还是为孩子创作。</a:t>
            </a:r>
          </a:p>
          <a:p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是一部给所有人的歌剧。</a:t>
            </a:r>
            <a:br>
              <a:rPr lang="zh-CN" altLang="en-US" sz="800" dirty="0"/>
            </a:br>
            <a:r>
              <a:rPr lang="zh-CN" altLang="en-US" sz="800" dirty="0"/>
              <a:t>它提醒我们：每个人都在寻找自己的答案，而生活本身，就是一连串的谜语。</a:t>
            </a:r>
            <a:endParaRPr lang="en-US" altLang="zh-CN" sz="800" dirty="0"/>
          </a:p>
          <a:p>
            <a:endParaRPr lang="en-US" altLang="zh-CN" sz="800" dirty="0"/>
          </a:p>
          <a:p>
            <a:pPr>
              <a:buNone/>
            </a:pPr>
            <a:r>
              <a:rPr lang="zh-CN" altLang="en-US" sz="800" b="1" dirty="0"/>
              <a:t>回到</a:t>
            </a:r>
            <a:r>
              <a:rPr lang="en-US" altLang="zh-CN" sz="800" b="1" dirty="0"/>
              <a:t>《</a:t>
            </a:r>
            <a:r>
              <a:rPr lang="zh-CN" altLang="en-US" sz="800" b="1" dirty="0"/>
              <a:t>三个谜语</a:t>
            </a:r>
            <a:r>
              <a:rPr lang="en-US" altLang="zh-CN" sz="800" b="1" dirty="0"/>
              <a:t>》</a:t>
            </a:r>
          </a:p>
          <a:p>
            <a:pPr>
              <a:buNone/>
            </a:pPr>
            <a:r>
              <a:rPr lang="zh-CN" altLang="en-US" sz="800" b="1" dirty="0"/>
              <a:t>问：</a:t>
            </a:r>
            <a:br>
              <a:rPr lang="zh-CN" altLang="en-US" sz="800" dirty="0"/>
            </a:br>
            <a:r>
              <a:rPr lang="zh-CN" altLang="en-US" sz="800" dirty="0"/>
              <a:t>在</a:t>
            </a:r>
            <a:r>
              <a:rPr lang="en-US" altLang="zh-CN" sz="800" dirty="0"/>
              <a:t>《</a:t>
            </a:r>
            <a:r>
              <a:rPr lang="zh-CN" altLang="en-US" sz="800" dirty="0"/>
              <a:t>小拇指</a:t>
            </a:r>
            <a:r>
              <a:rPr lang="en-US" altLang="zh-CN" sz="800" dirty="0"/>
              <a:t>》</a:t>
            </a:r>
            <a:r>
              <a:rPr lang="zh-CN" altLang="en-US" sz="800" dirty="0"/>
              <a:t>（</a:t>
            </a:r>
            <a:r>
              <a:rPr lang="en-GB" sz="800" i="1" dirty="0"/>
              <a:t>Pollicino</a:t>
            </a:r>
            <a:r>
              <a:rPr lang="en-GB" sz="800" dirty="0"/>
              <a:t>）</a:t>
            </a:r>
            <a:r>
              <a:rPr lang="zh-CN" altLang="en-US" sz="800" dirty="0"/>
              <a:t>之后，有一些作品延续了它的模式。后来你被邀请为“国际艺术工坊”（</a:t>
            </a:r>
            <a:r>
              <a:rPr lang="en-GB" sz="800" dirty="0" err="1"/>
              <a:t>Cantiere</a:t>
            </a:r>
            <a:r>
              <a:rPr lang="en-GB" sz="800" dirty="0"/>
              <a:t> </a:t>
            </a:r>
            <a:r>
              <a:rPr lang="en-GB" sz="800" dirty="0" err="1"/>
              <a:t>d’Arte</a:t>
            </a:r>
            <a:r>
              <a:rPr lang="en-GB" sz="800" dirty="0"/>
              <a:t>）</a:t>
            </a:r>
            <a:r>
              <a:rPr lang="zh-CN" altLang="en-US" sz="800" dirty="0"/>
              <a:t>以及共同制作方哈雷歌剧院（</a:t>
            </a:r>
            <a:r>
              <a:rPr lang="en-GB" sz="800" dirty="0"/>
              <a:t>Oper Halle）</a:t>
            </a:r>
            <a:r>
              <a:rPr lang="zh-CN" altLang="en-US" sz="800" dirty="0"/>
              <a:t>创作一部新作。作品的诞生过程是如何展开的？</a:t>
            </a:r>
          </a:p>
          <a:p>
            <a:pPr>
              <a:buNone/>
            </a:pPr>
            <a:r>
              <a:rPr lang="zh-CN" altLang="en-US" sz="800" b="1" dirty="0"/>
              <a:t>格拉纳特：</a:t>
            </a:r>
            <a:br>
              <a:rPr lang="zh-CN" altLang="en-US" sz="800" dirty="0"/>
            </a:br>
            <a:r>
              <a:rPr lang="zh-CN" altLang="en-US" sz="800" dirty="0"/>
              <a:t>一开始最困难的，其实是寻找合适的题材。</a:t>
            </a:r>
            <a:br>
              <a:rPr lang="zh-CN" altLang="en-US" sz="800" dirty="0"/>
            </a:br>
            <a:r>
              <a:rPr lang="zh-CN" altLang="en-US" sz="800" dirty="0"/>
              <a:t>我与剧作家卡洛</a:t>
            </a:r>
            <a:r>
              <a:rPr lang="en-US" altLang="zh-CN" sz="800" dirty="0"/>
              <a:t>·</a:t>
            </a:r>
            <a:r>
              <a:rPr lang="zh-CN" altLang="en-US" sz="800" dirty="0"/>
              <a:t>帕斯奎尼（</a:t>
            </a:r>
            <a:r>
              <a:rPr lang="en-GB" sz="800" dirty="0"/>
              <a:t>Carlo Pasquini）</a:t>
            </a:r>
            <a:r>
              <a:rPr lang="zh-CN" altLang="en-US" sz="800" dirty="0"/>
              <a:t>一起寻找一个既能吸引不同年龄层孩子，又能跨越国界、适用于不同文化的故事。后来帕斯奎尼找到了一本</a:t>
            </a:r>
            <a:r>
              <a:rPr lang="en-US" altLang="zh-CN" sz="800" dirty="0"/>
              <a:t>12</a:t>
            </a:r>
            <a:r>
              <a:rPr lang="zh-CN" altLang="en-US" sz="800" dirty="0"/>
              <a:t>世纪的意大利童话集，其中就包含了“三个谜语”的故事。其实，这就是“图兰朵”的题材。</a:t>
            </a:r>
            <a:br>
              <a:rPr lang="zh-CN" altLang="en-US" sz="800" dirty="0"/>
            </a:br>
            <a:r>
              <a:rPr lang="zh-CN" altLang="en-US" sz="800" dirty="0"/>
              <a:t>而且这个故事几乎存在于所有欧洲文化中：有荷兰</a:t>
            </a:r>
            <a:r>
              <a:rPr lang="en-US" altLang="zh-CN" sz="800" dirty="0"/>
              <a:t>/</a:t>
            </a:r>
            <a:r>
              <a:rPr lang="zh-CN" altLang="en-US" sz="800" dirty="0"/>
              <a:t>布拉班特的版本、英国的版本、法国的版本、意大利的版本</a:t>
            </a:r>
            <a:r>
              <a:rPr lang="en-US" altLang="zh-CN" sz="800" dirty="0"/>
              <a:t>——</a:t>
            </a:r>
            <a:r>
              <a:rPr lang="zh-CN" altLang="en-US" sz="800" dirty="0"/>
              <a:t>在德国，例如格林童话中，也能找到它的变体。</a:t>
            </a:r>
          </a:p>
          <a:p>
            <a:pPr>
              <a:buNone/>
            </a:pPr>
            <a:r>
              <a:rPr lang="zh-CN" altLang="en-US" sz="800" dirty="0"/>
              <a:t>有趣的是，这些版本中的主角往往是孩子，而主题总是“成长”。</a:t>
            </a:r>
            <a:br>
              <a:rPr lang="zh-CN" altLang="en-US" sz="800" dirty="0"/>
            </a:br>
            <a:r>
              <a:rPr lang="zh-CN" altLang="en-US" sz="800" dirty="0"/>
              <a:t>这是一个青春期的神话。我们希望用当代的方式重新讲述它</a:t>
            </a:r>
            <a:r>
              <a:rPr lang="en-US" altLang="zh-CN" sz="800" dirty="0"/>
              <a:t>——</a:t>
            </a:r>
            <a:r>
              <a:rPr lang="zh-CN" altLang="en-US" sz="800" dirty="0"/>
              <a:t>用舞台语言表达，但同时以现代、当下的语感呈现。</a:t>
            </a:r>
          </a:p>
          <a:p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744690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0B2B03-47E1-AD4A-2861-3E740D1307EB}"/>
              </a:ext>
            </a:extLst>
          </p:cNvPr>
          <p:cNvSpPr txBox="1"/>
          <p:nvPr/>
        </p:nvSpPr>
        <p:spPr>
          <a:xfrm>
            <a:off x="-662" y="58846"/>
            <a:ext cx="495366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800" b="1" dirty="0"/>
              <a:t>问：</a:t>
            </a:r>
            <a:br>
              <a:rPr lang="zh-CN" altLang="en-US" sz="800" dirty="0"/>
            </a:br>
            <a:r>
              <a:rPr lang="zh-CN" altLang="en-US" sz="800" dirty="0"/>
              <a:t>而且这门语言还必须能被谱成音乐、能被唱出来</a:t>
            </a:r>
            <a:r>
              <a:rPr lang="en-US" altLang="zh-CN" sz="800" dirty="0"/>
              <a:t>……</a:t>
            </a:r>
          </a:p>
          <a:p>
            <a:pPr>
              <a:buNone/>
            </a:pPr>
            <a:r>
              <a:rPr lang="zh-CN" altLang="en-US" sz="800" b="1" dirty="0"/>
              <a:t>格拉纳特：</a:t>
            </a:r>
            <a:br>
              <a:rPr lang="zh-CN" altLang="en-US" sz="800" dirty="0"/>
            </a:br>
            <a:r>
              <a:rPr lang="zh-CN" altLang="en-US" sz="800" dirty="0"/>
              <a:t>是的。普契尼有句名言，是关于写歌剧脚本的“铁律”：</a:t>
            </a:r>
          </a:p>
          <a:p>
            <a:pPr>
              <a:buNone/>
            </a:pPr>
            <a:r>
              <a:rPr lang="zh-CN" altLang="en-US" sz="800" dirty="0"/>
              <a:t>“一句不超过七个词，一个词不超过三个音节。”</a:t>
            </a:r>
          </a:p>
          <a:p>
            <a:pPr>
              <a:buNone/>
            </a:pPr>
            <a:r>
              <a:rPr lang="zh-CN" altLang="en-US" sz="800" dirty="0"/>
              <a:t>如果能遵守这个规则，就能写出一份非常好的歌剧文本。</a:t>
            </a:r>
          </a:p>
          <a:p>
            <a:pPr>
              <a:buNone/>
            </a:pPr>
            <a:r>
              <a:rPr lang="zh-CN" altLang="en-US" sz="800" dirty="0"/>
              <a:t>我们很快决定采用“三个谜语”的题材，并把它写成“分场歌剧”（</a:t>
            </a:r>
            <a:r>
              <a:rPr lang="en-GB" sz="800" dirty="0" err="1"/>
              <a:t>Nummernoper</a:t>
            </a:r>
            <a:r>
              <a:rPr lang="en-GB" sz="800" dirty="0"/>
              <a:t>）——</a:t>
            </a:r>
            <a:br>
              <a:rPr lang="en-GB" sz="800" dirty="0"/>
            </a:br>
            <a:r>
              <a:rPr lang="zh-CN" altLang="en-US" sz="800" dirty="0"/>
              <a:t>也就是说，用一首首独立的音乐片段组成，每段之间由简短的对白连接。</a:t>
            </a:r>
            <a:br>
              <a:rPr lang="zh-CN" altLang="en-US" sz="800" dirty="0"/>
            </a:br>
            <a:r>
              <a:rPr lang="zh-CN" altLang="en-US" sz="800" dirty="0"/>
              <a:t>这样一来，既有清晰的结构，也能让孩子们在演出中得到喘息的机会。</a:t>
            </a:r>
          </a:p>
          <a:p>
            <a:pPr>
              <a:buNone/>
            </a:pPr>
            <a:r>
              <a:rPr lang="zh-CN" altLang="en-US" sz="800" dirty="0"/>
              <a:t>这在策划阶段就是一个关键点</a:t>
            </a:r>
            <a:r>
              <a:rPr lang="en-US" altLang="zh-CN" sz="800" dirty="0"/>
              <a:t>——</a:t>
            </a:r>
            <a:r>
              <a:rPr lang="zh-CN" altLang="en-US" sz="800" dirty="0"/>
              <a:t>必须确保每个角色既不过于吃重，也不过于轻松。</a:t>
            </a:r>
            <a:br>
              <a:rPr lang="zh-CN" altLang="en-US" sz="800" dirty="0"/>
            </a:br>
            <a:r>
              <a:rPr lang="zh-CN" altLang="en-US" sz="800" dirty="0"/>
              <a:t>例如拉索几乎在每一场都有戏，如果不调整，他会唱得太多，而莎拉达的戏份则显得单薄。</a:t>
            </a:r>
            <a:br>
              <a:rPr lang="zh-CN" altLang="en-US" sz="800" dirty="0"/>
            </a:br>
            <a:r>
              <a:rPr lang="zh-CN" altLang="en-US" sz="800" dirty="0"/>
              <a:t>因此，我们让她比原始童话更早登场。</a:t>
            </a:r>
          </a:p>
          <a:p>
            <a:pPr>
              <a:buNone/>
            </a:pPr>
            <a:endParaRPr lang="zh-CN" altLang="en-US" sz="800" dirty="0"/>
          </a:p>
          <a:p>
            <a:pPr>
              <a:buNone/>
            </a:pPr>
            <a:r>
              <a:rPr lang="zh-CN" altLang="en-US" sz="800" b="1" dirty="0"/>
              <a:t>问：</a:t>
            </a:r>
            <a:br>
              <a:rPr lang="zh-CN" altLang="en-US" sz="800" dirty="0"/>
            </a:br>
            <a:r>
              <a:rPr lang="zh-CN" altLang="en-US" sz="800" dirty="0"/>
              <a:t>故事中的“试炼”在第二场似乎很快就被处理完了</a:t>
            </a:r>
            <a:r>
              <a:rPr lang="en-US" altLang="zh-CN" sz="800" dirty="0"/>
              <a:t>——</a:t>
            </a:r>
            <a:r>
              <a:rPr lang="zh-CN" altLang="en-US" sz="800" dirty="0"/>
              <a:t>比如野猪、强盗和绞刑鸟的相遇；相反，宫殿里的情节却很长。</a:t>
            </a:r>
          </a:p>
          <a:p>
            <a:pPr>
              <a:buNone/>
            </a:pPr>
            <a:r>
              <a:rPr lang="zh-CN" altLang="en-US" sz="800" b="1" dirty="0"/>
              <a:t>格拉纳特：</a:t>
            </a:r>
            <a:br>
              <a:rPr lang="zh-CN" altLang="en-US" sz="800" dirty="0"/>
            </a:br>
            <a:r>
              <a:rPr lang="zh-CN" altLang="en-US" sz="800" dirty="0"/>
              <a:t>是的，我们刻意调整了结构，让莎拉达尽早出现，并且在拉索给她“额外解谜时间”的情节处，设置一个自然的中场休息点。</a:t>
            </a:r>
            <a:br>
              <a:rPr lang="zh-CN" altLang="en-US" sz="800" dirty="0"/>
            </a:br>
            <a:r>
              <a:rPr lang="zh-CN" altLang="en-US" sz="800" dirty="0"/>
              <a:t>森林那场戏则成为谜语的起源。而剧中的两位大臣</a:t>
            </a:r>
            <a:r>
              <a:rPr lang="en-US" altLang="zh-CN" sz="800" dirty="0"/>
              <a:t>——</a:t>
            </a:r>
            <a:r>
              <a:rPr lang="zh-CN" altLang="en-US" sz="800" dirty="0"/>
              <a:t>塔塔罗斯（</a:t>
            </a:r>
            <a:r>
              <a:rPr lang="en-GB" sz="800" dirty="0"/>
              <a:t>Tartarus）</a:t>
            </a:r>
            <a:r>
              <a:rPr lang="zh-CN" altLang="en-US" sz="800" dirty="0"/>
              <a:t>与阿韦尔努斯（</a:t>
            </a:r>
            <a:r>
              <a:rPr lang="en-GB" sz="800" dirty="0"/>
              <a:t>Avernus）——</a:t>
            </a:r>
            <a:r>
              <a:rPr lang="zh-CN" altLang="en-US" sz="800" dirty="0"/>
              <a:t>其实是帕斯奎尼的原创角色，原童话里没有他们。</a:t>
            </a:r>
          </a:p>
          <a:p>
            <a:pPr>
              <a:buNone/>
            </a:pPr>
            <a:r>
              <a:rPr lang="zh-CN" altLang="en-US" sz="800" dirty="0"/>
              <a:t>他加入这两个人物，是为了在紧张、阴暗的氛围中增添莎士比亚式的喜剧角色，同时也让拉索在戏份上稍作休息。</a:t>
            </a:r>
          </a:p>
          <a:p>
            <a:pPr>
              <a:buNone/>
            </a:pPr>
            <a:endParaRPr lang="zh-CN" altLang="en-US" sz="800" dirty="0"/>
          </a:p>
          <a:p>
            <a:pPr>
              <a:buNone/>
            </a:pPr>
            <a:r>
              <a:rPr lang="zh-CN" altLang="en-US" sz="800" b="1" dirty="0"/>
              <a:t>问：</a:t>
            </a:r>
            <a:br>
              <a:rPr lang="zh-CN" altLang="en-US" sz="800" dirty="0"/>
            </a:br>
            <a:r>
              <a:rPr lang="zh-CN" altLang="en-US" sz="800" dirty="0"/>
              <a:t>你的其他歌剧，如</a:t>
            </a:r>
            <a:r>
              <a:rPr lang="en-US" altLang="zh-CN" sz="800" dirty="0"/>
              <a:t>《</a:t>
            </a:r>
            <a:r>
              <a:rPr lang="zh-CN" altLang="en-US" sz="800" dirty="0"/>
              <a:t>托莱多的犹太女子</a:t>
            </a:r>
            <a:r>
              <a:rPr lang="en-US" altLang="zh-CN" sz="800" dirty="0"/>
              <a:t>》</a:t>
            </a:r>
            <a:r>
              <a:rPr lang="zh-CN" altLang="en-US" sz="800" dirty="0"/>
              <a:t>（</a:t>
            </a:r>
            <a:r>
              <a:rPr lang="en-GB" sz="800" i="1" dirty="0"/>
              <a:t>Die </a:t>
            </a:r>
            <a:r>
              <a:rPr lang="en-GB" sz="800" i="1" dirty="0" err="1"/>
              <a:t>Jüdin</a:t>
            </a:r>
            <a:r>
              <a:rPr lang="en-GB" sz="800" i="1" dirty="0"/>
              <a:t> von Toledo</a:t>
            </a:r>
            <a:r>
              <a:rPr lang="en-GB" sz="800" dirty="0"/>
              <a:t>，2024</a:t>
            </a:r>
            <a:r>
              <a:rPr lang="zh-CN" altLang="en-US" sz="800" dirty="0"/>
              <a:t>年德累斯顿森佩歌剧院首演）和</a:t>
            </a:r>
            <a:r>
              <a:rPr lang="en-US" altLang="zh-CN" sz="800" dirty="0"/>
              <a:t>《</a:t>
            </a:r>
            <a:r>
              <a:rPr lang="zh-CN" altLang="en-US" sz="800" dirty="0"/>
              <a:t>欧姬安娜</a:t>
            </a:r>
            <a:r>
              <a:rPr lang="en-US" altLang="zh-CN" sz="800" dirty="0"/>
              <a:t>》</a:t>
            </a:r>
            <a:r>
              <a:rPr lang="zh-CN" altLang="en-US" sz="800" dirty="0"/>
              <a:t>（</a:t>
            </a:r>
            <a:r>
              <a:rPr lang="en-GB" sz="800" i="1" dirty="0"/>
              <a:t>Oceane</a:t>
            </a:r>
            <a:r>
              <a:rPr lang="en-GB" sz="800" dirty="0"/>
              <a:t>，2019</a:t>
            </a:r>
            <a:r>
              <a:rPr lang="zh-CN" altLang="en-US" sz="800" dirty="0"/>
              <a:t>年柏林德意志歌剧院首演），都是大型、全贯穿式的音乐剧场作品。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是你第一次写“分场歌剧”吗？</a:t>
            </a:r>
          </a:p>
          <a:p>
            <a:pPr>
              <a:buNone/>
            </a:pPr>
            <a:r>
              <a:rPr lang="zh-CN" altLang="en-US" sz="800" b="1" dirty="0"/>
              <a:t>格拉纳特：</a:t>
            </a:r>
            <a:br>
              <a:rPr lang="zh-CN" altLang="en-US" sz="800" dirty="0"/>
            </a:br>
            <a:r>
              <a:rPr lang="zh-CN" altLang="en-US" sz="800" dirty="0"/>
              <a:t>基本上是。除了学生时代一些练习外，我之前几乎没写过这种形式。</a:t>
            </a:r>
            <a:br>
              <a:rPr lang="zh-CN" altLang="en-US" sz="800" dirty="0"/>
            </a:br>
            <a:r>
              <a:rPr lang="zh-CN" altLang="en-US" sz="800" dirty="0"/>
              <a:t>也许唯一能算接近的是</a:t>
            </a:r>
            <a:r>
              <a:rPr lang="en-US" altLang="zh-CN" sz="800" dirty="0"/>
              <a:t>《</a:t>
            </a:r>
            <a:r>
              <a:rPr lang="zh-CN" altLang="en-US" sz="800" dirty="0"/>
              <a:t>尼金斯基的日记</a:t>
            </a:r>
            <a:r>
              <a:rPr lang="en-US" altLang="zh-CN" sz="800" dirty="0"/>
              <a:t>》</a:t>
            </a:r>
            <a:r>
              <a:rPr lang="zh-CN" altLang="en-US" sz="800" dirty="0"/>
              <a:t>（</a:t>
            </a:r>
            <a:r>
              <a:rPr lang="en-GB" sz="800" i="1" dirty="0" err="1"/>
              <a:t>Nijinskys</a:t>
            </a:r>
            <a:r>
              <a:rPr lang="en-GB" sz="800" i="1" dirty="0"/>
              <a:t> Tagebuch</a:t>
            </a:r>
            <a:r>
              <a:rPr lang="en-GB" sz="800" dirty="0"/>
              <a:t>，2008</a:t>
            </a:r>
            <a:r>
              <a:rPr lang="zh-CN" altLang="en-US" sz="800" dirty="0"/>
              <a:t>年在亚琛首演），但那是一个混合体：两位歌唱家、两位舞者、两位演员</a:t>
            </a:r>
            <a:r>
              <a:rPr lang="en-US" altLang="zh-CN" sz="800" dirty="0"/>
              <a:t>——</a:t>
            </a:r>
            <a:r>
              <a:rPr lang="zh-CN" altLang="en-US" sz="800" dirty="0"/>
              <a:t>三对男女，六人都扮演尼金斯基。</a:t>
            </a:r>
          </a:p>
          <a:p>
            <a:pPr>
              <a:buNone/>
            </a:pPr>
            <a:r>
              <a:rPr lang="zh-CN" altLang="en-US" sz="800" dirty="0"/>
              <a:t>而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是一部真正意义上的“分场歌剧”。</a:t>
            </a:r>
            <a:br>
              <a:rPr lang="zh-CN" altLang="en-US" sz="800" dirty="0"/>
            </a:br>
            <a:r>
              <a:rPr lang="zh-CN" altLang="en-US" sz="800" dirty="0"/>
              <a:t>它包含合唱段、咏叹调、二重唱，还有第一幕结尾的一首大型赋格（</a:t>
            </a:r>
            <a:r>
              <a:rPr lang="en-GB" sz="800" dirty="0"/>
              <a:t>Fuge）。</a:t>
            </a:r>
            <a:br>
              <a:rPr lang="en-GB" sz="800" dirty="0"/>
            </a:br>
            <a:r>
              <a:rPr lang="zh-CN" altLang="en-US" sz="800" dirty="0"/>
              <a:t>在结尾处，我们甚至刻意让“分场”的形式逐渐消融</a:t>
            </a:r>
            <a:r>
              <a:rPr lang="en-US" altLang="zh-CN" sz="800" dirty="0"/>
              <a:t>——</a:t>
            </a:r>
            <a:r>
              <a:rPr lang="zh-CN" altLang="en-US" sz="800" dirty="0"/>
              <a:t>因为从经验看，在轻歌剧结尾处频繁插入对白往往让人心烦，人会渴望一种音乐上的“流动感”直至结束。</a:t>
            </a:r>
            <a:br>
              <a:rPr lang="zh-CN" altLang="en-US" sz="800" dirty="0"/>
            </a:br>
            <a:r>
              <a:rPr lang="zh-CN" altLang="en-US" sz="800" dirty="0"/>
              <a:t>因此，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最后二十分钟是全贯穿写成的。</a:t>
            </a:r>
          </a:p>
          <a:p>
            <a:pPr>
              <a:buNone/>
            </a:pPr>
            <a:r>
              <a:rPr lang="zh-CN" altLang="en-US" sz="800" dirty="0"/>
              <a:t>此外，剧中还包括宣叙调（</a:t>
            </a:r>
            <a:r>
              <a:rPr lang="en-GB" sz="800" dirty="0" err="1"/>
              <a:t>Rezitativ</a:t>
            </a:r>
            <a:r>
              <a:rPr lang="en-GB" sz="800" dirty="0"/>
              <a:t>）、</a:t>
            </a:r>
            <a:r>
              <a:rPr lang="zh-CN" altLang="en-US" sz="800" dirty="0"/>
              <a:t>伴奏宣叙调（</a:t>
            </a:r>
            <a:r>
              <a:rPr lang="en-GB" sz="800" dirty="0"/>
              <a:t>Accompagnato）</a:t>
            </a:r>
            <a:r>
              <a:rPr lang="zh-CN" altLang="en-US" sz="800" dirty="0"/>
              <a:t>以及朗诵与歌唱之间的混合形式（</a:t>
            </a:r>
            <a:r>
              <a:rPr lang="en-GB" sz="800" dirty="0" err="1"/>
              <a:t>Melodram</a:t>
            </a:r>
            <a:r>
              <a:rPr lang="en-GB" sz="800" dirty="0"/>
              <a:t>）。</a:t>
            </a:r>
            <a:r>
              <a:rPr lang="zh-CN" altLang="en-US" sz="800" dirty="0"/>
              <a:t>这些过渡是我最感兴趣的部分。</a:t>
            </a:r>
            <a:br>
              <a:rPr lang="zh-CN" altLang="en-US" sz="800" dirty="0"/>
            </a:br>
            <a:r>
              <a:rPr lang="zh-CN" altLang="en-US" sz="800" dirty="0"/>
              <a:t>总体上，我们对白的使用非常节制，从不超过一页纸。</a:t>
            </a:r>
            <a:br>
              <a:rPr lang="zh-CN" altLang="en-US" sz="800" dirty="0"/>
            </a:br>
            <a:r>
              <a:rPr lang="zh-CN" altLang="en-US" sz="800" dirty="0"/>
              <a:t>它们的作用只是创造短暂停顿、翻页、衔接两个音乐段落或为下一首提供动机。</a:t>
            </a:r>
            <a:br>
              <a:rPr lang="zh-CN" altLang="en-US" sz="800" dirty="0"/>
            </a:br>
            <a:endParaRPr lang="zh-CN" altLang="en-US" sz="800" dirty="0"/>
          </a:p>
          <a:p>
            <a:pPr>
              <a:buNone/>
            </a:pPr>
            <a:r>
              <a:rPr lang="zh-CN" altLang="en-US" sz="800" b="1" dirty="0"/>
              <a:t>问：</a:t>
            </a:r>
            <a:br>
              <a:rPr lang="zh-CN" altLang="en-US" sz="800" dirty="0"/>
            </a:br>
            <a:r>
              <a:rPr lang="zh-CN" altLang="en-US" sz="800" dirty="0"/>
              <a:t>你是如何应对乐团中演奏者水平参差不齐的挑战的？</a:t>
            </a:r>
          </a:p>
          <a:p>
            <a:pPr>
              <a:buNone/>
            </a:pPr>
            <a:r>
              <a:rPr lang="zh-CN" altLang="en-US" sz="800" b="1" dirty="0"/>
              <a:t>格拉纳特：</a:t>
            </a:r>
            <a:br>
              <a:rPr lang="zh-CN" altLang="en-US" sz="800" dirty="0"/>
            </a:br>
            <a:r>
              <a:rPr lang="zh-CN" altLang="en-US" sz="800" dirty="0"/>
              <a:t>以蒙特普尔恰诺的排练为例，小提琴手的水平差距很大。</a:t>
            </a:r>
            <a:br>
              <a:rPr lang="zh-CN" altLang="en-US" sz="800" dirty="0"/>
            </a:br>
            <a:r>
              <a:rPr lang="zh-CN" altLang="en-US" sz="800" dirty="0"/>
              <a:t>于是我们将他们分为三组：首席是职业演奏家，第三小提琴组则全部限定只在第一把位演奏，并使用空弦。</a:t>
            </a:r>
            <a:br>
              <a:rPr lang="zh-CN" altLang="en-US" sz="800" dirty="0"/>
            </a:br>
            <a:r>
              <a:rPr lang="zh-CN" altLang="en-US" sz="800" dirty="0"/>
              <a:t>通过巧妙分配难度、在配器上精心安排，就能让观众完全听不出其中有孩子只会第一把位。</a:t>
            </a:r>
            <a:br>
              <a:rPr lang="zh-CN" altLang="en-US" sz="800" dirty="0"/>
            </a:br>
            <a:r>
              <a:rPr lang="zh-CN" altLang="en-US" sz="800" dirty="0"/>
              <a:t>这就是作曲中的真正工作：合理地分配困难。</a:t>
            </a:r>
          </a:p>
          <a:p>
            <a:pPr>
              <a:buNone/>
            </a:pPr>
            <a:r>
              <a:rPr lang="zh-CN" altLang="en-US" sz="800" dirty="0"/>
              <a:t>木管组也是同理</a:t>
            </a:r>
            <a:r>
              <a:rPr lang="en-US" altLang="zh-CN" sz="800" dirty="0"/>
              <a:t>——</a:t>
            </a:r>
            <a:r>
              <a:rPr lang="zh-CN" altLang="en-US" sz="800" dirty="0"/>
              <a:t>快速跳音、炫技性段落总是最难写的。</a:t>
            </a:r>
            <a:br>
              <a:rPr lang="zh-CN" altLang="en-US" sz="800" dirty="0"/>
            </a:br>
            <a:r>
              <a:rPr lang="zh-CN" altLang="en-US" sz="800" dirty="0"/>
              <a:t>但自柏辽兹以来，音乐史早已提供了许多解决方案。最著名的例子就是柏辽兹发明的“交替分组快速段”技巧</a:t>
            </a:r>
            <a:r>
              <a:rPr lang="en-US" altLang="zh-CN" sz="800" dirty="0"/>
              <a:t>——</a:t>
            </a:r>
            <a:r>
              <a:rPr lang="zh-CN" altLang="en-US" sz="800" dirty="0"/>
              <a:t>把高速音型分给两组乐器交替演奏。</a:t>
            </a:r>
            <a:br>
              <a:rPr lang="zh-CN" altLang="en-US" sz="800" dirty="0"/>
            </a:br>
            <a:r>
              <a:rPr lang="zh-CN" altLang="en-US" sz="800" dirty="0"/>
              <a:t>此后几乎所有作曲家都在借鉴这种方法。</a:t>
            </a:r>
          </a:p>
          <a:p>
            <a:pPr>
              <a:buNone/>
            </a:pPr>
            <a:r>
              <a:rPr lang="zh-CN" altLang="en-US" sz="800" dirty="0"/>
              <a:t>要为孩子写合适的音乐，作曲家必须熟悉音乐史上的一切技巧，并动用全部技术功底。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77411C-9B05-713C-AEEF-E35D7012795B}"/>
              </a:ext>
            </a:extLst>
          </p:cNvPr>
          <p:cNvSpPr txBox="1"/>
          <p:nvPr/>
        </p:nvSpPr>
        <p:spPr>
          <a:xfrm>
            <a:off x="4953000" y="0"/>
            <a:ext cx="4953662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800" dirty="0"/>
              <a:t>这也适用于和声。 我们都在调性体系中成长，本能上是“有调”的，而非无调。</a:t>
            </a:r>
            <a:br>
              <a:rPr lang="zh-CN" altLang="en-US" sz="800" dirty="0"/>
            </a:br>
            <a:r>
              <a:rPr lang="zh-CN" altLang="en-US" sz="800" dirty="0"/>
              <a:t>缺乏丰富和声经验的人，必须依托调性写作。</a:t>
            </a:r>
            <a:br>
              <a:rPr lang="zh-CN" altLang="en-US" sz="800" dirty="0"/>
            </a:br>
            <a:r>
              <a:rPr lang="zh-CN" altLang="en-US" sz="800" dirty="0"/>
              <a:t>当然，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中也有不协和音与无调性段落。</a:t>
            </a:r>
          </a:p>
          <a:p>
            <a:pPr>
              <a:buNone/>
            </a:pPr>
            <a:r>
              <a:rPr lang="zh-CN" altLang="en-US" sz="800" dirty="0"/>
              <a:t>节奏方面亦然</a:t>
            </a:r>
            <a:r>
              <a:rPr lang="en-US" altLang="zh-CN" sz="800" dirty="0"/>
              <a:t>——</a:t>
            </a:r>
            <a:r>
              <a:rPr lang="zh-CN" altLang="en-US" sz="800" dirty="0"/>
              <a:t>必须让孩子们在乐团中保持兴趣，不能觉得无聊。</a:t>
            </a:r>
            <a:br>
              <a:rPr lang="zh-CN" altLang="en-US" sz="800" dirty="0"/>
            </a:br>
            <a:r>
              <a:rPr lang="zh-CN" altLang="en-US" sz="800" dirty="0"/>
              <a:t>对白不能太长，乐段中要设置适度的挑战和小难点。</a:t>
            </a:r>
          </a:p>
          <a:p>
            <a:pPr>
              <a:buNone/>
            </a:pPr>
            <a:r>
              <a:rPr lang="zh-CN" altLang="en-US" sz="800" dirty="0"/>
              <a:t>我始终遵循阿尔班</a:t>
            </a:r>
            <a:r>
              <a:rPr lang="en-US" altLang="zh-CN" sz="800" dirty="0"/>
              <a:t>·</a:t>
            </a:r>
            <a:r>
              <a:rPr lang="zh-CN" altLang="en-US" sz="800" dirty="0"/>
              <a:t>贝尔格（</a:t>
            </a:r>
            <a:r>
              <a:rPr lang="en-GB" sz="800" dirty="0"/>
              <a:t>Alban Berg）</a:t>
            </a:r>
            <a:r>
              <a:rPr lang="zh-CN" altLang="en-US" sz="800" dirty="0"/>
              <a:t>的一句话：</a:t>
            </a:r>
          </a:p>
          <a:p>
            <a:pPr>
              <a:buNone/>
            </a:pPr>
            <a:r>
              <a:rPr lang="zh-CN" altLang="en-US" sz="800" dirty="0"/>
              <a:t>“人必须永远知道，自己到底走得有多远，才算太远。”</a:t>
            </a:r>
          </a:p>
          <a:p>
            <a:pPr>
              <a:buNone/>
            </a:pPr>
            <a:r>
              <a:rPr lang="zh-CN" altLang="en-US" sz="800" dirty="0"/>
              <a:t>这也是我们当年在蒙特普尔恰诺坚信的原则</a:t>
            </a:r>
            <a:r>
              <a:rPr lang="en-US" altLang="zh-CN" sz="800" dirty="0"/>
              <a:t>——</a:t>
            </a:r>
            <a:br>
              <a:rPr lang="en-US" altLang="zh-CN" sz="800" dirty="0"/>
            </a:br>
            <a:r>
              <a:rPr lang="zh-CN" altLang="en-US" sz="800" b="1" dirty="0"/>
              <a:t>永远略微超出一点点，而整体水平就会不断提升。</a:t>
            </a:r>
            <a:endParaRPr lang="zh-CN" altLang="en-US" sz="800" dirty="0"/>
          </a:p>
          <a:p>
            <a:pPr>
              <a:buNone/>
            </a:pPr>
            <a:endParaRPr lang="zh-CN" altLang="en-US" sz="800" dirty="0"/>
          </a:p>
          <a:p>
            <a:pPr>
              <a:buNone/>
            </a:pPr>
            <a:r>
              <a:rPr lang="zh-CN" altLang="en-US" sz="800" b="1" dirty="0"/>
              <a:t>问：</a:t>
            </a:r>
            <a:br>
              <a:rPr lang="zh-CN" altLang="en-US" sz="800" dirty="0"/>
            </a:br>
            <a:r>
              <a:rPr lang="zh-CN" altLang="en-US" sz="800" dirty="0"/>
              <a:t>据说每一部“儿童作品”也必须为成年人提供有趣、刺激的内容。</a:t>
            </a:r>
          </a:p>
          <a:p>
            <a:pPr>
              <a:buNone/>
            </a:pPr>
            <a:r>
              <a:rPr lang="zh-CN" altLang="en-US" sz="800" b="1" dirty="0"/>
              <a:t>格拉纳特：</a:t>
            </a:r>
            <a:br>
              <a:rPr lang="zh-CN" altLang="en-US" sz="800" dirty="0"/>
            </a:br>
            <a:r>
              <a:rPr lang="zh-CN" altLang="en-US" sz="800" dirty="0"/>
              <a:t>当然！</a:t>
            </a:r>
            <a:br>
              <a:rPr lang="zh-CN" altLang="en-US" sz="800" dirty="0"/>
            </a:br>
            <a:r>
              <a:rPr lang="zh-CN" altLang="en-US" sz="800" dirty="0"/>
              <a:t>我最不喜欢那种成年人只是陪孩子来、自己毫无兴趣的作品。</a:t>
            </a:r>
            <a:br>
              <a:rPr lang="zh-CN" altLang="en-US" sz="800" dirty="0"/>
            </a:b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很好的一点是，它可以被视为</a:t>
            </a:r>
            <a:r>
              <a:rPr lang="en-US" altLang="zh-CN" sz="800" dirty="0"/>
              <a:t>《</a:t>
            </a:r>
            <a:r>
              <a:rPr lang="zh-CN" altLang="en-US" sz="800" dirty="0"/>
              <a:t>图兰朵</a:t>
            </a:r>
            <a:r>
              <a:rPr lang="en-US" altLang="zh-CN" sz="800" dirty="0"/>
              <a:t>》</a:t>
            </a:r>
            <a:r>
              <a:rPr lang="zh-CN" altLang="en-US" sz="800" dirty="0"/>
              <a:t>的“镜像”。</a:t>
            </a:r>
          </a:p>
          <a:p>
            <a:pPr>
              <a:buNone/>
            </a:pPr>
            <a:r>
              <a:rPr lang="zh-CN" altLang="en-US" sz="800" dirty="0"/>
              <a:t>剧中有不少地方进入无调性，暂时脱离传统调式结构。</a:t>
            </a:r>
            <a:br>
              <a:rPr lang="zh-CN" altLang="en-US" sz="800" dirty="0"/>
            </a:br>
            <a:r>
              <a:rPr lang="zh-CN" altLang="en-US" sz="800" dirty="0"/>
              <a:t>而最重要的是</a:t>
            </a:r>
            <a:r>
              <a:rPr lang="en-US" altLang="zh-CN" sz="800" dirty="0"/>
              <a:t>——</a:t>
            </a:r>
            <a:r>
              <a:rPr lang="zh-CN" altLang="en-US" sz="800" dirty="0"/>
              <a:t>就像我所有的歌剧一样</a:t>
            </a:r>
            <a:r>
              <a:rPr lang="en-US" altLang="zh-CN" sz="800" dirty="0"/>
              <a:t>——</a:t>
            </a:r>
            <a:r>
              <a:rPr lang="zh-CN" altLang="en-US" sz="800" dirty="0"/>
              <a:t>我不允许出现无聊。</a:t>
            </a:r>
            <a:br>
              <a:rPr lang="zh-CN" altLang="en-US" sz="800" dirty="0"/>
            </a:br>
            <a:r>
              <a:rPr lang="zh-CN" altLang="en-US" sz="800" dirty="0"/>
              <a:t>我要让观众在听的过程中被戏剧牢牢吸引，直到忘记“分析”，只剩下紧张与共鸣。</a:t>
            </a:r>
          </a:p>
          <a:p>
            <a:pPr>
              <a:buNone/>
            </a:pPr>
            <a:endParaRPr lang="zh-CN" altLang="en-US" sz="800" dirty="0"/>
          </a:p>
          <a:p>
            <a:pPr>
              <a:buNone/>
            </a:pPr>
            <a:r>
              <a:rPr lang="zh-CN" altLang="en-US" sz="800" b="1" dirty="0"/>
              <a:t>问：</a:t>
            </a:r>
            <a:br>
              <a:rPr lang="zh-CN" altLang="en-US" sz="800" dirty="0"/>
            </a:br>
            <a:r>
              <a:rPr lang="zh-CN" altLang="en-US" sz="800" dirty="0"/>
              <a:t>说到</a:t>
            </a:r>
            <a:r>
              <a:rPr lang="en-US" altLang="zh-CN" sz="800" dirty="0"/>
              <a:t>《</a:t>
            </a:r>
            <a:r>
              <a:rPr lang="zh-CN" altLang="en-US" sz="800" dirty="0"/>
              <a:t>图兰朵</a:t>
            </a:r>
            <a:r>
              <a:rPr lang="en-US" altLang="zh-CN" sz="800" dirty="0"/>
              <a:t>》</a:t>
            </a:r>
            <a:r>
              <a:rPr lang="zh-CN" altLang="en-US" sz="800" dirty="0"/>
              <a:t>，你对普契尼那段“谜语场景”的处理怎么看？</a:t>
            </a:r>
          </a:p>
          <a:p>
            <a:pPr>
              <a:buNone/>
            </a:pPr>
            <a:r>
              <a:rPr lang="zh-CN" altLang="en-US" sz="800" b="1" dirty="0"/>
              <a:t>格拉纳特：</a:t>
            </a:r>
            <a:br>
              <a:rPr lang="zh-CN" altLang="en-US" sz="800" dirty="0"/>
            </a:br>
            <a:r>
              <a:rPr lang="zh-CN" altLang="en-US" sz="800" dirty="0"/>
              <a:t>坦率地说，我一直觉得那是普契尼</a:t>
            </a:r>
            <a:r>
              <a:rPr lang="en-US" altLang="zh-CN" sz="800" dirty="0"/>
              <a:t>《</a:t>
            </a:r>
            <a:r>
              <a:rPr lang="zh-CN" altLang="en-US" sz="800" dirty="0"/>
              <a:t>图兰朵</a:t>
            </a:r>
            <a:r>
              <a:rPr lang="en-US" altLang="zh-CN" sz="800" dirty="0"/>
              <a:t>》</a:t>
            </a:r>
            <a:r>
              <a:rPr lang="zh-CN" altLang="en-US" sz="800" dirty="0"/>
              <a:t>中最弱的一段</a:t>
            </a:r>
            <a:r>
              <a:rPr lang="en-US" altLang="zh-CN" sz="800" dirty="0"/>
              <a:t>——</a:t>
            </a:r>
            <a:br>
              <a:rPr lang="en-US" altLang="zh-CN" sz="800" dirty="0"/>
            </a:br>
            <a:r>
              <a:rPr lang="zh-CN" altLang="en-US" sz="800" dirty="0"/>
              <a:t>音乐上好像没能完全成功，那个敲击的木琴总让我觉得别扭。</a:t>
            </a:r>
            <a:br>
              <a:rPr lang="zh-CN" altLang="en-US" sz="800" dirty="0"/>
            </a:br>
            <a:r>
              <a:rPr lang="zh-CN" altLang="en-US" sz="800" dirty="0"/>
              <a:t>我当然试图在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中把这部分“写得更好”。</a:t>
            </a:r>
          </a:p>
          <a:p>
            <a:pPr>
              <a:buNone/>
            </a:pPr>
            <a:r>
              <a:rPr lang="zh-CN" altLang="en-US" sz="800" dirty="0"/>
              <a:t>不过普契尼有他独一无二的天赋</a:t>
            </a:r>
            <a:r>
              <a:rPr lang="en-US" altLang="zh-CN" sz="800" dirty="0"/>
              <a:t>——</a:t>
            </a:r>
            <a:r>
              <a:rPr lang="zh-CN" altLang="en-US" sz="800" dirty="0"/>
              <a:t>他是旋律大师，这一点远超同时代所有人。</a:t>
            </a:r>
            <a:br>
              <a:rPr lang="zh-CN" altLang="en-US" sz="800" dirty="0"/>
            </a:br>
            <a:r>
              <a:rPr lang="zh-CN" altLang="en-US" sz="800" dirty="0"/>
              <a:t>我曾与亨策讨论过什么是真正的“旋律”。</a:t>
            </a:r>
            <a:br>
              <a:rPr lang="zh-CN" altLang="en-US" sz="800" dirty="0"/>
            </a:br>
            <a:r>
              <a:rPr lang="zh-CN" altLang="en-US" sz="800" dirty="0"/>
              <a:t>不是“动机（</a:t>
            </a:r>
            <a:r>
              <a:rPr lang="en-GB" sz="800" dirty="0"/>
              <a:t>Motiv）”，</a:t>
            </a:r>
            <a:r>
              <a:rPr lang="zh-CN" altLang="en-US" sz="800" dirty="0"/>
              <a:t>而是“旋律（</a:t>
            </a:r>
            <a:r>
              <a:rPr lang="en-GB" sz="800" dirty="0"/>
              <a:t>Melodie）”——</a:t>
            </a:r>
            <a:r>
              <a:rPr lang="zh-CN" altLang="en-US" sz="800" dirty="0"/>
              <a:t>这是不同的。</a:t>
            </a:r>
          </a:p>
          <a:p>
            <a:pPr>
              <a:buNone/>
            </a:pPr>
            <a:r>
              <a:rPr lang="zh-CN" altLang="en-US" sz="800" dirty="0"/>
              <a:t>在他去世前不久，亨策对我说：“我们必须重新关注旋律这个现象。我们已经把它弄丢了。那种连贯地排列音符的方式</a:t>
            </a:r>
            <a:r>
              <a:rPr lang="en-US" altLang="zh-CN" sz="800" dirty="0"/>
              <a:t>——</a:t>
            </a:r>
            <a:r>
              <a:rPr lang="zh-CN" altLang="en-US" sz="800" dirty="0"/>
              <a:t>我们忽略太久了。”</a:t>
            </a:r>
            <a:br>
              <a:rPr lang="zh-CN" altLang="en-US" sz="800" dirty="0"/>
            </a:br>
            <a:r>
              <a:rPr lang="zh-CN" altLang="en-US" sz="800" dirty="0"/>
              <a:t>他说得完全正确。</a:t>
            </a:r>
          </a:p>
          <a:p>
            <a:pPr>
              <a:buNone/>
            </a:pPr>
            <a:endParaRPr lang="zh-CN" altLang="en-US" sz="800" dirty="0"/>
          </a:p>
          <a:p>
            <a:pPr>
              <a:buNone/>
            </a:pPr>
            <a:r>
              <a:rPr lang="zh-CN" altLang="en-US" sz="800" b="1" dirty="0"/>
              <a:t>问：</a:t>
            </a:r>
            <a:br>
              <a:rPr lang="zh-CN" altLang="en-US" sz="800" dirty="0"/>
            </a:br>
            <a:r>
              <a:rPr lang="zh-CN" altLang="en-US" sz="800" dirty="0"/>
              <a:t>这很有趣。顺便提一句，我在</a:t>
            </a:r>
            <a:r>
              <a:rPr lang="en-US" altLang="zh-CN" sz="800" dirty="0"/>
              <a:t>2024/2025</a:t>
            </a:r>
            <a:r>
              <a:rPr lang="zh-CN" altLang="en-US" sz="800" dirty="0"/>
              <a:t>乐季还负责了丽贝卡</a:t>
            </a:r>
            <a:r>
              <a:rPr lang="en-US" altLang="zh-CN" sz="800" dirty="0"/>
              <a:t>·</a:t>
            </a:r>
            <a:r>
              <a:rPr lang="zh-CN" altLang="en-US" sz="800" dirty="0"/>
              <a:t>桑德斯（</a:t>
            </a:r>
            <a:r>
              <a:rPr lang="en-GB" sz="800" dirty="0"/>
              <a:t>Rebecca Saunders）</a:t>
            </a:r>
            <a:r>
              <a:rPr lang="zh-CN" altLang="en-US" sz="800" dirty="0"/>
              <a:t>的歌剧</a:t>
            </a:r>
            <a:r>
              <a:rPr lang="en-US" altLang="zh-CN" sz="800" dirty="0"/>
              <a:t>《</a:t>
            </a:r>
            <a:r>
              <a:rPr lang="en-GB" sz="800" dirty="0"/>
              <a:t>Lash》</a:t>
            </a:r>
            <a:r>
              <a:rPr lang="zh-CN" altLang="en-US" sz="800" dirty="0"/>
              <a:t>的首演</a:t>
            </a:r>
            <a:r>
              <a:rPr lang="en-US" altLang="zh-CN" sz="800" dirty="0"/>
              <a:t>——</a:t>
            </a:r>
            <a:r>
              <a:rPr lang="zh-CN" altLang="en-US" sz="800" dirty="0"/>
              <a:t>风格完全不同。</a:t>
            </a:r>
            <a:br>
              <a:rPr lang="zh-CN" altLang="en-US" sz="800" dirty="0"/>
            </a:br>
            <a:r>
              <a:rPr lang="zh-CN" altLang="en-US" sz="800" dirty="0"/>
              <a:t>她也提到，通过写歌剧，她重新发现了“旋律”，并以自己的方式写出了一部“充满旋律”的作品。</a:t>
            </a:r>
          </a:p>
          <a:p>
            <a:pPr>
              <a:buNone/>
            </a:pPr>
            <a:r>
              <a:rPr lang="zh-CN" altLang="en-US" sz="800" b="1" dirty="0"/>
              <a:t>格拉纳特：</a:t>
            </a:r>
            <a:br>
              <a:rPr lang="zh-CN" altLang="en-US" sz="800" dirty="0"/>
            </a:br>
            <a:r>
              <a:rPr lang="zh-CN" altLang="en-US" sz="800" dirty="0"/>
              <a:t>是的，我们也希望让孩子们在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中，通过亲身参与，去体验各种音乐形式与现象</a:t>
            </a:r>
            <a:r>
              <a:rPr lang="en-US" altLang="zh-CN" sz="800" dirty="0"/>
              <a:t>——</a:t>
            </a:r>
            <a:br>
              <a:rPr lang="en-US" altLang="zh-CN" sz="800" dirty="0"/>
            </a:br>
            <a:r>
              <a:rPr lang="zh-CN" altLang="en-US" sz="800" dirty="0"/>
              <a:t>比如合唱场景中多声部同时演唱的感觉。</a:t>
            </a:r>
            <a:br>
              <a:rPr lang="zh-CN" altLang="en-US" sz="800" dirty="0"/>
            </a:br>
            <a:r>
              <a:rPr lang="zh-CN" altLang="en-US" sz="800" dirty="0"/>
              <a:t>对我而言，这正是歌剧最核心的特征</a:t>
            </a:r>
            <a:r>
              <a:rPr lang="en-US" altLang="zh-CN" sz="800" dirty="0"/>
              <a:t>——</a:t>
            </a:r>
            <a:r>
              <a:rPr lang="zh-CN" altLang="en-US" sz="800" dirty="0"/>
              <a:t>甚至违背瓦格纳的教条：</a:t>
            </a:r>
            <a:br>
              <a:rPr lang="zh-CN" altLang="en-US" sz="800" dirty="0"/>
            </a:br>
            <a:r>
              <a:rPr lang="zh-CN" altLang="en-US" sz="800" b="1" dirty="0"/>
              <a:t>歌剧能同时呈现多种情绪、人物与感受。</a:t>
            </a:r>
            <a:endParaRPr lang="zh-CN" altLang="en-US" sz="800" dirty="0"/>
          </a:p>
          <a:p>
            <a:pPr>
              <a:buNone/>
            </a:pPr>
            <a:r>
              <a:rPr lang="zh-CN" altLang="en-US" sz="800" dirty="0"/>
              <a:t>此外还有第一幕结尾的赋格合唱，以及独唱咏叹调中人物内心世界的展露。</a:t>
            </a:r>
            <a:br>
              <a:rPr lang="zh-CN" altLang="en-US" sz="800" dirty="0"/>
            </a:br>
            <a:r>
              <a:rPr lang="zh-CN" altLang="en-US" sz="800" dirty="0"/>
              <a:t>主题上我们也不做限制：包括悲伤、恐惧、愤怒，乃至死亡与生命威胁的体验</a:t>
            </a:r>
            <a:r>
              <a:rPr lang="en-US" altLang="zh-CN" sz="800" dirty="0"/>
              <a:t>——</a:t>
            </a:r>
            <a:r>
              <a:rPr lang="zh-CN" altLang="en-US" sz="800" dirty="0"/>
              <a:t>这些恰恰是许多童话的核心。</a:t>
            </a:r>
            <a:br>
              <a:rPr lang="zh-CN" altLang="en-US" sz="800" dirty="0"/>
            </a:br>
            <a:endParaRPr lang="zh-CN" altLang="en-US" sz="800" dirty="0"/>
          </a:p>
          <a:p>
            <a:pPr>
              <a:buNone/>
            </a:pPr>
            <a:r>
              <a:rPr lang="zh-CN" altLang="en-US" sz="800" b="1" dirty="0"/>
              <a:t>问：</a:t>
            </a:r>
            <a:br>
              <a:rPr lang="zh-CN" altLang="en-US" sz="800" dirty="0"/>
            </a:br>
            <a:r>
              <a:rPr lang="zh-CN" altLang="en-US" sz="800" dirty="0"/>
              <a:t>青春期（</a:t>
            </a:r>
            <a:r>
              <a:rPr lang="en-GB" sz="800" dirty="0" err="1"/>
              <a:t>Adoleszenz</a:t>
            </a:r>
            <a:r>
              <a:rPr lang="en-GB" sz="800" dirty="0"/>
              <a:t>）</a:t>
            </a:r>
            <a:r>
              <a:rPr lang="zh-CN" altLang="en-US" sz="800" dirty="0"/>
              <a:t>的主题在你的作品中似乎也占重要位置。</a:t>
            </a:r>
          </a:p>
          <a:p>
            <a:pPr>
              <a:buNone/>
            </a:pPr>
            <a:r>
              <a:rPr lang="zh-CN" altLang="en-US" sz="800" b="1" dirty="0"/>
              <a:t>格拉纳特：</a:t>
            </a:r>
            <a:br>
              <a:rPr lang="zh-CN" altLang="en-US" sz="800" dirty="0"/>
            </a:br>
            <a:r>
              <a:rPr lang="zh-CN" altLang="en-US" sz="800" dirty="0"/>
              <a:t>确实如此。</a:t>
            </a:r>
            <a:br>
              <a:rPr lang="zh-CN" altLang="en-US" sz="800" dirty="0"/>
            </a:br>
            <a:r>
              <a:rPr lang="zh-CN" altLang="en-US" sz="800" dirty="0"/>
              <a:t>青春期是人开始思考“死亡”和“性意识”的阶段。</a:t>
            </a:r>
            <a:br>
              <a:rPr lang="zh-CN" altLang="en-US" sz="800" dirty="0"/>
            </a:br>
            <a:r>
              <a:rPr lang="zh-CN" altLang="en-US" sz="800" dirty="0"/>
              <a:t>意识到死亡的存在、自己的性别与他人的性别，以及逐渐认知自己的自由意志。</a:t>
            </a:r>
          </a:p>
          <a:p>
            <a:pPr>
              <a:buNone/>
            </a:pPr>
            <a:r>
              <a:rPr lang="zh-CN" altLang="en-US" sz="800" dirty="0"/>
              <a:t>比如拉索在剧开头意识到自己所处的地方“不好”；</a:t>
            </a:r>
            <a:br>
              <a:rPr lang="zh-CN" altLang="en-US" sz="800" dirty="0"/>
            </a:br>
            <a:r>
              <a:rPr lang="zh-CN" altLang="en-US" sz="800" dirty="0"/>
              <a:t>又比如绞刑鸟试图自杀</a:t>
            </a:r>
            <a:r>
              <a:rPr lang="en-US" altLang="zh-CN" sz="800" dirty="0"/>
              <a:t>——</a:t>
            </a:r>
            <a:r>
              <a:rPr lang="zh-CN" altLang="en-US" sz="800" dirty="0"/>
              <a:t>象征着死亡的靠近</a:t>
            </a:r>
            <a:r>
              <a:rPr lang="en-US" altLang="zh-CN" sz="800" dirty="0"/>
              <a:t>——</a:t>
            </a:r>
            <a:r>
              <a:rPr lang="zh-CN" altLang="en-US" sz="800" dirty="0"/>
              <a:t>而拉索用一种奇特的方式重新唤起了他的希望。</a:t>
            </a:r>
            <a:br>
              <a:rPr lang="zh-CN" altLang="en-US" sz="800" dirty="0"/>
            </a:br>
            <a:r>
              <a:rPr lang="zh-CN" altLang="en-US" sz="800" dirty="0"/>
              <a:t>莎拉达的问题则在于情感，她总是愤怒、攻击性强。</a:t>
            </a:r>
            <a:br>
              <a:rPr lang="zh-CN" altLang="en-US" sz="800" dirty="0"/>
            </a:br>
            <a:r>
              <a:rPr lang="zh-CN" altLang="en-US" sz="800" dirty="0"/>
              <a:t>因此，拉索的目标之一就是让她笑出来。</a:t>
            </a:r>
          </a:p>
          <a:p>
            <a:pPr>
              <a:buNone/>
            </a:pPr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1412735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0082F62A-7867-9CB5-45BA-7FB730586051}"/>
              </a:ext>
            </a:extLst>
          </p:cNvPr>
          <p:cNvSpPr txBox="1"/>
          <p:nvPr/>
        </p:nvSpPr>
        <p:spPr>
          <a:xfrm>
            <a:off x="-896" y="0"/>
            <a:ext cx="495389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800" dirty="0"/>
              <a:t>剧中还有一些现代化元素，例如那三个宫廷阴谋家</a:t>
            </a:r>
            <a:r>
              <a:rPr lang="en-US" altLang="zh-CN" sz="800" dirty="0"/>
              <a:t>——</a:t>
            </a:r>
            <a:r>
              <a:rPr lang="zh-CN" altLang="en-US" sz="800" dirty="0"/>
              <a:t>克诺亨夫人（</a:t>
            </a:r>
            <a:r>
              <a:rPr lang="en-GB" sz="800" dirty="0"/>
              <a:t>Frau </a:t>
            </a:r>
            <a:r>
              <a:rPr lang="en-GB" sz="800" dirty="0" err="1"/>
              <a:t>Knochen</a:t>
            </a:r>
            <a:r>
              <a:rPr lang="en-GB" sz="800" dirty="0"/>
              <a:t>）</a:t>
            </a:r>
            <a:r>
              <a:rPr lang="zh-CN" altLang="en-US" sz="800" dirty="0"/>
              <a:t>与两位大臣</a:t>
            </a:r>
            <a:r>
              <a:rPr lang="en-US" altLang="zh-CN" sz="800" dirty="0"/>
              <a:t>——</a:t>
            </a:r>
            <a:r>
              <a:rPr lang="zh-CN" altLang="en-US" sz="800" dirty="0"/>
              <a:t>他们掌控了整个王国的权力与财政，在冷漠、肥胖、对女儿毫无感情的国王泽法洛斯身边过得很好。</a:t>
            </a:r>
            <a:br>
              <a:rPr lang="zh-CN" altLang="en-US" sz="800" dirty="0"/>
            </a:br>
            <a:r>
              <a:rPr lang="zh-CN" altLang="en-US" sz="800" dirty="0"/>
              <a:t>当莎拉达向父亲倾诉痛苦时，他只是冷冷地说：</a:t>
            </a:r>
          </a:p>
          <a:p>
            <a:pPr>
              <a:buNone/>
            </a:pPr>
            <a:r>
              <a:rPr lang="zh-CN" altLang="en-US" sz="800" dirty="0"/>
              <a:t>“你吃太多了，我们给你点药水吧。”</a:t>
            </a:r>
          </a:p>
          <a:p>
            <a:pPr>
              <a:buNone/>
            </a:pPr>
            <a:endParaRPr lang="zh-CN" altLang="en-US" sz="800" dirty="0"/>
          </a:p>
          <a:p>
            <a:pPr>
              <a:buNone/>
            </a:pPr>
            <a:r>
              <a:rPr lang="zh-CN" altLang="en-US" sz="800" b="1" dirty="0"/>
              <a:t>问：</a:t>
            </a:r>
            <a:br>
              <a:rPr lang="zh-CN" altLang="en-US" sz="800" dirty="0"/>
            </a:br>
            <a:r>
              <a:rPr lang="zh-CN" altLang="en-US" sz="800" dirty="0"/>
              <a:t>那拉索的母亲波帕呢？为什么她在儿子出发时想要杀他？</a:t>
            </a:r>
          </a:p>
          <a:p>
            <a:pPr>
              <a:buNone/>
            </a:pPr>
            <a:r>
              <a:rPr lang="zh-CN" altLang="en-US" sz="800" b="1" dirty="0"/>
              <a:t>格拉纳特：</a:t>
            </a:r>
            <a:br>
              <a:rPr lang="zh-CN" altLang="en-US" sz="800" dirty="0"/>
            </a:br>
            <a:r>
              <a:rPr lang="zh-CN" altLang="en-US" sz="800" dirty="0"/>
              <a:t>这属于经典的童话元素</a:t>
            </a:r>
            <a:r>
              <a:rPr lang="en-US" altLang="zh-CN" sz="800" dirty="0"/>
              <a:t>——</a:t>
            </a:r>
            <a:r>
              <a:rPr lang="zh-CN" altLang="en-US" sz="800" dirty="0"/>
              <a:t>邪恶的母亲、祖母或继母。</a:t>
            </a:r>
            <a:br>
              <a:rPr lang="zh-CN" altLang="en-US" sz="800" dirty="0"/>
            </a:br>
            <a:r>
              <a:rPr lang="zh-CN" altLang="en-US" sz="800" dirty="0"/>
              <a:t>关键的一句话是：</a:t>
            </a:r>
          </a:p>
          <a:p>
            <a:pPr>
              <a:buNone/>
            </a:pPr>
            <a:r>
              <a:rPr lang="zh-CN" altLang="en-US" sz="800" dirty="0"/>
              <a:t>“与其让他在谜语游戏中送命，不如让他立刻死在自己母亲手中。”</a:t>
            </a:r>
          </a:p>
          <a:p>
            <a:pPr>
              <a:buNone/>
            </a:pPr>
            <a:r>
              <a:rPr lang="zh-CN" altLang="en-US" sz="800" dirty="0"/>
              <a:t>我们想保留这个母题，同时赋予它一种“恶转善”的命运转折。</a:t>
            </a:r>
            <a:br>
              <a:rPr lang="zh-CN" altLang="en-US" sz="800" dirty="0"/>
            </a:br>
            <a:r>
              <a:rPr lang="zh-CN" altLang="en-US" sz="800" dirty="0"/>
              <a:t>母亲的毒蛋糕被野猪吃了，野猪又被强盗吃掉，他们全都死了。</a:t>
            </a:r>
            <a:br>
              <a:rPr lang="zh-CN" altLang="en-US" sz="800" dirty="0"/>
            </a:br>
            <a:r>
              <a:rPr lang="zh-CN" altLang="en-US" sz="800" dirty="0"/>
              <a:t>于是拉索两次因那块本应要他命的蛋糕而得救。</a:t>
            </a:r>
          </a:p>
          <a:p>
            <a:pPr>
              <a:buNone/>
            </a:pPr>
            <a:r>
              <a:rPr lang="zh-CN" altLang="en-US" sz="800" dirty="0"/>
              <a:t>但我们仍保留了童话的模糊性</a:t>
            </a:r>
            <a:r>
              <a:rPr lang="en-US" altLang="zh-CN" sz="800" dirty="0"/>
              <a:t>——</a:t>
            </a:r>
            <a:r>
              <a:rPr lang="zh-CN" altLang="en-US" sz="800" dirty="0"/>
              <a:t>母亲的真实动机并不明确。</a:t>
            </a:r>
          </a:p>
          <a:p>
            <a:pPr>
              <a:buNone/>
            </a:pPr>
            <a:endParaRPr lang="zh-CN" altLang="en-US" sz="800" dirty="0"/>
          </a:p>
          <a:p>
            <a:pPr>
              <a:buNone/>
            </a:pPr>
            <a:r>
              <a:rPr lang="zh-CN" altLang="en-US" sz="800" dirty="0"/>
              <a:t>我们的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希望成为一部</a:t>
            </a:r>
            <a:r>
              <a:rPr lang="zh-CN" altLang="en-US" sz="800" b="1" dirty="0"/>
              <a:t>融合冒险、幽默与痛苦、生命与死亡</a:t>
            </a:r>
            <a:r>
              <a:rPr lang="zh-CN" altLang="en-US" sz="800" dirty="0"/>
              <a:t>的作品，</a:t>
            </a:r>
            <a:br>
              <a:rPr lang="zh-CN" altLang="en-US" sz="800" dirty="0"/>
            </a:br>
            <a:r>
              <a:rPr lang="zh-CN" altLang="en-US" sz="800" b="1" dirty="0"/>
              <a:t>由孩子讲述、为孩子而作，也为我们每个人心中那个“仍在玩耍的孩子”。</a:t>
            </a:r>
            <a:endParaRPr lang="en-DE" sz="800" dirty="0"/>
          </a:p>
          <a:p>
            <a:endParaRPr lang="en-US" altLang="zh-CN" sz="800" b="1" dirty="0"/>
          </a:p>
          <a:p>
            <a:endParaRPr lang="en-US" altLang="zh-CN" sz="800" b="1" dirty="0"/>
          </a:p>
          <a:p>
            <a:endParaRPr lang="en-US" altLang="zh-CN" sz="800" b="1" dirty="0"/>
          </a:p>
          <a:p>
            <a:endParaRPr lang="en-US" altLang="zh-CN" sz="800" b="1" dirty="0"/>
          </a:p>
          <a:p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《</a:t>
            </a:r>
            <a:r>
              <a:rPr lang="zh-CN" altLang="en-US" sz="800" b="1" dirty="0"/>
              <a:t>三个谜语</a:t>
            </a:r>
            <a:r>
              <a:rPr lang="en-US" altLang="zh-CN" sz="800" b="1" dirty="0"/>
              <a:t>》</a:t>
            </a:r>
          </a:p>
          <a:p>
            <a:r>
              <a:rPr lang="zh-CN" altLang="en-US" sz="800" dirty="0"/>
              <a:t>一个下午阴暗的酒窖。微弱的光线照在巨大的木桶、陈旧的桌子和歪斜的长凳上。人群熙攘，有的站着，有的坐在酒桶上，或蹲在地上。而在这一切的正中央，有一个衣衫不整、坐在木箱上的男孩。他名叫拉索，是女店主波帕（</a:t>
            </a:r>
            <a:r>
              <a:rPr lang="en-GB" sz="800" dirty="0"/>
              <a:t>Popa）</a:t>
            </a:r>
            <a:r>
              <a:rPr lang="zh-CN" altLang="en-US" sz="800" dirty="0"/>
              <a:t>的儿子，绝非一个安静的孩子。他与朋友们一起，混在这一群喧闹的人中。最初的聚会原本只是热闹地喝酒，但早已演变为一场争吵。大人们互相咒骂，拉索也插嘴进来。他被大人呵斥，反击以讥讽，又被指责，于是也回击对方。有人说他在市政厅小便。场面一片混乱</a:t>
            </a:r>
            <a:r>
              <a:rPr lang="en-US" altLang="zh-CN" sz="800" dirty="0"/>
              <a:t>——</a:t>
            </a:r>
            <a:r>
              <a:rPr lang="zh-CN" altLang="en-US" sz="800" dirty="0"/>
              <a:t>指责、叫嚷、酒气四溢</a:t>
            </a:r>
            <a:r>
              <a:rPr lang="en-US" altLang="zh-CN" sz="800" dirty="0"/>
              <a:t>——</a:t>
            </a:r>
            <a:r>
              <a:rPr lang="zh-CN" altLang="en-US" sz="800" dirty="0"/>
              <a:t>介于滑稽与闹剧之间，最终以一场冲突告终。波帕回来了，把客人都赶走，质问儿子。而他呢？干脆就消失了</a:t>
            </a:r>
            <a:r>
              <a:rPr lang="en-US" altLang="zh-CN" sz="800" dirty="0"/>
              <a:t>——</a:t>
            </a:r>
            <a:r>
              <a:rPr lang="zh-CN" altLang="en-US" sz="800" dirty="0"/>
              <a:t>不是默默离开，而是倔强地走掉。他宣布，大人们都是无能的，然后扬长而去。</a:t>
            </a:r>
          </a:p>
          <a:p>
            <a:r>
              <a:rPr lang="zh-CN" altLang="en-US" sz="800" dirty="0"/>
              <a:t>这就是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的开端</a:t>
            </a:r>
            <a:r>
              <a:rPr lang="en-US" altLang="zh-CN" sz="800" dirty="0"/>
              <a:t>——</a:t>
            </a:r>
            <a:r>
              <a:rPr lang="zh-CN" altLang="en-US" sz="800" dirty="0"/>
              <a:t>德特列夫</a:t>
            </a:r>
            <a:r>
              <a:rPr lang="en-US" altLang="zh-CN" sz="800" dirty="0"/>
              <a:t>·</a:t>
            </a:r>
            <a:r>
              <a:rPr lang="zh-CN" altLang="en-US" sz="800" dirty="0"/>
              <a:t>格拉纳特为儿童和成人创作的歌剧</a:t>
            </a:r>
            <a:r>
              <a:rPr lang="en-US" altLang="zh-CN" sz="800" dirty="0"/>
              <a:t>——</a:t>
            </a:r>
            <a:r>
              <a:rPr lang="zh-CN" altLang="en-US" sz="800" dirty="0"/>
              <a:t>一个不是庄重起航，而是“掀桌式”的出发。音乐同样毫不犹豫。“在第一个场景中，格拉纳特几乎倾尽所有能量，一开始就爆发”，导演布丽吉特</a:t>
            </a:r>
            <a:r>
              <a:rPr lang="en-US" altLang="zh-CN" sz="800" dirty="0"/>
              <a:t>·</a:t>
            </a:r>
            <a:r>
              <a:rPr lang="zh-CN" altLang="en-US" sz="800" dirty="0"/>
              <a:t>德提尔（</a:t>
            </a:r>
            <a:r>
              <a:rPr lang="en-GB" sz="800" dirty="0"/>
              <a:t>Brigitte </a:t>
            </a:r>
            <a:r>
              <a:rPr lang="en-GB" sz="800" dirty="0" err="1"/>
              <a:t>Dethier</a:t>
            </a:r>
            <a:r>
              <a:rPr lang="en-GB" sz="800" dirty="0"/>
              <a:t>）</a:t>
            </a:r>
            <a:r>
              <a:rPr lang="zh-CN" altLang="en-US" sz="800" dirty="0"/>
              <a:t>说道</a:t>
            </a:r>
            <a:r>
              <a:rPr lang="en-US" altLang="zh-CN" sz="800" dirty="0"/>
              <a:t>——</a:t>
            </a:r>
            <a:r>
              <a:rPr lang="zh-CN" altLang="en-US" sz="800" dirty="0"/>
              <a:t>她是德国儿童与青少年剧场的重量级人物，也是斯图加特青年剧团（</a:t>
            </a:r>
            <a:r>
              <a:rPr lang="en-GB" sz="800" dirty="0" err="1"/>
              <a:t>Junges</a:t>
            </a:r>
            <a:r>
              <a:rPr lang="en-GB" sz="800" dirty="0"/>
              <a:t> Ensemble Stuttgart）</a:t>
            </a:r>
            <a:r>
              <a:rPr lang="zh-CN" altLang="en-US" sz="800" dirty="0"/>
              <a:t>的长期领导者。开场是一段管弦齐奏，响亮、密集、充满张力。没有温柔的引入，而是一次强力的音乐冲击，立即产生巨大的吸引力。人们立刻意识到：这不仅仅是为孩子而写的。格拉纳特成功地创造了一部既能打动儿童，又能触及成人的作品</a:t>
            </a:r>
            <a:r>
              <a:rPr lang="en-US" altLang="zh-CN" sz="800" dirty="0"/>
              <a:t>——</a:t>
            </a:r>
            <a:r>
              <a:rPr lang="zh-CN" altLang="en-US" sz="800" dirty="0"/>
              <a:t>虽然方式不同，但同样深刻。</a:t>
            </a:r>
          </a:p>
          <a:p>
            <a:r>
              <a:rPr lang="zh-CN" altLang="en-US" sz="800" dirty="0"/>
              <a:t>接下来的，是一个充满奇异人物与荒诞转折的童话。拉索闯入“杀人森林”，被一帮强盗捆住，准备吊死他。就在最后一刻，救援从树上掉了下来</a:t>
            </a:r>
            <a:r>
              <a:rPr lang="en-US" altLang="zh-CN" sz="800" dirty="0"/>
              <a:t>——</a:t>
            </a:r>
            <a:r>
              <a:rPr lang="zh-CN" altLang="en-US" sz="800" dirty="0"/>
              <a:t>一个脖子上套着绳子的忧郁男子，自称“绞刑鸟”。他成为拉索的同伴：脾气暴躁却忠诚，是一种“反英雄式”的搭档，却有颗温暖的心。他们一起前往城堡，那里年轻的公主莎拉达正等待挑战者。挑战者必须各自出三道谜题；若她无法解出，挑战者就能赢得她的芳心；若她解出了，对方就要丢掉脑袋。</a:t>
            </a:r>
          </a:p>
          <a:p>
            <a:r>
              <a:rPr lang="zh-CN" altLang="en-US" sz="800" dirty="0"/>
              <a:t>歌剧爱好者立刻会想到普契尼的</a:t>
            </a:r>
            <a:r>
              <a:rPr lang="en-US" altLang="zh-CN" sz="800" dirty="0"/>
              <a:t>《</a:t>
            </a:r>
            <a:r>
              <a:rPr lang="zh-CN" altLang="en-US" sz="800" dirty="0"/>
              <a:t>图兰朵</a:t>
            </a:r>
            <a:r>
              <a:rPr lang="en-US" altLang="zh-CN" sz="800" dirty="0"/>
              <a:t>》</a:t>
            </a:r>
            <a:r>
              <a:rPr lang="zh-CN" altLang="en-US" sz="800" dirty="0"/>
              <a:t>。确实，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的剧作家卡洛</a:t>
            </a:r>
            <a:r>
              <a:rPr lang="en-US" altLang="zh-CN" sz="800" dirty="0"/>
              <a:t>·</a:t>
            </a:r>
            <a:r>
              <a:rPr lang="zh-CN" altLang="en-US" sz="800" dirty="0"/>
              <a:t>帕斯奎尼（</a:t>
            </a:r>
            <a:r>
              <a:rPr lang="en-GB" sz="800" dirty="0"/>
              <a:t>Carlo Pasquini）</a:t>
            </a:r>
            <a:r>
              <a:rPr lang="zh-CN" altLang="en-US" sz="800" dirty="0"/>
              <a:t>与</a:t>
            </a:r>
            <a:r>
              <a:rPr lang="en-US" altLang="zh-CN" sz="800" dirty="0"/>
              <a:t>《</a:t>
            </a:r>
            <a:r>
              <a:rPr lang="zh-CN" altLang="en-US" sz="800" dirty="0"/>
              <a:t>图兰朵</a:t>
            </a:r>
            <a:r>
              <a:rPr lang="en-US" altLang="zh-CN" sz="800" dirty="0"/>
              <a:t>》</a:t>
            </a:r>
            <a:r>
              <a:rPr lang="zh-CN" altLang="en-US" sz="800" dirty="0"/>
              <a:t>的故事原作者卡洛</a:t>
            </a:r>
            <a:r>
              <a:rPr lang="en-US" altLang="zh-CN" sz="800" dirty="0"/>
              <a:t>·</a:t>
            </a:r>
            <a:r>
              <a:rPr lang="zh-CN" altLang="en-US" sz="800" dirty="0"/>
              <a:t>戈齐（</a:t>
            </a:r>
            <a:r>
              <a:rPr lang="en-GB" sz="800" dirty="0"/>
              <a:t>Carlo Gozzi）</a:t>
            </a:r>
            <a:r>
              <a:rPr lang="zh-CN" altLang="en-US" sz="800" dirty="0"/>
              <a:t>都借鉴了</a:t>
            </a:r>
            <a:r>
              <a:rPr lang="en-US" altLang="zh-CN" sz="800" dirty="0"/>
              <a:t>13</a:t>
            </a:r>
            <a:r>
              <a:rPr lang="zh-CN" altLang="en-US" sz="800" dirty="0"/>
              <a:t>世纪的同一批童话集。基本结构总是相似：有人必须踏上旅程，完成任务、证明自己，以赢得爱情、权力，或两者兼得。故事中充满了文学原型：大胡子的强盗、肥胖的国王、闪亮的王冠</a:t>
            </a:r>
            <a:r>
              <a:rPr lang="en-US" altLang="zh-CN" sz="800" dirty="0"/>
              <a:t>——</a:t>
            </a:r>
            <a:r>
              <a:rPr lang="zh-CN" altLang="en-US" sz="800" dirty="0"/>
              <a:t>这些都是熟悉的面孔。格拉纳特说：“孩子需要明确的社会定位。邮差得有帽子，国王得有王冠。只有当舞台上的世界是连贯的，人们才能在其中尽情玩耍。”</a:t>
            </a:r>
          </a:p>
          <a:p>
            <a:r>
              <a:rPr lang="zh-CN" altLang="en-US" sz="800" dirty="0"/>
              <a:t>但与</a:t>
            </a:r>
            <a:r>
              <a:rPr lang="en-US" altLang="zh-CN" sz="800" dirty="0"/>
              <a:t>《</a:t>
            </a:r>
            <a:r>
              <a:rPr lang="zh-CN" altLang="en-US" sz="800" dirty="0"/>
              <a:t>图兰朵</a:t>
            </a:r>
            <a:r>
              <a:rPr lang="en-US" altLang="zh-CN" sz="800" dirty="0"/>
              <a:t>》</a:t>
            </a:r>
            <a:r>
              <a:rPr lang="zh-CN" altLang="en-US" sz="800" dirty="0"/>
              <a:t>中“谜语”是权力的象征不同，这里的主题是两个年轻人</a:t>
            </a:r>
            <a:r>
              <a:rPr lang="en-US" altLang="zh-CN" sz="800" dirty="0"/>
              <a:t>——</a:t>
            </a:r>
            <a:r>
              <a:rPr lang="zh-CN" altLang="en-US" sz="800" dirty="0"/>
              <a:t>拉索和莎拉达</a:t>
            </a:r>
            <a:r>
              <a:rPr lang="en-US" altLang="zh-CN" sz="800" dirty="0"/>
              <a:t>——</a:t>
            </a:r>
            <a:r>
              <a:rPr lang="zh-CN" altLang="en-US" sz="800" dirty="0"/>
              <a:t>如何抗衡僵化的成人世界。导演德提尔说：“我感兴趣的是，来自完全不同背景的两个人，如何相遇。两人都没有功能正常的家庭，都感到被遗弃。而正因如此，他们建立起一种亲近感。”</a:t>
            </a:r>
            <a:endParaRPr lang="en-US" altLang="zh-CN" sz="800" dirty="0"/>
          </a:p>
          <a:p>
            <a:br>
              <a:rPr lang="zh-CN" altLang="en-US" sz="800" dirty="0"/>
            </a:br>
            <a:endParaRPr lang="en-GB" sz="800" dirty="0"/>
          </a:p>
        </p:txBody>
      </p:sp>
      <p:sp>
        <p:nvSpPr>
          <p:cNvPr id="2" name="Textfeld 2">
            <a:extLst>
              <a:ext uri="{FF2B5EF4-FFF2-40B4-BE49-F238E27FC236}">
                <a16:creationId xmlns:a16="http://schemas.microsoft.com/office/drawing/2014/main" id="{A3C8AC5A-4B91-B1F2-BA3B-8E3CD7C0EF35}"/>
              </a:ext>
            </a:extLst>
          </p:cNvPr>
          <p:cNvSpPr txBox="1"/>
          <p:nvPr/>
        </p:nvSpPr>
        <p:spPr>
          <a:xfrm>
            <a:off x="4953000" y="0"/>
            <a:ext cx="495389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/>
              <a:t>帕斯奎尼的剧本在童话与社会寓言之间保持平衡。情节是片段式的，人物经常夸张，但在荒诞之下仍有心理的真实。德提尔说：“绝不能以为儿童剧中的人物可以是肤浅的。孩子们一眼就能察觉，他们的感知非常敏锐，能判断真假。” 对她而言，真实性是最核心的标准，包括对“可以让孩子们承受多少”的思考。“其实孩子可以承受很多</a:t>
            </a:r>
            <a:r>
              <a:rPr lang="en-US" altLang="zh-CN" sz="800" dirty="0"/>
              <a:t>——</a:t>
            </a:r>
            <a:r>
              <a:rPr lang="zh-CN" altLang="en-US" sz="800" dirty="0"/>
              <a:t>只要故事里还有希望。剧情可以怪诞、甚至有些粗糙，但必须要让孩子有可以共鸣的人物。如果他们在温暖的情感中被包裹，就算一时屏息，也不会害怕。”</a:t>
            </a:r>
          </a:p>
          <a:p>
            <a:r>
              <a:rPr lang="zh-CN" altLang="en-US" sz="800" dirty="0"/>
              <a:t>歌剧在舞台上呈现出的那种不平滑、多声部、多风格的效果，也与其创作背景有关。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最初为哈雷歌剧院（</a:t>
            </a:r>
            <a:r>
              <a:rPr lang="en-GB" sz="800" dirty="0"/>
              <a:t>Oper Halle）</a:t>
            </a:r>
            <a:r>
              <a:rPr lang="zh-CN" altLang="en-US" sz="800" dirty="0"/>
              <a:t>与蒙特普尔恰诺国际艺术工坊（</a:t>
            </a:r>
            <a:r>
              <a:rPr lang="en-GB" sz="800" dirty="0" err="1"/>
              <a:t>Cantiere</a:t>
            </a:r>
            <a:r>
              <a:rPr lang="en-GB" sz="800" dirty="0"/>
              <a:t> Internazionale </a:t>
            </a:r>
            <a:r>
              <a:rPr lang="en-GB" sz="800" dirty="0" err="1"/>
              <a:t>d’Arte</a:t>
            </a:r>
            <a:r>
              <a:rPr lang="en-GB" sz="800" dirty="0"/>
              <a:t>）</a:t>
            </a:r>
            <a:r>
              <a:rPr lang="zh-CN" altLang="en-US" sz="800" dirty="0"/>
              <a:t>而作</a:t>
            </a:r>
            <a:r>
              <a:rPr lang="en-US" altLang="zh-CN" sz="800" dirty="0"/>
              <a:t>——</a:t>
            </a:r>
            <a:r>
              <a:rPr lang="zh-CN" altLang="en-US" sz="800" dirty="0"/>
              <a:t>这所由作曲家汉斯</a:t>
            </a:r>
            <a:r>
              <a:rPr lang="en-US" altLang="zh-CN" sz="800" dirty="0"/>
              <a:t>·</a:t>
            </a:r>
            <a:r>
              <a:rPr lang="zh-CN" altLang="en-US" sz="800" dirty="0"/>
              <a:t>维尔纳</a:t>
            </a:r>
            <a:r>
              <a:rPr lang="en-US" altLang="zh-CN" sz="800" dirty="0"/>
              <a:t>·</a:t>
            </a:r>
            <a:r>
              <a:rPr lang="zh-CN" altLang="en-US" sz="800" dirty="0"/>
              <a:t>亨策（</a:t>
            </a:r>
            <a:r>
              <a:rPr lang="en-GB" sz="800" dirty="0"/>
              <a:t>Hans Werner Henze）</a:t>
            </a:r>
            <a:r>
              <a:rPr lang="zh-CN" altLang="en-US" sz="800" dirty="0"/>
              <a:t>创立的夏季学院，自</a:t>
            </a:r>
            <a:r>
              <a:rPr lang="en-US" altLang="zh-CN" sz="800" dirty="0"/>
              <a:t>1970</a:t>
            </a:r>
            <a:r>
              <a:rPr lang="zh-CN" altLang="en-US" sz="800" dirty="0"/>
              <a:t>年代以来一直是跨世代音乐合作的典范：专业音乐家、业余爱好者、儿童、青少年、成人</a:t>
            </a:r>
            <a:r>
              <a:rPr lang="en-US" altLang="zh-CN" sz="800" dirty="0"/>
              <a:t>——</a:t>
            </a:r>
            <a:r>
              <a:rPr lang="zh-CN" altLang="en-US" sz="800" dirty="0"/>
              <a:t>都在同一个舞台上。对于亨策的学生格拉纳特而言，蒙特普尔恰诺是极具影响力的地方。“那里的夏天彻底改变了我对音乐教育的理解，”他说。“艺术学习必须通过实践来完成。而且更重要的是，光学乐器是没有意义的，你必须立刻与他人合奏</a:t>
            </a:r>
            <a:r>
              <a:rPr lang="en-US" altLang="zh-CN" sz="800" dirty="0"/>
              <a:t>——</a:t>
            </a:r>
            <a:r>
              <a:rPr lang="zh-CN" altLang="en-US" sz="800" dirty="0"/>
              <a:t>不论是何种编制、何种水平。关键在于‘一起’，而不是‘单独’。‘玩音乐’自然会随之而来。”</a:t>
            </a:r>
          </a:p>
          <a:p>
            <a:r>
              <a:rPr lang="zh-CN" altLang="en-US" sz="800" dirty="0"/>
              <a:t>格拉纳特的乐谱完全贯彻了这一理念：它采用模块化结构，设置了不同难度的声部，可根据演出场地自由调整。在柏林的演出中，乐团编制比蒙特普尔恰诺更大，甚至特别加了一个大号声部，因为有个年轻的大号手想加入。同样，也有为初学者准备的简化弦乐声部</a:t>
            </a:r>
            <a:r>
              <a:rPr lang="en-US" altLang="zh-CN" sz="800" dirty="0"/>
              <a:t>——</a:t>
            </a:r>
            <a:r>
              <a:rPr lang="zh-CN" altLang="en-US" sz="800" dirty="0"/>
              <a:t>哪怕只会几个把位的孩子也能参与。总共有</a:t>
            </a:r>
            <a:r>
              <a:rPr lang="en-US" altLang="zh-CN" sz="800" dirty="0"/>
              <a:t>40</a:t>
            </a:r>
            <a:r>
              <a:rPr lang="zh-CN" altLang="en-US" sz="800" dirty="0"/>
              <a:t>多位儿童与青少年坐在乐池里。格拉纳特说：“只要想演、想唱的人，都可以来。</a:t>
            </a:r>
            <a:endParaRPr lang="en-US" altLang="zh-CN" sz="800" dirty="0"/>
          </a:p>
          <a:p>
            <a:r>
              <a:rPr lang="zh-CN" altLang="en-US" sz="800" dirty="0"/>
              <a:t>但必须投入认真，演出前会有密集排练，孩子们能从专业音乐家身上学到很多。他们必须学会形式感</a:t>
            </a:r>
            <a:r>
              <a:rPr lang="en-US" altLang="zh-CN" sz="800" dirty="0"/>
              <a:t>——</a:t>
            </a:r>
            <a:r>
              <a:rPr lang="zh-CN" altLang="en-US" sz="800" dirty="0"/>
              <a:t>为什么某个动机会重复？为什么另一个不会？还有一些非常实际的事情，比如在幕间记得上厕所</a:t>
            </a:r>
            <a:r>
              <a:rPr lang="en-US" altLang="zh-CN" sz="800" dirty="0"/>
              <a:t>——</a:t>
            </a:r>
            <a:r>
              <a:rPr lang="zh-CN" altLang="en-US" sz="800" dirty="0"/>
              <a:t>这也很重要。”</a:t>
            </a:r>
            <a:br>
              <a:rPr lang="zh-CN" altLang="en-US" sz="800" dirty="0"/>
            </a:br>
            <a:r>
              <a:rPr lang="zh-CN" altLang="en-US" sz="800" dirty="0"/>
              <a:t>那成年人从孩子身上学到什么？格拉纳特说：“他们重新学会了对艺术的敬畏</a:t>
            </a:r>
            <a:r>
              <a:rPr lang="en-US" altLang="zh-CN" sz="800" dirty="0"/>
              <a:t>——</a:t>
            </a:r>
            <a:r>
              <a:rPr lang="zh-CN" altLang="en-US" sz="800" dirty="0"/>
              <a:t>通过孩子们那种全神贯注的认真劲。那一刻，对孩子来说，这就是生命的中心。而对于经验丰富的职业艺术家而言，这是极其宝贵的一课。”</a:t>
            </a:r>
          </a:p>
          <a:p>
            <a:r>
              <a:rPr lang="zh-CN" altLang="en-US" sz="800" dirty="0"/>
              <a:t>然而，成果听起来却丝毫不“教育化”。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并非教学音乐，而是一部严肃的音乐剧场作品，风格多变，游走于交响的力量与细腻的讽刺之间。作曲家在其中引用、反讽、玩弄各种音乐公式，但始终保持清晰。“我想向孩子展示音乐的可能性有多大，”格拉纳特说，“不是那种‘我来教你们怎么听’的态度，而是：‘我认真对待你们，我知道你们什么都能听懂。’”</a:t>
            </a:r>
          </a:p>
          <a:p>
            <a:endParaRPr lang="en-US" altLang="zh-CN" sz="800" dirty="0"/>
          </a:p>
          <a:p>
            <a:r>
              <a:rPr lang="zh-CN" altLang="en-US" sz="800" dirty="0"/>
              <a:t>格拉纳特的音乐经验背景极为丰富，这一点在谈话中屡见。他提到自己的青年时期</a:t>
            </a:r>
            <a:r>
              <a:rPr lang="en-US" altLang="zh-CN" sz="800" dirty="0"/>
              <a:t>——</a:t>
            </a:r>
            <a:r>
              <a:rPr lang="zh-CN" altLang="en-US" sz="800" dirty="0"/>
              <a:t>在汉堡青年乐团的经历、</a:t>
            </a:r>
            <a:r>
              <a:rPr lang="en-US" altLang="zh-CN" sz="800" dirty="0"/>
              <a:t>16</a:t>
            </a:r>
            <a:r>
              <a:rPr lang="zh-CN" altLang="en-US" sz="800" dirty="0"/>
              <a:t>岁时第一次听到施特劳斯的</a:t>
            </a:r>
            <a:r>
              <a:rPr lang="en-US" altLang="zh-CN" sz="800" dirty="0"/>
              <a:t>《</a:t>
            </a:r>
            <a:r>
              <a:rPr lang="zh-CN" altLang="en-US" sz="800" dirty="0"/>
              <a:t>莎乐美</a:t>
            </a:r>
            <a:r>
              <a:rPr lang="en-US" altLang="zh-CN" sz="800" dirty="0"/>
              <a:t>》</a:t>
            </a:r>
            <a:r>
              <a:rPr lang="zh-CN" altLang="en-US" sz="800" dirty="0"/>
              <a:t>（</a:t>
            </a:r>
            <a:r>
              <a:rPr lang="en-GB" sz="800" i="1" dirty="0"/>
              <a:t>Salome</a:t>
            </a:r>
            <a:r>
              <a:rPr lang="en-GB" sz="800" dirty="0"/>
              <a:t>）</a:t>
            </a:r>
            <a:r>
              <a:rPr lang="zh-CN" altLang="en-US" sz="800" dirty="0"/>
              <a:t>时的震撼、以及孩提时代对音乐戏剧的着迷。或许正因为如此，拉索并不是一个理想化的儿童角色，而是一个叛逆、困惑、但又让人心疼的少年。对格拉纳特而言，他象征着青春的自我主张</a:t>
            </a:r>
            <a:r>
              <a:rPr lang="en-US" altLang="zh-CN" sz="800" dirty="0"/>
              <a:t>——</a:t>
            </a:r>
            <a:r>
              <a:rPr lang="zh-CN" altLang="en-US" sz="800" dirty="0"/>
              <a:t>一种健康的“青春期扰动”：不安分、喧闹，却必要。</a:t>
            </a:r>
          </a:p>
          <a:p>
            <a:r>
              <a:rPr lang="zh-CN" altLang="en-US" sz="800" dirty="0"/>
              <a:t>舞台设计同样“响亮”</a:t>
            </a:r>
            <a:r>
              <a:rPr lang="en-US" altLang="zh-CN" sz="800" dirty="0"/>
              <a:t>——</a:t>
            </a:r>
            <a:r>
              <a:rPr lang="zh-CN" altLang="en-US" sz="800" dirty="0"/>
              <a:t>至少是比喻意义上的。德提尔与舞台设计师卡罗琳</a:t>
            </a:r>
            <a:r>
              <a:rPr lang="en-US" altLang="zh-CN" sz="800" dirty="0"/>
              <a:t>·</a:t>
            </a:r>
            <a:r>
              <a:rPr lang="zh-CN" altLang="en-US" sz="800" dirty="0"/>
              <a:t>米特勒（</a:t>
            </a:r>
            <a:r>
              <a:rPr lang="en-GB" sz="800" dirty="0"/>
              <a:t>Carolin Mittler）</a:t>
            </a:r>
            <a:r>
              <a:rPr lang="zh-CN" altLang="en-US" sz="800" dirty="0"/>
              <a:t>并不打算掩饰荒诞，而是让它显现出来。她们强调氛围的对比：一个巨大的椅子变成断头台，黑暗的地窖与闪烁的幻想世界交织。但德提尔并不追求单纯的“视觉大场面”，而是注重心理深度和真实的人物塑造。“我希望给孩子一些能让他们继续思考的东西，”她说。因此，她还会单独与青少年排练：“有时我们只和他们一起练，没有压力、没有职业演员，让他们能自由提问。”</a:t>
            </a:r>
          </a:p>
          <a:p>
            <a:r>
              <a:rPr lang="zh-CN" altLang="en-US" sz="800" dirty="0"/>
              <a:t>结果是一部既令成人又令孩子愉悦的歌剧</a:t>
            </a:r>
            <a:r>
              <a:rPr lang="en-US" altLang="zh-CN" sz="800" dirty="0"/>
              <a:t>——</a:t>
            </a:r>
            <a:r>
              <a:rPr lang="zh-CN" altLang="en-US" sz="800" dirty="0"/>
              <a:t>在两个层面上同时奏效。就像著名美剧</a:t>
            </a:r>
            <a:r>
              <a:rPr lang="en-US" altLang="zh-CN" sz="800" dirty="0"/>
              <a:t>《</a:t>
            </a:r>
            <a:r>
              <a:rPr lang="zh-CN" altLang="en-US" sz="800" dirty="0"/>
              <a:t>辛普森一家</a:t>
            </a:r>
            <a:r>
              <a:rPr lang="en-US" altLang="zh-CN" sz="800" dirty="0"/>
              <a:t>》</a:t>
            </a:r>
            <a:r>
              <a:rPr lang="zh-CN" altLang="en-US" sz="800" dirty="0"/>
              <a:t>最擅长做到的那样：孩子们为滑稽情节大笑，大人们则会体会到更深层的社会讽刺。德提尔说：“这是一种共同体验</a:t>
            </a:r>
            <a:r>
              <a:rPr lang="en-US" altLang="zh-CN" sz="800" dirty="0"/>
              <a:t>——</a:t>
            </a:r>
            <a:r>
              <a:rPr lang="zh-CN" altLang="en-US" sz="800" dirty="0"/>
              <a:t>孩子和父母能在演出后交流各自的不同视角。”</a:t>
            </a:r>
            <a:br>
              <a:rPr lang="zh-CN" altLang="en-US" sz="800" dirty="0"/>
            </a:br>
            <a:r>
              <a:rPr lang="zh-CN" altLang="en-US" sz="800" dirty="0"/>
              <a:t>至于演出结尾？先是一场“地震”。剧本里以风声暗示，音乐上则是长达</a:t>
            </a:r>
            <a:r>
              <a:rPr lang="en-US" altLang="zh-CN" sz="800" dirty="0"/>
              <a:t>15</a:t>
            </a:r>
            <a:r>
              <a:rPr lang="zh-CN" altLang="en-US" sz="800" dirty="0"/>
              <a:t>分钟的渐强</a:t>
            </a:r>
            <a:r>
              <a:rPr lang="en-US" altLang="zh-CN" sz="800" dirty="0"/>
              <a:t>——“</a:t>
            </a:r>
            <a:r>
              <a:rPr lang="zh-CN" altLang="en-US" sz="800" dirty="0"/>
              <a:t>是全剧最大的一段，”格拉纳特说。“从极静开始，最后以轰然一声结束。”但在情感上，这部歌剧的震动远未停止。德提尔总结道：“我希望大人走出剧院时，会问自己</a:t>
            </a:r>
            <a:r>
              <a:rPr lang="en-US" altLang="zh-CN" sz="800" dirty="0"/>
              <a:t>——</a:t>
            </a:r>
            <a:r>
              <a:rPr lang="zh-CN" altLang="en-US" sz="800" dirty="0"/>
              <a:t>我们和孩子到底生活在怎样的世界里？我们能做得更好吗？”</a:t>
            </a:r>
            <a:br>
              <a:rPr lang="zh-CN" altLang="en-US" sz="800" dirty="0"/>
            </a:br>
            <a:r>
              <a:rPr lang="zh-CN" altLang="en-US" sz="800" dirty="0"/>
              <a:t>而对孩子来说</a:t>
            </a:r>
            <a:r>
              <a:rPr lang="en-US" altLang="zh-CN" sz="800" dirty="0"/>
              <a:t>——</a:t>
            </a:r>
            <a:r>
              <a:rPr lang="zh-CN" altLang="en-US" sz="800" dirty="0"/>
              <a:t>则是多出五厘米的脊梁骨。“如果拉索和莎拉达都能做到，那么我们也能做到。”</a:t>
            </a:r>
          </a:p>
          <a:p>
            <a:r>
              <a:rPr lang="en-US" altLang="zh-CN" sz="800" dirty="0"/>
              <a:t>——</a:t>
            </a:r>
            <a:r>
              <a:rPr lang="zh-CN" altLang="en-US" sz="800" dirty="0"/>
              <a:t>文 </a:t>
            </a:r>
            <a:r>
              <a:rPr lang="en-US" altLang="zh-CN" sz="800" dirty="0"/>
              <a:t>/ </a:t>
            </a:r>
            <a:r>
              <a:rPr lang="zh-CN" altLang="en-US" sz="800" dirty="0"/>
              <a:t>蒂尔曼</a:t>
            </a:r>
            <a:r>
              <a:rPr lang="en-US" altLang="zh-CN" sz="800" dirty="0"/>
              <a:t>·</a:t>
            </a:r>
            <a:r>
              <a:rPr lang="zh-CN" altLang="en-US" sz="800" dirty="0"/>
              <a:t>米伦贝格（</a:t>
            </a:r>
            <a:r>
              <a:rPr lang="en-GB" sz="800" dirty="0"/>
              <a:t>Tilman Mühlenberg）</a:t>
            </a:r>
          </a:p>
        </p:txBody>
      </p:sp>
    </p:spTree>
    <p:extLst>
      <p:ext uri="{BB962C8B-B14F-4D97-AF65-F5344CB8AC3E}">
        <p14:creationId xmlns:p14="http://schemas.microsoft.com/office/powerpoint/2010/main" val="3805291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19A6EB-402E-25E0-7AAF-EBA3242F4508}"/>
              </a:ext>
            </a:extLst>
          </p:cNvPr>
          <p:cNvSpPr txBox="1"/>
          <p:nvPr/>
        </p:nvSpPr>
        <p:spPr>
          <a:xfrm>
            <a:off x="62949" y="0"/>
            <a:ext cx="4953662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/>
              <a:t>迈向更美好的世界</a:t>
            </a:r>
          </a:p>
          <a:p>
            <a:r>
              <a:rPr lang="zh-CN" altLang="en-US" sz="800" b="1" dirty="0"/>
              <a:t>导演布丽吉特</a:t>
            </a:r>
            <a:r>
              <a:rPr lang="en-US" altLang="zh-CN" sz="800" b="1" dirty="0"/>
              <a:t>·</a:t>
            </a:r>
            <a:r>
              <a:rPr lang="zh-CN" altLang="en-US" sz="800" b="1" dirty="0"/>
              <a:t>德提尔与舞美服装设计师卡罗琳</a:t>
            </a:r>
            <a:r>
              <a:rPr lang="en-US" altLang="zh-CN" sz="800" b="1" dirty="0"/>
              <a:t>·</a:t>
            </a:r>
            <a:r>
              <a:rPr lang="zh-CN" altLang="en-US" sz="800" b="1" dirty="0"/>
              <a:t>米特勒访谈</a:t>
            </a:r>
            <a:br>
              <a:rPr lang="zh-CN" altLang="en-US" sz="800" dirty="0"/>
            </a:br>
            <a:r>
              <a:rPr lang="zh-CN" altLang="en-US" sz="800" b="1" dirty="0"/>
              <a:t>采访：戏剧构作塞巴斯蒂安</a:t>
            </a:r>
            <a:r>
              <a:rPr lang="en-US" altLang="zh-CN" sz="800" b="1" dirty="0"/>
              <a:t>·</a:t>
            </a:r>
            <a:r>
              <a:rPr lang="zh-CN" altLang="en-US" sz="800" b="1" dirty="0"/>
              <a:t>哈努萨</a:t>
            </a:r>
            <a:endParaRPr lang="en-US" altLang="zh-CN" sz="800" b="1" dirty="0"/>
          </a:p>
          <a:p>
            <a:endParaRPr lang="zh-CN" altLang="en-US" sz="800" dirty="0"/>
          </a:p>
          <a:p>
            <a:r>
              <a:rPr lang="zh-CN" altLang="en-US" sz="800" b="1" dirty="0"/>
              <a:t>哈努萨：</a:t>
            </a:r>
            <a:r>
              <a:rPr lang="zh-CN" altLang="en-US" sz="800" dirty="0"/>
              <a:t> 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是一部儿童剧吗？是什么让它成为“儿童剧”？</a:t>
            </a:r>
            <a:br>
              <a:rPr lang="zh-CN" altLang="en-US" sz="800" dirty="0"/>
            </a:br>
            <a:r>
              <a:rPr lang="zh-CN" altLang="en-US" sz="800" b="1" dirty="0"/>
              <a:t>德提尔：</a:t>
            </a:r>
            <a:r>
              <a:rPr lang="zh-CN" altLang="en-US" sz="800" dirty="0"/>
              <a:t> 这个问题不能简单回答。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既是为儿童而作的作品，也是一部关于成长的作品。它首先面向儿童，因为两位主角都是孩子，他们为小观众提供了认同的对象。但它同时也是一则童话，而童话并非只讲给孩子听的文类。剧中有许多典型的童话母题：年轻贫穷的男孩逃离邪恶的母亲踏上旅途，遇到待嫁的公主，向她提出三个谜语</a:t>
            </a:r>
            <a:r>
              <a:rPr lang="en-US" altLang="zh-CN" sz="800" dirty="0"/>
              <a:t>——</a:t>
            </a:r>
            <a:r>
              <a:rPr lang="zh-CN" altLang="en-US" sz="800" dirty="0"/>
              <a:t>她若答不出，他便赢了，可以娶她。这些都是经典的童话元素。</a:t>
            </a:r>
            <a:endParaRPr lang="en-US" altLang="zh-CN" sz="800" dirty="0"/>
          </a:p>
          <a:p>
            <a:br>
              <a:rPr lang="zh-CN" altLang="en-US" sz="800" dirty="0"/>
            </a:br>
            <a:r>
              <a:rPr lang="zh-CN" altLang="en-US" sz="800" b="1" dirty="0"/>
              <a:t>米特勒：</a:t>
            </a:r>
            <a:r>
              <a:rPr lang="zh-CN" altLang="en-US" sz="800" dirty="0"/>
              <a:t> 我第一次读剧本时几乎忘了这是“儿童剧”。它让我想到贡布罗维奇的</a:t>
            </a:r>
            <a:r>
              <a:rPr lang="en-US" altLang="zh-CN" sz="800" dirty="0"/>
              <a:t>《</a:t>
            </a:r>
            <a:r>
              <a:rPr lang="zh-CN" altLang="en-US" sz="800" dirty="0"/>
              <a:t>勃艮第公主伊冯娜</a:t>
            </a:r>
            <a:r>
              <a:rPr lang="en-US" altLang="zh-CN" sz="800" dirty="0"/>
              <a:t>》</a:t>
            </a:r>
            <a:r>
              <a:rPr lang="zh-CN" altLang="en-US" sz="800" dirty="0"/>
              <a:t>，因为剧中同样有荒诞与残酷的成分。因此，我不把它仅仅视作儿童剧，而是一部在多个层面同时运作的作品。</a:t>
            </a:r>
            <a:endParaRPr lang="en-US" altLang="zh-CN" sz="800" dirty="0"/>
          </a:p>
          <a:p>
            <a:br>
              <a:rPr lang="zh-CN" altLang="en-US" sz="800" dirty="0"/>
            </a:br>
            <a:r>
              <a:rPr lang="zh-CN" altLang="en-US" sz="800" b="1" dirty="0"/>
              <a:t>哈努萨：</a:t>
            </a:r>
            <a:r>
              <a:rPr lang="zh-CN" altLang="en-US" sz="800" dirty="0"/>
              <a:t> 这其实也是童话的特征。童话可被多角度解读。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讲述两个孩子的冒险，他们在经历中成长、逐渐成人，同时也描绘了他们所处的成人世界以及他们如何摆脱它，获得自我力量。这些主题对成年人同样有意义。除了这个核心内容，还有哪些典型的童话母题？</a:t>
            </a:r>
            <a:endParaRPr lang="en-US" altLang="zh-CN" sz="800" dirty="0"/>
          </a:p>
          <a:p>
            <a:br>
              <a:rPr lang="zh-CN" altLang="en-US" sz="800" dirty="0"/>
            </a:br>
            <a:r>
              <a:rPr lang="zh-CN" altLang="en-US" sz="800" b="1" dirty="0"/>
              <a:t>德提尔：</a:t>
            </a:r>
            <a:r>
              <a:rPr lang="zh-CN" altLang="en-US" sz="800" dirty="0"/>
              <a:t> 有“旅程”的母题</a:t>
            </a:r>
            <a:r>
              <a:rPr lang="en-US" altLang="zh-CN" sz="800" dirty="0"/>
              <a:t>——</a:t>
            </a:r>
            <a:r>
              <a:rPr lang="zh-CN" altLang="en-US" sz="800" dirty="0"/>
              <a:t>拉索必须踏上旅途以获得经验；也有“恶母”或“恶继母”的母题。我们发现波帕这一角色的动机无法用心理学解释，尤其当她在第二幕结尾又一次企图杀死拉索时。但从戏剧角度看，这个情节依然有其效果。还有公主这一形象</a:t>
            </a:r>
            <a:r>
              <a:rPr lang="en-US" altLang="zh-CN" sz="800" dirty="0"/>
              <a:t>——</a:t>
            </a:r>
            <a:r>
              <a:rPr lang="zh-CN" altLang="en-US" sz="800" dirty="0"/>
              <a:t>她最初冷漠厌世，最终与拉索一起离开家。在传统童话中他们会留在城堡里幸福生活，但在这里，他们逃离疯狂的成人世界，去寻找另一片更适合生存的土地。</a:t>
            </a:r>
            <a:endParaRPr lang="en-US" altLang="zh-CN" sz="800" dirty="0"/>
          </a:p>
          <a:p>
            <a:br>
              <a:rPr lang="zh-CN" altLang="en-US" sz="800" dirty="0"/>
            </a:br>
            <a:r>
              <a:rPr lang="zh-CN" altLang="en-US" sz="800" b="1" dirty="0"/>
              <a:t>哈努萨：</a:t>
            </a:r>
            <a:r>
              <a:rPr lang="zh-CN" altLang="en-US" sz="800" dirty="0"/>
              <a:t> 那么可以说</a:t>
            </a:r>
            <a:r>
              <a:rPr lang="en-US" altLang="zh-CN" sz="800" dirty="0"/>
              <a:t>《</a:t>
            </a:r>
            <a:r>
              <a:rPr lang="zh-CN" altLang="en-US" sz="800" dirty="0"/>
              <a:t>三个谜语</a:t>
            </a:r>
            <a:r>
              <a:rPr lang="en-US" altLang="zh-CN" sz="800" dirty="0"/>
              <a:t>》</a:t>
            </a:r>
            <a:r>
              <a:rPr lang="zh-CN" altLang="en-US" sz="800" dirty="0"/>
              <a:t>是一部“现代童话”？它基于传统题材，却由作曲家德特列夫</a:t>
            </a:r>
            <a:r>
              <a:rPr lang="en-US" altLang="zh-CN" sz="800" dirty="0"/>
              <a:t>·</a:t>
            </a:r>
            <a:r>
              <a:rPr lang="zh-CN" altLang="en-US" sz="800" dirty="0"/>
              <a:t>格拉纳特与剧作家卡洛</a:t>
            </a:r>
            <a:r>
              <a:rPr lang="en-US" altLang="zh-CN" sz="800" dirty="0"/>
              <a:t>·</a:t>
            </a:r>
            <a:r>
              <a:rPr lang="zh-CN" altLang="en-US" sz="800" dirty="0"/>
              <a:t>帕斯奎尼以</a:t>
            </a:r>
            <a:r>
              <a:rPr lang="en-US" altLang="zh-CN" sz="800" dirty="0"/>
              <a:t>21</a:t>
            </a:r>
            <a:r>
              <a:rPr lang="zh-CN" altLang="en-US" sz="800" dirty="0"/>
              <a:t>世纪的视角重新改写？</a:t>
            </a:r>
            <a:endParaRPr lang="en-US" altLang="zh-CN" sz="800" dirty="0"/>
          </a:p>
          <a:p>
            <a:br>
              <a:rPr lang="zh-CN" altLang="en-US" sz="800" dirty="0"/>
            </a:br>
            <a:r>
              <a:rPr lang="zh-CN" altLang="en-US" sz="800" b="1" dirty="0"/>
              <a:t>德提尔：</a:t>
            </a:r>
            <a:r>
              <a:rPr lang="zh-CN" altLang="en-US" sz="800" dirty="0"/>
              <a:t> 可以这么理解。比如开场的酒窖场景</a:t>
            </a:r>
            <a:r>
              <a:rPr lang="en-US" altLang="zh-CN" sz="800" dirty="0"/>
              <a:t>——</a:t>
            </a:r>
            <a:r>
              <a:rPr lang="zh-CN" altLang="en-US" sz="800" dirty="0"/>
              <a:t>一个充满贫困的环境，一位独自抚养孩子的母亲和她叛逆的儿子，常客们白天便借酒浇愁。这一幕被夸张地处理成近乎滑稽的场面，孩子们抽烟、喝酒、模仿并嘲笑大人。</a:t>
            </a:r>
            <a:endParaRPr lang="en-US" altLang="zh-CN" sz="800" dirty="0"/>
          </a:p>
          <a:p>
            <a:br>
              <a:rPr lang="zh-CN" altLang="en-US" sz="800" dirty="0"/>
            </a:br>
            <a:r>
              <a:rPr lang="zh-CN" altLang="en-US" sz="800" b="1" dirty="0"/>
              <a:t>哈努萨：</a:t>
            </a:r>
            <a:r>
              <a:rPr lang="zh-CN" altLang="en-US" sz="800" dirty="0"/>
              <a:t> 这正是“现代童话”的特征</a:t>
            </a:r>
            <a:r>
              <a:rPr lang="en-US" altLang="zh-CN" sz="800" dirty="0"/>
              <a:t>——</a:t>
            </a:r>
            <a:r>
              <a:rPr lang="zh-CN" altLang="en-US" sz="800" dirty="0"/>
              <a:t>既保留传统母题，又呈现社会现实的影子，以荒诞夸张的手法进入童话语境。</a:t>
            </a:r>
            <a:endParaRPr lang="en-US" altLang="zh-CN" sz="800" dirty="0"/>
          </a:p>
          <a:p>
            <a:br>
              <a:rPr lang="zh-CN" altLang="en-US" sz="800" dirty="0"/>
            </a:br>
            <a:r>
              <a:rPr lang="zh-CN" altLang="en-US" sz="800" b="1" dirty="0"/>
              <a:t>米特勒：</a:t>
            </a:r>
            <a:r>
              <a:rPr lang="zh-CN" altLang="en-US" sz="800" dirty="0"/>
              <a:t> 在服装设计上，我混合了不同时代的风格，比如运动鞋配中世纪盔甲，制造出一种超越时间的感觉。</a:t>
            </a:r>
            <a:endParaRPr lang="en-US" altLang="zh-CN" sz="800" dirty="0"/>
          </a:p>
          <a:p>
            <a:br>
              <a:rPr lang="zh-CN" altLang="en-US" sz="800" dirty="0"/>
            </a:br>
            <a:r>
              <a:rPr lang="zh-CN" altLang="en-US" sz="800" b="1" dirty="0"/>
              <a:t>德提尔：</a:t>
            </a:r>
            <a:r>
              <a:rPr lang="zh-CN" altLang="en-US" sz="800" dirty="0"/>
              <a:t> 这些人物都是“原型”，但原型容易变成“刻板印象”。例如那个肥胖愚笨的国王</a:t>
            </a:r>
            <a:r>
              <a:rPr lang="en-US" altLang="zh-CN" sz="800" dirty="0"/>
              <a:t>——</a:t>
            </a:r>
            <a:r>
              <a:rPr lang="zh-CN" altLang="en-US" sz="800" dirty="0"/>
              <a:t>我们今天还要这样表现吗？我们试图与饰演者菲利普</a:t>
            </a:r>
            <a:r>
              <a:rPr lang="en-US" altLang="zh-CN" sz="800" dirty="0"/>
              <a:t>·</a:t>
            </a:r>
            <a:r>
              <a:rPr lang="zh-CN" altLang="en-US" sz="800" dirty="0"/>
              <a:t>耶卡尔一起打破这个刻板印象，却发现最终只能带着自觉地去使用它。再比如拉索与莎拉达的关系。剧本前言写道他们的关系是“一次通往未知的初次出发”。我们希望他们更像朋友，而非传统的“王子与公主”。他们生活在一个没有童年的成人世界中，最终一起逃离，寻找一个更好的世界</a:t>
            </a:r>
            <a:r>
              <a:rPr lang="en-US" altLang="zh-CN" sz="800" dirty="0"/>
              <a:t>——</a:t>
            </a:r>
            <a:r>
              <a:rPr lang="zh-CN" altLang="en-US" sz="800" dirty="0"/>
              <a:t>一个成人世界无法给予他们的地方。这一点至今仍值得讲述。</a:t>
            </a:r>
            <a:endParaRPr lang="en-US" altLang="zh-CN" sz="800" dirty="0"/>
          </a:p>
          <a:p>
            <a:br>
              <a:rPr lang="zh-CN" altLang="en-US" sz="800" dirty="0"/>
            </a:br>
            <a:r>
              <a:rPr lang="zh-CN" altLang="en-US" sz="800" b="1" dirty="0"/>
              <a:t>米特勒：</a:t>
            </a:r>
            <a:r>
              <a:rPr lang="zh-CN" altLang="en-US" sz="800" dirty="0"/>
              <a:t> 我们决定有趣地“利用”这些刻板印象，始终带着幽默和自嘲，不让观众太当真。我喜欢夸张的表达。比如“肥胖国王”讽刺路易十四</a:t>
            </a:r>
            <a:r>
              <a:rPr lang="en-US" altLang="zh-CN" sz="800" dirty="0"/>
              <a:t>——</a:t>
            </a:r>
            <a:r>
              <a:rPr lang="zh-CN" altLang="en-US" sz="800" dirty="0"/>
              <a:t>穿着巨大的褶边衣服，一边走一边不停吃着巨大的“奶酪刺猬”，仆人端着盘子跟在后面。还有科学家们</a:t>
            </a:r>
            <a:r>
              <a:rPr lang="en-US" altLang="zh-CN" sz="800" dirty="0"/>
              <a:t>——</a:t>
            </a:r>
            <a:r>
              <a:rPr lang="zh-CN" altLang="en-US" sz="800" dirty="0"/>
              <a:t>他们戴着夸张的假发和眼镜，显然是在模仿“爱因斯坦式天才”的形象。</a:t>
            </a:r>
            <a:endParaRPr lang="en-US" altLang="zh-CN" sz="800" dirty="0"/>
          </a:p>
          <a:p>
            <a:br>
              <a:rPr lang="zh-CN" altLang="en-US" sz="800" dirty="0"/>
            </a:br>
            <a:r>
              <a:rPr lang="zh-CN" altLang="en-US" sz="800" b="1" dirty="0"/>
              <a:t>德提尔：</a:t>
            </a:r>
            <a:r>
              <a:rPr lang="zh-CN" altLang="en-US" sz="800" dirty="0"/>
              <a:t> 我们排练得出的结论是：成人的世界是一出滑稽剧，而孩子的世界不是。孩子在这场荒诞的狂欢中反而最真实。成年人生活在夸张和失真的世界里，而孩子依旧自然。</a:t>
            </a:r>
            <a:endParaRPr lang="en-US" altLang="zh-CN" sz="800" dirty="0"/>
          </a:p>
          <a:p>
            <a:br>
              <a:rPr lang="zh-CN" altLang="en-US" sz="800" dirty="0"/>
            </a:br>
            <a:r>
              <a:rPr lang="zh-CN" altLang="en-US" sz="800" b="1" dirty="0"/>
              <a:t>哈努萨：</a:t>
            </a:r>
            <a:r>
              <a:rPr lang="zh-CN" altLang="en-US" sz="800" dirty="0"/>
              <a:t> 与年轻演员的排练过程如何？</a:t>
            </a:r>
            <a:endParaRPr lang="en-US" altLang="zh-CN" sz="800" dirty="0"/>
          </a:p>
          <a:p>
            <a:br>
              <a:rPr lang="zh-CN" altLang="en-US" sz="800" dirty="0"/>
            </a:br>
            <a:r>
              <a:rPr lang="zh-CN" altLang="en-US" sz="800" b="1" dirty="0"/>
              <a:t>德提尔：</a:t>
            </a:r>
            <a:r>
              <a:rPr lang="zh-CN" altLang="en-US" sz="800" dirty="0"/>
              <a:t> 与儿童独唱演员、儿童合唱团和青年合唱团的合作对我来说极为特别。孩子们投入、好奇，还会认真质疑剧本。当然，与孩子合作要有不同的时间安排。由于双场演出和儿童保护规定，儿童独唱角色由四人轮换，合唱团也分两组。这意味着每场戏都要多次排练。比如饰演绞刑鸟的昌斯</a:t>
            </a:r>
            <a:r>
              <a:rPr lang="en-US" altLang="zh-CN" sz="800" dirty="0"/>
              <a:t>·</a:t>
            </a:r>
            <a:r>
              <a:rPr lang="zh-CN" altLang="en-US" sz="800" dirty="0"/>
              <a:t>乔纳斯</a:t>
            </a:r>
            <a:r>
              <a:rPr lang="en-US" altLang="zh-CN" sz="800" dirty="0"/>
              <a:t>-</a:t>
            </a:r>
            <a:r>
              <a:rPr lang="zh-CN" altLang="en-US" sz="800" dirty="0"/>
              <a:t>奥图尔只有一个，他要和四个不同的拉索分别排同样的戏</a:t>
            </a:r>
            <a:r>
              <a:rPr lang="en-US" altLang="zh-CN" sz="800" dirty="0"/>
              <a:t>——</a:t>
            </a:r>
            <a:r>
              <a:rPr lang="zh-CN" altLang="en-US" sz="800" dirty="0"/>
              <a:t>他以极大耐心完成了这一切。当然，与孩子合作总有不可预测性。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C0A83-931D-3763-F65D-60138B7A6CA3}"/>
              </a:ext>
            </a:extLst>
          </p:cNvPr>
          <p:cNvSpPr txBox="1"/>
          <p:nvPr/>
        </p:nvSpPr>
        <p:spPr>
          <a:xfrm>
            <a:off x="4952338" y="0"/>
            <a:ext cx="49536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zh-CN" altLang="en-US" sz="800" dirty="0"/>
            </a:br>
            <a:r>
              <a:rPr lang="zh-CN" altLang="en-US" sz="800" b="1" dirty="0"/>
              <a:t>米特勒：</a:t>
            </a:r>
            <a:r>
              <a:rPr lang="zh-CN" altLang="en-US" sz="800" dirty="0"/>
              <a:t> 在服装方面也是</a:t>
            </a:r>
            <a:r>
              <a:rPr lang="en-US" altLang="zh-CN" sz="800" dirty="0"/>
              <a:t>——</a:t>
            </a:r>
            <a:r>
              <a:rPr lang="zh-CN" altLang="en-US" sz="800" dirty="0"/>
              <a:t>我们不知道到二月的演出时要准备多少新鞋新裤，因为孩子们可能半年就长大了（笑）。</a:t>
            </a:r>
            <a:br>
              <a:rPr lang="zh-CN" altLang="en-US" sz="800" dirty="0"/>
            </a:br>
            <a:r>
              <a:rPr lang="zh-CN" altLang="en-US" sz="800" b="1" dirty="0"/>
              <a:t>德提尔：</a:t>
            </a:r>
            <a:r>
              <a:rPr lang="zh-CN" altLang="en-US" sz="800" dirty="0"/>
              <a:t> 在表演上，孩子们也带来不同的基础和成长速度。但成年演员们都以极大的热情与理解支持他们，陪伴他们走向首演。</a:t>
            </a:r>
          </a:p>
        </p:txBody>
      </p:sp>
    </p:spTree>
    <p:extLst>
      <p:ext uri="{BB962C8B-B14F-4D97-AF65-F5344CB8AC3E}">
        <p14:creationId xmlns:p14="http://schemas.microsoft.com/office/powerpoint/2010/main" val="2762515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8778</Words>
  <Application>Microsoft Macintosh PowerPoint</Application>
  <PresentationFormat>A4 Paper (210x297 mm)</PresentationFormat>
  <Paragraphs>169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Bai, Zehui</dc:creator>
  <cp:lastModifiedBy>Zehui Bai</cp:lastModifiedBy>
  <cp:revision>132</cp:revision>
  <cp:lastPrinted>2025-10-18T11:51:51Z</cp:lastPrinted>
  <dcterms:created xsi:type="dcterms:W3CDTF">2022-11-07T20:45:57Z</dcterms:created>
  <dcterms:modified xsi:type="dcterms:W3CDTF">2025-10-18T11:53:23Z</dcterms:modified>
</cp:coreProperties>
</file>