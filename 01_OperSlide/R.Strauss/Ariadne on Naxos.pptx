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499" r:id="rId2"/>
    <p:sldId id="500" r:id="rId3"/>
    <p:sldId id="498" r:id="rId4"/>
  </p:sldIdLst>
  <p:sldSz cx="9906000" cy="6858000" type="A4"/>
  <p:notesSz cx="6797675" cy="99266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O Berlin" id="{DF39317A-B6D4-481A-B003-0D3F30EF3558}">
          <p14:sldIdLst>
            <p14:sldId id="499"/>
            <p14:sldId id="500"/>
            <p14:sldId id="498"/>
          </p14:sldIdLst>
        </p14:section>
      </p14:sectionLst>
    </p:ext>
    <p:ext uri="{EFAFB233-063F-42B5-8137-9DF3F51BA10A}">
      <p15:sldGuideLst xmlns:p15="http://schemas.microsoft.com/office/powerpoint/2012/main">
        <p15:guide id="1" orient="horz" pos="2160" userDrawn="1">
          <p15:clr>
            <a:srgbClr val="A4A3A4"/>
          </p15:clr>
        </p15:guide>
        <p15:guide id="2" pos="312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6F8B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25" autoAdjust="0"/>
    <p:restoredTop sz="94660"/>
  </p:normalViewPr>
  <p:slideViewPr>
    <p:cSldViewPr snapToGrid="0">
      <p:cViewPr varScale="1">
        <p:scale>
          <a:sx n="109" d="100"/>
          <a:sy n="109" d="100"/>
        </p:scale>
        <p:origin x="1344" y="192"/>
      </p:cViewPr>
      <p:guideLst>
        <p:guide orient="horz" pos="2160"/>
        <p:guide pos="312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1" y="1"/>
            <a:ext cx="2945406" cy="497333"/>
          </a:xfrm>
          <a:prstGeom prst="rect">
            <a:avLst/>
          </a:prstGeom>
        </p:spPr>
        <p:txBody>
          <a:bodyPr vert="horz" lIns="88194" tIns="44097" rIns="88194" bIns="44097" rtlCol="0"/>
          <a:lstStyle>
            <a:lvl1pPr algn="l">
              <a:defRPr sz="1200"/>
            </a:lvl1pPr>
          </a:lstStyle>
          <a:p>
            <a:endParaRPr lang="en-US"/>
          </a:p>
        </p:txBody>
      </p:sp>
      <p:sp>
        <p:nvSpPr>
          <p:cNvPr id="3" name="Datumsplatzhalter 2"/>
          <p:cNvSpPr>
            <a:spLocks noGrp="1"/>
          </p:cNvSpPr>
          <p:nvPr>
            <p:ph type="dt" idx="1"/>
          </p:nvPr>
        </p:nvSpPr>
        <p:spPr>
          <a:xfrm>
            <a:off x="3850750" y="1"/>
            <a:ext cx="2945405" cy="497333"/>
          </a:xfrm>
          <a:prstGeom prst="rect">
            <a:avLst/>
          </a:prstGeom>
        </p:spPr>
        <p:txBody>
          <a:bodyPr vert="horz" lIns="88194" tIns="44097" rIns="88194" bIns="44097" rtlCol="0"/>
          <a:lstStyle>
            <a:lvl1pPr algn="r">
              <a:defRPr sz="1200"/>
            </a:lvl1pPr>
          </a:lstStyle>
          <a:p>
            <a:fld id="{1E980196-448A-481A-8A1B-A58FF56D8844}" type="datetimeFigureOut">
              <a:rPr lang="en-US" smtClean="0"/>
              <a:t>11/16/25</a:t>
            </a:fld>
            <a:endParaRPr lang="en-US"/>
          </a:p>
        </p:txBody>
      </p:sp>
      <p:sp>
        <p:nvSpPr>
          <p:cNvPr id="4" name="Folienbildplatzhalter 3"/>
          <p:cNvSpPr>
            <a:spLocks noGrp="1" noRot="1" noChangeAspect="1"/>
          </p:cNvSpPr>
          <p:nvPr>
            <p:ph type="sldImg" idx="2"/>
          </p:nvPr>
        </p:nvSpPr>
        <p:spPr>
          <a:xfrm>
            <a:off x="981075" y="1241425"/>
            <a:ext cx="4837113" cy="3349625"/>
          </a:xfrm>
          <a:prstGeom prst="rect">
            <a:avLst/>
          </a:prstGeom>
          <a:noFill/>
          <a:ln w="12700">
            <a:solidFill>
              <a:prstClr val="black"/>
            </a:solidFill>
          </a:ln>
        </p:spPr>
        <p:txBody>
          <a:bodyPr vert="horz" lIns="88194" tIns="44097" rIns="88194" bIns="44097" rtlCol="0" anchor="ctr"/>
          <a:lstStyle/>
          <a:p>
            <a:endParaRPr lang="en-US"/>
          </a:p>
        </p:txBody>
      </p:sp>
      <p:sp>
        <p:nvSpPr>
          <p:cNvPr id="5" name="Notizenplatzhalter 4"/>
          <p:cNvSpPr>
            <a:spLocks noGrp="1"/>
          </p:cNvSpPr>
          <p:nvPr>
            <p:ph type="body" sz="quarter" idx="3"/>
          </p:nvPr>
        </p:nvSpPr>
        <p:spPr>
          <a:xfrm>
            <a:off x="680527" y="4777782"/>
            <a:ext cx="5438140" cy="3907834"/>
          </a:xfrm>
          <a:prstGeom prst="rect">
            <a:avLst/>
          </a:prstGeom>
        </p:spPr>
        <p:txBody>
          <a:bodyPr vert="horz" lIns="88194" tIns="44097" rIns="88194" bIns="44097" rtlCol="0"/>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a:p>
        </p:txBody>
      </p:sp>
      <p:sp>
        <p:nvSpPr>
          <p:cNvPr id="6" name="Fußzeilenplatzhalter 5"/>
          <p:cNvSpPr>
            <a:spLocks noGrp="1"/>
          </p:cNvSpPr>
          <p:nvPr>
            <p:ph type="ftr" sz="quarter" idx="4"/>
          </p:nvPr>
        </p:nvSpPr>
        <p:spPr>
          <a:xfrm>
            <a:off x="1" y="9429305"/>
            <a:ext cx="2945406" cy="497333"/>
          </a:xfrm>
          <a:prstGeom prst="rect">
            <a:avLst/>
          </a:prstGeom>
        </p:spPr>
        <p:txBody>
          <a:bodyPr vert="horz" lIns="88194" tIns="44097" rIns="88194" bIns="44097" rtlCol="0" anchor="b"/>
          <a:lstStyle>
            <a:lvl1pPr algn="l">
              <a:defRPr sz="1200"/>
            </a:lvl1pPr>
          </a:lstStyle>
          <a:p>
            <a:endParaRPr lang="en-US"/>
          </a:p>
        </p:txBody>
      </p:sp>
      <p:sp>
        <p:nvSpPr>
          <p:cNvPr id="7" name="Foliennummernplatzhalter 6"/>
          <p:cNvSpPr>
            <a:spLocks noGrp="1"/>
          </p:cNvSpPr>
          <p:nvPr>
            <p:ph type="sldNum" sz="quarter" idx="5"/>
          </p:nvPr>
        </p:nvSpPr>
        <p:spPr>
          <a:xfrm>
            <a:off x="3850750" y="9429305"/>
            <a:ext cx="2945405" cy="497333"/>
          </a:xfrm>
          <a:prstGeom prst="rect">
            <a:avLst/>
          </a:prstGeom>
        </p:spPr>
        <p:txBody>
          <a:bodyPr vert="horz" lIns="88194" tIns="44097" rIns="88194" bIns="44097" rtlCol="0" anchor="b"/>
          <a:lstStyle>
            <a:lvl1pPr algn="r">
              <a:defRPr sz="1200"/>
            </a:lvl1pPr>
          </a:lstStyle>
          <a:p>
            <a:fld id="{B552DB39-1987-4DDB-8E06-96607888F454}" type="slidenum">
              <a:rPr lang="en-US" smtClean="0"/>
              <a:t>‹#›</a:t>
            </a:fld>
            <a:endParaRPr lang="en-US"/>
          </a:p>
        </p:txBody>
      </p:sp>
    </p:spTree>
    <p:extLst>
      <p:ext uri="{BB962C8B-B14F-4D97-AF65-F5344CB8AC3E}">
        <p14:creationId xmlns:p14="http://schemas.microsoft.com/office/powerpoint/2010/main" val="181813610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de-DE"/>
              <a:t>Mastertitelformat bearbeiten</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Master-Untertitelformat bearbeiten</a:t>
            </a:r>
            <a:endParaRPr lang="en-US" dirty="0"/>
          </a:p>
        </p:txBody>
      </p:sp>
      <p:sp>
        <p:nvSpPr>
          <p:cNvPr id="4" name="Date Placeholder 3"/>
          <p:cNvSpPr>
            <a:spLocks noGrp="1"/>
          </p:cNvSpPr>
          <p:nvPr>
            <p:ph type="dt" sz="half" idx="10"/>
          </p:nvPr>
        </p:nvSpPr>
        <p:spPr/>
        <p:txBody>
          <a:bodyPr/>
          <a:lstStyle/>
          <a:p>
            <a:fld id="{F63CEDD3-0525-4453-AC94-ABA54727821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1619785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idx="1"/>
          </p:nvPr>
        </p:nvSpPr>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63CEDD3-0525-4453-AC94-ABA54727821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9434809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de-DE"/>
              <a:t>Mastertitelformat bearbeiten</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Mastertextformat bearbeiten</a:t>
            </a:r>
          </a:p>
        </p:txBody>
      </p:sp>
      <p:sp>
        <p:nvSpPr>
          <p:cNvPr id="4" name="Date Placeholder 3"/>
          <p:cNvSpPr>
            <a:spLocks noGrp="1"/>
          </p:cNvSpPr>
          <p:nvPr>
            <p:ph type="dt" sz="half" idx="10"/>
          </p:nvPr>
        </p:nvSpPr>
        <p:spPr/>
        <p:txBody>
          <a:bodyPr/>
          <a:lstStyle/>
          <a:p>
            <a:fld id="{F63CEDD3-0525-4453-AC94-ABA54727821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7572349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Date Placeholder 4"/>
          <p:cNvSpPr>
            <a:spLocks noGrp="1"/>
          </p:cNvSpPr>
          <p:nvPr>
            <p:ph type="dt" sz="half" idx="10"/>
          </p:nvPr>
        </p:nvSpPr>
        <p:spPr/>
        <p:txBody>
          <a:bodyPr/>
          <a:lstStyle/>
          <a:p>
            <a:fld id="{F63CEDD3-0525-4453-AC94-ABA547278219}"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22458102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7"/>
            <a:ext cx="8543925" cy="1325563"/>
          </a:xfrm>
        </p:spPr>
        <p:txBody>
          <a:bodyPr/>
          <a:lstStyle/>
          <a:p>
            <a:r>
              <a:rPr lang="de-DE"/>
              <a:t>Mastertitelformat bearbeiten</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4" name="Content Placeholder 3"/>
          <p:cNvSpPr>
            <a:spLocks noGrp="1"/>
          </p:cNvSpPr>
          <p:nvPr>
            <p:ph sz="half" idx="2"/>
          </p:nvPr>
        </p:nvSpPr>
        <p:spPr>
          <a:xfrm>
            <a:off x="682329" y="2505075"/>
            <a:ext cx="4190702"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Mastertextformat bearbeiten</a:t>
            </a:r>
          </a:p>
        </p:txBody>
      </p:sp>
      <p:sp>
        <p:nvSpPr>
          <p:cNvPr id="6" name="Content Placeholder 5"/>
          <p:cNvSpPr>
            <a:spLocks noGrp="1"/>
          </p:cNvSpPr>
          <p:nvPr>
            <p:ph sz="quarter" idx="4"/>
          </p:nvPr>
        </p:nvSpPr>
        <p:spPr>
          <a:xfrm>
            <a:off x="5014913" y="2505075"/>
            <a:ext cx="4211340" cy="3684588"/>
          </a:xfrm>
        </p:spPr>
        <p:txBody>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7" name="Date Placeholder 6"/>
          <p:cNvSpPr>
            <a:spLocks noGrp="1"/>
          </p:cNvSpPr>
          <p:nvPr>
            <p:ph type="dt" sz="half" idx="10"/>
          </p:nvPr>
        </p:nvSpPr>
        <p:spPr/>
        <p:txBody>
          <a:bodyPr/>
          <a:lstStyle/>
          <a:p>
            <a:fld id="{F63CEDD3-0525-4453-AC94-ABA547278219}" type="datetimeFigureOut">
              <a:rPr lang="en-US" smtClean="0"/>
              <a:t>11/16/25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179939066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Date Placeholder 2"/>
          <p:cNvSpPr>
            <a:spLocks noGrp="1"/>
          </p:cNvSpPr>
          <p:nvPr>
            <p:ph type="dt" sz="half" idx="10"/>
          </p:nvPr>
        </p:nvSpPr>
        <p:spPr/>
        <p:txBody>
          <a:bodyPr/>
          <a:lstStyle/>
          <a:p>
            <a:fld id="{F63CEDD3-0525-4453-AC94-ABA547278219}" type="datetimeFigureOut">
              <a:rPr lang="en-US" smtClean="0"/>
              <a:t>11/16/25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641272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63CEDD3-0525-4453-AC94-ABA547278219}" type="datetimeFigureOut">
              <a:rPr lang="en-US" smtClean="0"/>
              <a:t>11/16/25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486921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de-DE"/>
              <a:t>Mastertitelformat bearbeiten</a:t>
            </a:r>
            <a:endParaRPr lang="en-US" dirty="0"/>
          </a:p>
        </p:txBody>
      </p:sp>
      <p:sp>
        <p:nvSpPr>
          <p:cNvPr id="3" name="Content Placeholder 2"/>
          <p:cNvSpPr>
            <a:spLocks noGrp="1"/>
          </p:cNvSpPr>
          <p:nvPr>
            <p:ph idx="1"/>
          </p:nvPr>
        </p:nvSpPr>
        <p:spPr>
          <a:xfrm>
            <a:off x="4211340" y="987427"/>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F63CEDD3-0525-4453-AC94-ABA547278219}"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3002366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de-DE"/>
              <a:t>Mastertitelformat bearbeiten</a:t>
            </a:r>
            <a:endParaRPr lang="en-US" dirty="0"/>
          </a:p>
        </p:txBody>
      </p:sp>
      <p:sp>
        <p:nvSpPr>
          <p:cNvPr id="3" name="Picture Placeholder 2"/>
          <p:cNvSpPr>
            <a:spLocks noGrp="1" noChangeAspect="1"/>
          </p:cNvSpPr>
          <p:nvPr>
            <p:ph type="pic" idx="1"/>
          </p:nvPr>
        </p:nvSpPr>
        <p:spPr>
          <a:xfrm>
            <a:off x="4211340" y="987427"/>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de-DE"/>
              <a:t>Bild durch Klicken auf Symbol hinzufügen</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Mastertextformat bearbeiten</a:t>
            </a:r>
          </a:p>
        </p:txBody>
      </p:sp>
      <p:sp>
        <p:nvSpPr>
          <p:cNvPr id="5" name="Date Placeholder 4"/>
          <p:cNvSpPr>
            <a:spLocks noGrp="1"/>
          </p:cNvSpPr>
          <p:nvPr>
            <p:ph type="dt" sz="half" idx="10"/>
          </p:nvPr>
        </p:nvSpPr>
        <p:spPr/>
        <p:txBody>
          <a:bodyPr/>
          <a:lstStyle/>
          <a:p>
            <a:fld id="{F63CEDD3-0525-4453-AC94-ABA547278219}" type="datetimeFigureOut">
              <a:rPr lang="en-US" smtClean="0"/>
              <a:t>11/16/25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357067677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de-DE"/>
              <a:t>Mastertitelformat bearbeiten</a:t>
            </a:r>
            <a:endParaRPr lang="en-US" dirty="0"/>
          </a:p>
        </p:txBody>
      </p:sp>
      <p:sp>
        <p:nvSpPr>
          <p:cNvPr id="3" name="Vertical Text Placeholder 2"/>
          <p:cNvSpPr>
            <a:spLocks noGrp="1"/>
          </p:cNvSpPr>
          <p:nvPr>
            <p:ph type="body" orient="vert" idx="1"/>
          </p:nvPr>
        </p:nvSpPr>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63CEDD3-0525-4453-AC94-ABA54727821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140998573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de-DE"/>
              <a:t>Mastertitelformat bearbeiten</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10"/>
          </p:nvPr>
        </p:nvSpPr>
        <p:spPr/>
        <p:txBody>
          <a:bodyPr/>
          <a:lstStyle/>
          <a:p>
            <a:fld id="{F63CEDD3-0525-4453-AC94-ABA547278219}" type="datetimeFigureOut">
              <a:rPr lang="en-US" smtClean="0"/>
              <a:t>11/16/25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B383C20-71CB-4325-A0DB-27D93BA0293C}" type="slidenum">
              <a:rPr lang="en-US" smtClean="0"/>
              <a:t>‹#›</a:t>
            </a:fld>
            <a:endParaRPr lang="en-US"/>
          </a:p>
        </p:txBody>
      </p:sp>
    </p:spTree>
    <p:extLst>
      <p:ext uri="{BB962C8B-B14F-4D97-AF65-F5344CB8AC3E}">
        <p14:creationId xmlns:p14="http://schemas.microsoft.com/office/powerpoint/2010/main" val="188317051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7"/>
            <a:ext cx="8543925" cy="1325563"/>
          </a:xfrm>
          <a:prstGeom prst="rect">
            <a:avLst/>
          </a:prstGeom>
        </p:spPr>
        <p:txBody>
          <a:bodyPr vert="horz" lIns="91440" tIns="45720" rIns="91440" bIns="45720" rtlCol="0" anchor="ctr">
            <a:normAutofit/>
          </a:bodyPr>
          <a:lstStyle/>
          <a:p>
            <a:r>
              <a:rPr lang="de-DE"/>
              <a:t>Mastertitelformat bearbeiten</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de-DE"/>
              <a:t>Mastertextformat bearbeiten</a:t>
            </a:r>
          </a:p>
          <a:p>
            <a:pPr lvl="1"/>
            <a:r>
              <a:rPr lang="de-DE"/>
              <a:t>Zweite Ebene</a:t>
            </a:r>
          </a:p>
          <a:p>
            <a:pPr lvl="2"/>
            <a:r>
              <a:rPr lang="de-DE"/>
              <a:t>Dritte Ebene</a:t>
            </a:r>
          </a:p>
          <a:p>
            <a:pPr lvl="3"/>
            <a:r>
              <a:rPr lang="de-DE"/>
              <a:t>Vierte Ebene</a:t>
            </a:r>
          </a:p>
          <a:p>
            <a:pPr lvl="4"/>
            <a:r>
              <a:rPr lang="de-DE"/>
              <a:t>Fünfte Ebene</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63CEDD3-0525-4453-AC94-ABA547278219}" type="datetimeFigureOut">
              <a:rPr lang="en-US" smtClean="0"/>
              <a:t>11/16/25</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B383C20-71CB-4325-A0DB-27D93BA0293C}" type="slidenum">
              <a:rPr lang="en-US" smtClean="0"/>
              <a:t>‹#›</a:t>
            </a:fld>
            <a:endParaRPr lang="en-US"/>
          </a:p>
        </p:txBody>
      </p:sp>
    </p:spTree>
    <p:extLst>
      <p:ext uri="{BB962C8B-B14F-4D97-AF65-F5344CB8AC3E}">
        <p14:creationId xmlns:p14="http://schemas.microsoft.com/office/powerpoint/2010/main" val="230092261"/>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5409E3A1-F10C-E772-4697-5B4CE3D34559}"/>
              </a:ext>
            </a:extLst>
          </p:cNvPr>
          <p:cNvSpPr txBox="1"/>
          <p:nvPr/>
        </p:nvSpPr>
        <p:spPr>
          <a:xfrm>
            <a:off x="4953000" y="12680"/>
            <a:ext cx="4648200" cy="3293209"/>
          </a:xfrm>
          <a:prstGeom prst="rect">
            <a:avLst/>
          </a:prstGeom>
          <a:noFill/>
        </p:spPr>
        <p:txBody>
          <a:bodyPr wrap="square">
            <a:spAutoFit/>
          </a:bodyPr>
          <a:lstStyle/>
          <a:p>
            <a:r>
              <a:rPr lang="zh-CN" altLang="en-US" sz="800" dirty="0"/>
              <a:t>我们并未改变霍夫曼斯塔尔的主线，也没有把作品切成“为阿丽亚德涅故事做准备的部分”和“讲她的正歌”。前奏中的人物，之后也不会“变身”为别的人物</a:t>
            </a:r>
            <a:r>
              <a:rPr lang="en-US" altLang="zh-CN" sz="800" dirty="0"/>
              <a:t>——</a:t>
            </a:r>
            <a:r>
              <a:rPr lang="zh-CN" altLang="en-US" sz="800" dirty="0"/>
              <a:t>他们始终是“同一批人”，只是在不断发展之中。我们努力摆脱前奏里那些漫画式的角色</a:t>
            </a:r>
            <a:r>
              <a:rPr lang="en-US" altLang="zh-CN" sz="800" dirty="0"/>
              <a:t>——</a:t>
            </a:r>
            <a:r>
              <a:rPr lang="zh-CN" altLang="en-US" sz="800" dirty="0"/>
              <a:t>携着舞台随从登场的各路花腔女高音和男高音。放到今天，这种处理只会像一部愚蠢的情景喜剧。</a:t>
            </a:r>
          </a:p>
          <a:p>
            <a:pPr>
              <a:buNone/>
            </a:pPr>
            <a:endParaRPr lang="en-US" altLang="zh-CN" sz="800" b="1" dirty="0"/>
          </a:p>
          <a:p>
            <a:pPr>
              <a:buNone/>
            </a:pPr>
            <a:r>
              <a:rPr lang="zh-CN" altLang="en-US" sz="800" b="1" dirty="0"/>
              <a:t>这是你在汉堡的第三部施特劳斯作品。与</a:t>
            </a:r>
            <a:r>
              <a:rPr lang="en-US" altLang="zh-CN" sz="800" b="1" dirty="0"/>
              <a:t>《</a:t>
            </a:r>
            <a:r>
              <a:rPr lang="zh-CN" altLang="en-US" sz="800" b="1" dirty="0"/>
              <a:t>埃莱克特拉</a:t>
            </a:r>
            <a:r>
              <a:rPr lang="en-US" altLang="zh-CN" sz="800" b="1" dirty="0"/>
              <a:t>》《</a:t>
            </a:r>
            <a:r>
              <a:rPr lang="zh-CN" altLang="en-US" sz="800" b="1" dirty="0"/>
              <a:t>莎乐美</a:t>
            </a:r>
            <a:r>
              <a:rPr lang="en-US" altLang="zh-CN" sz="800" b="1" dirty="0"/>
              <a:t>》</a:t>
            </a:r>
            <a:r>
              <a:rPr lang="zh-CN" altLang="en-US" sz="800" b="1" dirty="0"/>
              <a:t>相比，你怎么看</a:t>
            </a:r>
            <a:r>
              <a:rPr lang="en-US" altLang="zh-CN" sz="800" b="1" dirty="0"/>
              <a:t>《</a:t>
            </a:r>
            <a:r>
              <a:rPr lang="zh-CN" altLang="en-US" sz="800" b="1" dirty="0"/>
              <a:t>阿丽亚德涅</a:t>
            </a:r>
            <a:r>
              <a:rPr lang="en-US" altLang="zh-CN" sz="800" b="1" dirty="0"/>
              <a:t>》</a:t>
            </a:r>
            <a:r>
              <a:rPr lang="zh-CN" altLang="en-US" sz="800" b="1" dirty="0"/>
              <a:t>？</a:t>
            </a:r>
            <a:endParaRPr lang="zh-CN" altLang="en-US" sz="800" dirty="0"/>
          </a:p>
          <a:p>
            <a:pPr>
              <a:buNone/>
            </a:pPr>
            <a:r>
              <a:rPr lang="zh-CN" altLang="en-US" sz="800" dirty="0"/>
              <a:t>因为我把这三部歌剧连续、并在同一舞台上制作，自然会在它们之间发现一些重要的交叉和共通的故事线。当然，</a:t>
            </a:r>
            <a:r>
              <a:rPr lang="en-US" altLang="zh-CN" sz="800" dirty="0"/>
              <a:t>《</a:t>
            </a:r>
            <a:r>
              <a:rPr lang="zh-CN" altLang="en-US" sz="800" dirty="0"/>
              <a:t>阿丽亚德涅</a:t>
            </a:r>
            <a:r>
              <a:rPr lang="en-US" altLang="zh-CN" sz="800" dirty="0"/>
              <a:t>》</a:t>
            </a:r>
            <a:r>
              <a:rPr lang="zh-CN" altLang="en-US" sz="800" dirty="0"/>
              <a:t>在音乐与美学上走向不同于</a:t>
            </a:r>
            <a:r>
              <a:rPr lang="en-US" altLang="zh-CN" sz="800" dirty="0"/>
              <a:t>《</a:t>
            </a:r>
            <a:r>
              <a:rPr lang="zh-CN" altLang="en-US" sz="800" dirty="0"/>
              <a:t>莎乐美</a:t>
            </a:r>
            <a:r>
              <a:rPr lang="en-US" altLang="zh-CN" sz="800" dirty="0"/>
              <a:t>》《</a:t>
            </a:r>
            <a:r>
              <a:rPr lang="zh-CN" altLang="en-US" sz="800" dirty="0"/>
              <a:t>埃莱克特拉</a:t>
            </a:r>
            <a:r>
              <a:rPr lang="en-US" altLang="zh-CN" sz="800" dirty="0"/>
              <a:t>》</a:t>
            </a:r>
            <a:r>
              <a:rPr lang="zh-CN" altLang="en-US" sz="800" dirty="0"/>
              <a:t>的方向；但三者都聚焦于“私人领域里的家庭肖像”。此外，</a:t>
            </a:r>
            <a:r>
              <a:rPr lang="en-US" altLang="zh-CN" sz="800" dirty="0"/>
              <a:t>《</a:t>
            </a:r>
            <a:r>
              <a:rPr lang="zh-CN" altLang="en-US" sz="800" dirty="0"/>
              <a:t>埃莱克特拉</a:t>
            </a:r>
            <a:r>
              <a:rPr lang="en-US" altLang="zh-CN" sz="800" dirty="0"/>
              <a:t>》</a:t>
            </a:r>
            <a:r>
              <a:rPr lang="zh-CN" altLang="en-US" sz="800" dirty="0"/>
              <a:t>和</a:t>
            </a:r>
            <a:r>
              <a:rPr lang="en-US" altLang="zh-CN" sz="800" dirty="0"/>
              <a:t>《</a:t>
            </a:r>
            <a:r>
              <a:rPr lang="zh-CN" altLang="en-US" sz="800" dirty="0"/>
              <a:t>莎乐美</a:t>
            </a:r>
            <a:r>
              <a:rPr lang="en-US" altLang="zh-CN" sz="800" dirty="0"/>
              <a:t>》</a:t>
            </a:r>
            <a:r>
              <a:rPr lang="zh-CN" altLang="en-US" sz="800" dirty="0"/>
              <a:t>都呈现了“母</a:t>
            </a:r>
            <a:r>
              <a:rPr lang="en-US" altLang="zh-CN" sz="800" dirty="0"/>
              <a:t>—</a:t>
            </a:r>
            <a:r>
              <a:rPr lang="zh-CN" altLang="en-US" sz="800" dirty="0"/>
              <a:t>女</a:t>
            </a:r>
            <a:r>
              <a:rPr lang="en-US" altLang="zh-CN" sz="800" dirty="0"/>
              <a:t>—</a:t>
            </a:r>
            <a:r>
              <a:rPr lang="zh-CN" altLang="en-US" sz="800" dirty="0"/>
              <a:t>继父”三角关系的家族心理。</a:t>
            </a:r>
            <a:r>
              <a:rPr lang="en-US" altLang="zh-CN" sz="800" dirty="0"/>
              <a:t>《</a:t>
            </a:r>
            <a:r>
              <a:rPr lang="zh-CN" altLang="en-US" sz="800" dirty="0"/>
              <a:t>阿丽亚德涅</a:t>
            </a:r>
            <a:r>
              <a:rPr lang="en-US" altLang="zh-CN" sz="800" dirty="0"/>
              <a:t>》</a:t>
            </a:r>
            <a:r>
              <a:rPr lang="zh-CN" altLang="en-US" sz="800" dirty="0"/>
              <a:t>的戏剧则更接近契诃夫与英格玛</a:t>
            </a:r>
            <a:r>
              <a:rPr lang="en-US" altLang="zh-CN" sz="800" dirty="0"/>
              <a:t>·</a:t>
            </a:r>
            <a:r>
              <a:rPr lang="zh-CN" altLang="en-US" sz="800" dirty="0"/>
              <a:t>伯格曼。为此，这个制作需要在某个时点实现某种“概括化”</a:t>
            </a:r>
            <a:r>
              <a:rPr lang="en-US" altLang="zh-CN" sz="800" dirty="0"/>
              <a:t>——</a:t>
            </a:r>
            <a:r>
              <a:rPr lang="zh-CN" altLang="en-US" sz="800" dirty="0"/>
              <a:t>超脱原有情节，对人物施以某种“悬浮”，以便说出更重要的东西。</a:t>
            </a:r>
          </a:p>
          <a:p>
            <a:pPr>
              <a:buNone/>
            </a:pPr>
            <a:endParaRPr lang="zh-CN" altLang="en-US" sz="800" dirty="0"/>
          </a:p>
          <a:p>
            <a:pPr>
              <a:buNone/>
            </a:pPr>
            <a:r>
              <a:rPr lang="zh-CN" altLang="en-US" sz="800" b="1" dirty="0"/>
              <a:t>在这次</a:t>
            </a:r>
            <a:r>
              <a:rPr lang="en-US" altLang="zh-CN" sz="800" b="1" dirty="0"/>
              <a:t>《</a:t>
            </a:r>
            <a:r>
              <a:rPr lang="zh-CN" altLang="en-US" sz="800" b="1" dirty="0"/>
              <a:t>阿丽亚德涅</a:t>
            </a:r>
            <a:r>
              <a:rPr lang="en-US" altLang="zh-CN" sz="800" b="1" dirty="0"/>
              <a:t>》</a:t>
            </a:r>
            <a:r>
              <a:rPr lang="zh-CN" altLang="en-US" sz="800" b="1" dirty="0"/>
              <a:t>中，这种“家族”如何具体呈现？</a:t>
            </a:r>
            <a:endParaRPr lang="zh-CN" altLang="en-US" sz="800" dirty="0"/>
          </a:p>
          <a:p>
            <a:pPr>
              <a:buNone/>
            </a:pPr>
            <a:r>
              <a:rPr lang="zh-CN" altLang="en-US" sz="800" dirty="0"/>
              <a:t>这次同样关于“一个家庭”，但与前两部完全不同。这个家庭很庞大，内部关系有着复杂的等级体系。观众会逐渐了解这些家庭关系；许多人物彼此关联，是通过出人意料的新组合联系在一起的。</a:t>
            </a:r>
          </a:p>
          <a:p>
            <a:pPr>
              <a:buNone/>
            </a:pPr>
            <a:endParaRPr lang="zh-CN" altLang="en-US" sz="800" dirty="0"/>
          </a:p>
          <a:p>
            <a:pPr>
              <a:buNone/>
            </a:pPr>
            <a:r>
              <a:rPr lang="zh-CN" altLang="en-US" sz="800" b="1" dirty="0"/>
              <a:t>作品把“喜剧伶人剧（</a:t>
            </a:r>
            <a:r>
              <a:rPr lang="en-GB" sz="800" b="1" dirty="0"/>
              <a:t>commedia dell’arte）、</a:t>
            </a:r>
            <a:r>
              <a:rPr lang="zh-CN" altLang="en-US" sz="800" b="1" dirty="0"/>
              <a:t>正歌剧（</a:t>
            </a:r>
            <a:r>
              <a:rPr lang="en-GB" sz="800" b="1" dirty="0"/>
              <a:t>opera seria）、</a:t>
            </a:r>
            <a:r>
              <a:rPr lang="zh-CN" altLang="en-US" sz="800" b="1" dirty="0"/>
              <a:t>喜歌剧（</a:t>
            </a:r>
            <a:r>
              <a:rPr lang="en-GB" sz="800" b="1" dirty="0"/>
              <a:t>opera buffa）”</a:t>
            </a:r>
            <a:r>
              <a:rPr lang="zh-CN" altLang="en-US" sz="800" b="1" dirty="0"/>
              <a:t>等不同传统的人物与体裁杂糅在一起。你如何处理这种“高</a:t>
            </a:r>
            <a:r>
              <a:rPr lang="en-US" altLang="zh-CN" sz="800" b="1" dirty="0"/>
              <a:t>/</a:t>
            </a:r>
            <a:r>
              <a:rPr lang="zh-CN" altLang="en-US" sz="800" b="1" dirty="0"/>
              <a:t>低”的对置？</a:t>
            </a:r>
            <a:endParaRPr lang="zh-CN" altLang="en-US" sz="800" dirty="0"/>
          </a:p>
          <a:p>
            <a:pPr>
              <a:buNone/>
            </a:pPr>
            <a:r>
              <a:rPr lang="zh-CN" altLang="en-US" sz="800" dirty="0"/>
              <a:t>在我们的版本里，没有“假面舞会”，也没有“高雅</a:t>
            </a:r>
            <a:r>
              <a:rPr lang="en-US" altLang="zh-CN" sz="800" dirty="0"/>
              <a:t>/</a:t>
            </a:r>
            <a:r>
              <a:rPr lang="zh-CN" altLang="en-US" sz="800" dirty="0"/>
              <a:t>低俗体裁”的划分。我们要做的是，把一场关于“艺术”的谈话，变成一场关于“活生生的人”的谈话。今天再谈“高”与“低”的对立，有点可笑和过时；如今各种组合早已被普遍接受</a:t>
            </a:r>
            <a:r>
              <a:rPr lang="en-US" altLang="zh-CN" sz="800" dirty="0"/>
              <a:t>——</a:t>
            </a:r>
            <a:r>
              <a:rPr lang="zh-CN" altLang="en-US" sz="800" dirty="0"/>
              <a:t>这已不再是问题。</a:t>
            </a:r>
          </a:p>
          <a:p>
            <a:pPr>
              <a:buNone/>
            </a:pPr>
            <a:endParaRPr lang="zh-CN" altLang="en-US" sz="800" dirty="0"/>
          </a:p>
          <a:p>
            <a:pPr>
              <a:buNone/>
            </a:pPr>
            <a:r>
              <a:rPr lang="zh-CN" altLang="en-US" sz="800" dirty="0"/>
              <a:t>提问者：安格拉</a:t>
            </a:r>
            <a:r>
              <a:rPr lang="en-US" altLang="zh-CN" sz="800" dirty="0"/>
              <a:t>·</a:t>
            </a:r>
            <a:r>
              <a:rPr lang="zh-CN" altLang="en-US" sz="800" dirty="0"/>
              <a:t>博伊尔勒、米夏埃尔</a:t>
            </a:r>
            <a:r>
              <a:rPr lang="en-US" altLang="zh-CN" sz="800" dirty="0"/>
              <a:t>·</a:t>
            </a:r>
            <a:r>
              <a:rPr lang="zh-CN" altLang="en-US" sz="800" dirty="0"/>
              <a:t>桑库尔。</a:t>
            </a:r>
            <a:endParaRPr lang="en-US" altLang="zh-CN" sz="800" dirty="0"/>
          </a:p>
          <a:p>
            <a:pPr>
              <a:buNone/>
            </a:pPr>
            <a:endParaRPr lang="en-US" altLang="zh-CN" sz="800" dirty="0"/>
          </a:p>
          <a:p>
            <a:pPr>
              <a:buNone/>
            </a:pPr>
            <a:endParaRPr lang="zh-CN" altLang="en-US" sz="800" dirty="0"/>
          </a:p>
        </p:txBody>
      </p:sp>
      <p:sp>
        <p:nvSpPr>
          <p:cNvPr id="7" name="TextBox 6">
            <a:extLst>
              <a:ext uri="{FF2B5EF4-FFF2-40B4-BE49-F238E27FC236}">
                <a16:creationId xmlns:a16="http://schemas.microsoft.com/office/drawing/2014/main" id="{4183DB4E-E74E-03EA-4D34-D60685DC21F3}"/>
              </a:ext>
            </a:extLst>
          </p:cNvPr>
          <p:cNvSpPr txBox="1"/>
          <p:nvPr/>
        </p:nvSpPr>
        <p:spPr>
          <a:xfrm>
            <a:off x="211014" y="-5417"/>
            <a:ext cx="4771291" cy="6617196"/>
          </a:xfrm>
          <a:prstGeom prst="rect">
            <a:avLst/>
          </a:prstGeom>
          <a:noFill/>
        </p:spPr>
        <p:txBody>
          <a:bodyPr wrap="square">
            <a:spAutoFit/>
          </a:bodyPr>
          <a:lstStyle/>
          <a:p>
            <a:pPr>
              <a:buNone/>
            </a:pPr>
            <a:r>
              <a:rPr lang="zh-CN" altLang="en-US" sz="800" b="1" dirty="0"/>
              <a:t>艺术与现实</a:t>
            </a:r>
            <a:endParaRPr lang="zh-CN" altLang="en-US" sz="800" dirty="0"/>
          </a:p>
          <a:p>
            <a:pPr>
              <a:buNone/>
            </a:pPr>
            <a:r>
              <a:rPr lang="zh-CN" altLang="en-US" sz="800" dirty="0"/>
              <a:t>德米特里</a:t>
            </a:r>
            <a:r>
              <a:rPr lang="en-US" altLang="zh-CN" sz="800" dirty="0"/>
              <a:t>·</a:t>
            </a:r>
            <a:r>
              <a:rPr lang="zh-CN" altLang="en-US" sz="800" dirty="0"/>
              <a:t>切尔尼亚科夫谈</a:t>
            </a:r>
            <a:r>
              <a:rPr lang="en-US" altLang="zh-CN" sz="800" dirty="0"/>
              <a:t>《</a:t>
            </a:r>
            <a:r>
              <a:rPr lang="zh-CN" altLang="en-US" sz="800" dirty="0"/>
              <a:t>纳克索斯岛的阿丽亚德涅</a:t>
            </a:r>
            <a:r>
              <a:rPr lang="en-US" altLang="zh-CN" sz="800" dirty="0"/>
              <a:t>》</a:t>
            </a:r>
            <a:r>
              <a:rPr lang="zh-CN" altLang="en-US" sz="800" dirty="0"/>
              <a:t>之导演构想</a:t>
            </a:r>
            <a:br>
              <a:rPr lang="zh-CN" altLang="en-US" sz="800" dirty="0"/>
            </a:br>
            <a:endParaRPr lang="zh-CN" altLang="en-US" sz="800" dirty="0"/>
          </a:p>
          <a:p>
            <a:pPr>
              <a:buNone/>
            </a:pPr>
            <a:r>
              <a:rPr lang="zh-CN" altLang="en-US" sz="800" b="1" dirty="0"/>
              <a:t>我们在你的</a:t>
            </a:r>
            <a:r>
              <a:rPr lang="en-US" altLang="zh-CN" sz="800" b="1" dirty="0"/>
              <a:t>《</a:t>
            </a:r>
            <a:r>
              <a:rPr lang="zh-CN" altLang="en-US" sz="800" b="1" dirty="0"/>
              <a:t>阿丽亚德涅</a:t>
            </a:r>
            <a:r>
              <a:rPr lang="en-US" altLang="zh-CN" sz="800" b="1" dirty="0"/>
              <a:t>》</a:t>
            </a:r>
            <a:r>
              <a:rPr lang="zh-CN" altLang="en-US" sz="800" b="1" dirty="0"/>
              <a:t>叙事中“身处何处”？</a:t>
            </a:r>
            <a:endParaRPr lang="zh-CN" altLang="en-US" sz="800" dirty="0"/>
          </a:p>
          <a:p>
            <a:pPr>
              <a:buNone/>
            </a:pPr>
            <a:r>
              <a:rPr lang="zh-CN" altLang="en-US" sz="800" dirty="0"/>
              <a:t>我们身处一所房子，或一套巨大的公寓里</a:t>
            </a:r>
            <a:r>
              <a:rPr lang="en-US" altLang="zh-CN" sz="800" dirty="0"/>
              <a:t>——</a:t>
            </a:r>
            <a:r>
              <a:rPr lang="zh-CN" altLang="en-US" sz="800" dirty="0"/>
              <a:t>像蜂巢一样，被不同的人群所占据。观众只能看到部分房间；其余的房间、走廊和区域是破碎式地、并以不同距离呈现给观者的。</a:t>
            </a:r>
          </a:p>
          <a:p>
            <a:pPr>
              <a:buNone/>
            </a:pPr>
            <a:r>
              <a:rPr lang="zh-CN" altLang="en-US" sz="800" dirty="0"/>
              <a:t>在我为汉堡国家歌剧院创作的</a:t>
            </a:r>
            <a:r>
              <a:rPr lang="en-US" altLang="zh-CN" sz="800" dirty="0"/>
              <a:t>《</a:t>
            </a:r>
            <a:r>
              <a:rPr lang="zh-CN" altLang="en-US" sz="800" dirty="0"/>
              <a:t>埃莱克特拉</a:t>
            </a:r>
            <a:r>
              <a:rPr lang="en-US" altLang="zh-CN" sz="800" dirty="0"/>
              <a:t>》</a:t>
            </a:r>
            <a:r>
              <a:rPr lang="zh-CN" altLang="en-US" sz="800" dirty="0"/>
              <a:t>和</a:t>
            </a:r>
            <a:r>
              <a:rPr lang="en-US" altLang="zh-CN" sz="800" dirty="0"/>
              <a:t>《</a:t>
            </a:r>
            <a:r>
              <a:rPr lang="zh-CN" altLang="en-US" sz="800" dirty="0"/>
              <a:t>莎乐美</a:t>
            </a:r>
            <a:r>
              <a:rPr lang="en-US" altLang="zh-CN" sz="800" dirty="0"/>
              <a:t>》</a:t>
            </a:r>
            <a:r>
              <a:rPr lang="zh-CN" altLang="en-US" sz="800" dirty="0"/>
              <a:t>中，舞台空间一直是“同一处空间”，但每次都被重新诠释，由完全不同的人居住，带着各自的偏好与各异的背景。当初为</a:t>
            </a:r>
            <a:r>
              <a:rPr lang="en-US" altLang="zh-CN" sz="800" dirty="0"/>
              <a:t>《</a:t>
            </a:r>
            <a:r>
              <a:rPr lang="zh-CN" altLang="en-US" sz="800" dirty="0"/>
              <a:t>埃莱克特拉</a:t>
            </a:r>
            <a:r>
              <a:rPr lang="en-US" altLang="zh-CN" sz="800" dirty="0"/>
              <a:t>》</a:t>
            </a:r>
            <a:r>
              <a:rPr lang="zh-CN" altLang="en-US" sz="800" dirty="0"/>
              <a:t>设计这座巨大的公寓时，我想的是维也纳那种老式公寓；现在这点已不那么重要了。重要的是：我们的故事完全扎根在当下。</a:t>
            </a:r>
            <a:br>
              <a:rPr lang="zh-CN" altLang="en-US" sz="800" dirty="0"/>
            </a:br>
            <a:endParaRPr lang="zh-CN" altLang="en-US" sz="800" dirty="0"/>
          </a:p>
          <a:p>
            <a:pPr>
              <a:buNone/>
            </a:pPr>
            <a:r>
              <a:rPr lang="zh-CN" altLang="en-US" sz="800" b="1" dirty="0"/>
              <a:t>我们经历的是一群怎样的“社会”？是什么把他们联系在一起，又是什么在威胁他们？</a:t>
            </a:r>
            <a:endParaRPr lang="zh-CN" altLang="en-US" sz="800" dirty="0"/>
          </a:p>
          <a:p>
            <a:pPr>
              <a:buNone/>
            </a:pPr>
            <a:r>
              <a:rPr lang="zh-CN" altLang="en-US" sz="800" dirty="0"/>
              <a:t>这部歌剧中的所有人物属于同一个世界</a:t>
            </a:r>
            <a:r>
              <a:rPr lang="en-US" altLang="zh-CN" sz="800" dirty="0"/>
              <a:t>——</a:t>
            </a:r>
            <a:r>
              <a:rPr lang="zh-CN" altLang="en-US" sz="800" dirty="0"/>
              <a:t>一个正在崩解、很快将成为过去的世界。你能感到他们之间存在一种联系。他们都注定走向衰败：在把现实抛在身后之前的那一刻，他们已意识到这一点，于是从现实中退缩，绝望地回到那些熟悉而又令人着迷的“游戏”中去。这种脆弱性，和契诃夫</a:t>
            </a:r>
            <a:r>
              <a:rPr lang="en-US" altLang="zh-CN" sz="800" dirty="0"/>
              <a:t>《</a:t>
            </a:r>
            <a:r>
              <a:rPr lang="zh-CN" altLang="en-US" sz="800" dirty="0"/>
              <a:t>樱桃园</a:t>
            </a:r>
            <a:r>
              <a:rPr lang="en-US" altLang="zh-CN" sz="800" dirty="0"/>
              <a:t>》</a:t>
            </a:r>
            <a:r>
              <a:rPr lang="zh-CN" altLang="en-US" sz="800" dirty="0"/>
              <a:t>中的人物很相似。</a:t>
            </a:r>
          </a:p>
          <a:p>
            <a:pPr>
              <a:buNone/>
            </a:pPr>
            <a:endParaRPr lang="zh-CN" altLang="en-US" sz="800" dirty="0"/>
          </a:p>
          <a:p>
            <a:pPr>
              <a:buNone/>
            </a:pPr>
            <a:r>
              <a:rPr lang="zh-CN" altLang="en-US" sz="800" b="1" dirty="0"/>
              <a:t>你如何看待“前奏与正歌”两部分之间的关系？</a:t>
            </a:r>
            <a:endParaRPr lang="zh-CN" altLang="en-US" sz="800" dirty="0"/>
          </a:p>
          <a:p>
            <a:pPr>
              <a:buNone/>
            </a:pPr>
            <a:r>
              <a:rPr lang="zh-CN" altLang="en-US" sz="800" dirty="0"/>
              <a:t>在我们的制作中，</a:t>
            </a:r>
            <a:r>
              <a:rPr lang="en-US" altLang="zh-CN" sz="800" dirty="0"/>
              <a:t>《</a:t>
            </a:r>
            <a:r>
              <a:rPr lang="zh-CN" altLang="en-US" sz="800" dirty="0"/>
              <a:t>纳克索斯岛的阿丽亚德涅</a:t>
            </a:r>
            <a:r>
              <a:rPr lang="en-US" altLang="zh-CN" sz="800" dirty="0"/>
              <a:t>》</a:t>
            </a:r>
            <a:r>
              <a:rPr lang="zh-CN" altLang="en-US" sz="800" dirty="0"/>
              <a:t>并不被分成“前奏”和“正歌”。对我们而言，它们是一个整体中同等重要的两部分。剧情从头至尾连成一个统一的文本，所有对话都照其原貌保留。只不过我们把重心从“审美层面”转移到“生存层面”，让所有人物都成为一个大家庭</a:t>
            </a:r>
            <a:r>
              <a:rPr lang="en-US" altLang="zh-CN" sz="800" dirty="0"/>
              <a:t>——</a:t>
            </a:r>
            <a:r>
              <a:rPr lang="zh-CN" altLang="en-US" sz="800" dirty="0"/>
              <a:t>一个“人的共同体”的成员。</a:t>
            </a:r>
          </a:p>
          <a:p>
            <a:pPr>
              <a:buNone/>
            </a:pPr>
            <a:endParaRPr lang="zh-CN" altLang="en-US" sz="800" dirty="0"/>
          </a:p>
          <a:p>
            <a:pPr>
              <a:buNone/>
            </a:pPr>
            <a:r>
              <a:rPr lang="zh-CN" altLang="en-US" sz="800" b="1" dirty="0"/>
              <a:t>戏剧</a:t>
            </a:r>
            <a:r>
              <a:rPr lang="en-US" altLang="zh-CN" sz="800" b="1" dirty="0"/>
              <a:t>/</a:t>
            </a:r>
            <a:r>
              <a:rPr lang="zh-CN" altLang="en-US" sz="800" b="1" dirty="0"/>
              <a:t>歌剧在剧中意味着什么？在当下世界，你如何看戏剧的可能与边界？</a:t>
            </a:r>
            <a:endParaRPr lang="zh-CN" altLang="en-US" sz="800" dirty="0"/>
          </a:p>
          <a:p>
            <a:pPr>
              <a:buNone/>
            </a:pPr>
            <a:r>
              <a:rPr lang="zh-CN" altLang="en-US" sz="800" dirty="0"/>
              <a:t>对我来说，关键不在于音乐与戏剧、或不同体裁之间的对立，而在于“作品与现实”的相关性</a:t>
            </a:r>
            <a:r>
              <a:rPr lang="en-US" altLang="zh-CN" sz="800" dirty="0"/>
              <a:t>——</a:t>
            </a:r>
            <a:r>
              <a:rPr lang="zh-CN" altLang="en-US" sz="800" dirty="0"/>
              <a:t>在于作者意图与最终效果之间的关系。现实中突如其来的变动、人生境遇新出现的组合，都会改变原本计划好的内容，致使一场演出产生了作者最初并未预期的东西。还在于：戏剧究竟拥有怎样的作用力？在一个人的困境或悲剧处境中，戏剧性是否能提供帮助，协助他</a:t>
            </a:r>
            <a:r>
              <a:rPr lang="en-US" altLang="zh-CN" sz="800" dirty="0"/>
              <a:t>/</a:t>
            </a:r>
            <a:r>
              <a:rPr lang="zh-CN" altLang="en-US" sz="800" dirty="0"/>
              <a:t>她重新发现生活的滋味？这种与现实的接触</a:t>
            </a:r>
            <a:r>
              <a:rPr lang="en-US" altLang="zh-CN" sz="800" dirty="0"/>
              <a:t>——</a:t>
            </a:r>
            <a:r>
              <a:rPr lang="zh-CN" altLang="en-US" sz="800" dirty="0"/>
              <a:t>来自观众品味与生命经验的再次唤起</a:t>
            </a:r>
            <a:r>
              <a:rPr lang="en-US" altLang="zh-CN" sz="800" dirty="0"/>
              <a:t>——</a:t>
            </a:r>
            <a:r>
              <a:rPr lang="zh-CN" altLang="en-US" sz="800" dirty="0"/>
              <a:t>对我尤为重要。</a:t>
            </a:r>
            <a:br>
              <a:rPr lang="zh-CN" altLang="en-US" sz="800" dirty="0"/>
            </a:br>
            <a:endParaRPr lang="zh-CN" altLang="en-US" sz="800" dirty="0"/>
          </a:p>
          <a:p>
            <a:pPr>
              <a:buNone/>
            </a:pPr>
            <a:r>
              <a:rPr lang="zh-CN" altLang="en-US" sz="800" b="1" dirty="0"/>
              <a:t>你的每次导演都敢直面“伤口”。这次在</a:t>
            </a:r>
            <a:r>
              <a:rPr lang="en-US" altLang="zh-CN" sz="800" b="1" dirty="0"/>
              <a:t>《</a:t>
            </a:r>
            <a:r>
              <a:rPr lang="zh-CN" altLang="en-US" sz="800" b="1" dirty="0"/>
              <a:t>阿丽亚德涅</a:t>
            </a:r>
            <a:r>
              <a:rPr lang="en-US" altLang="zh-CN" sz="800" b="1" dirty="0"/>
              <a:t>》</a:t>
            </a:r>
            <a:r>
              <a:rPr lang="zh-CN" altLang="en-US" sz="800" b="1" dirty="0"/>
              <a:t>中，你讲述的是哪一种痛感？</a:t>
            </a:r>
            <a:endParaRPr lang="zh-CN" altLang="en-US" sz="800" dirty="0"/>
          </a:p>
          <a:p>
            <a:pPr>
              <a:buNone/>
            </a:pPr>
            <a:r>
              <a:rPr lang="zh-CN" altLang="en-US" sz="800" dirty="0"/>
              <a:t>是失去与失望之痛；是骤然的孤独</a:t>
            </a:r>
            <a:r>
              <a:rPr lang="en-US" altLang="zh-CN" sz="800" dirty="0"/>
              <a:t>——</a:t>
            </a:r>
            <a:r>
              <a:rPr lang="zh-CN" altLang="en-US" sz="800" dirty="0"/>
              <a:t>仿佛人一下子置身冰冷荒漠的正中央。是对一个美好时代终结的痛感，一个濒临灭亡之世界的痛感。是对万物无常的感受，以及对“清晨逼近”的恐惧。</a:t>
            </a:r>
          </a:p>
          <a:p>
            <a:pPr>
              <a:buNone/>
            </a:pPr>
            <a:endParaRPr lang="zh-CN" altLang="en-US" sz="800" dirty="0"/>
          </a:p>
          <a:p>
            <a:pPr>
              <a:buNone/>
            </a:pPr>
            <a:r>
              <a:rPr lang="zh-CN" altLang="en-US" sz="800" b="1" dirty="0"/>
              <a:t>阿丽亚德涅与策比奈塔（</a:t>
            </a:r>
            <a:r>
              <a:rPr lang="en-GB" sz="800" b="1" dirty="0" err="1"/>
              <a:t>Zerbinetta</a:t>
            </a:r>
            <a:r>
              <a:rPr lang="en-GB" sz="800" b="1" dirty="0"/>
              <a:t>）</a:t>
            </a:r>
            <a:r>
              <a:rPr lang="zh-CN" altLang="en-US" sz="800" b="1" dirty="0"/>
              <a:t>有何根本不同？</a:t>
            </a:r>
            <a:endParaRPr lang="zh-CN" altLang="en-US" sz="800" dirty="0"/>
          </a:p>
          <a:p>
            <a:pPr>
              <a:buNone/>
            </a:pPr>
            <a:r>
              <a:rPr lang="zh-CN" altLang="en-US" sz="800" dirty="0"/>
              <a:t>两人都害怕被抛弃、害怕孤独。但阿丽亚德涅执念于“唯一的那个男人”，而策比奈塔总是在寻找。策比奈塔绝不会选择自杀，因为她过于热爱生命；阿丽亚德涅却只爱忒修斯，这份爱对她而言甚至重要到超过生命本身。</a:t>
            </a:r>
          </a:p>
          <a:p>
            <a:pPr>
              <a:buNone/>
            </a:pPr>
            <a:endParaRPr lang="zh-CN" altLang="en-US" sz="800" dirty="0"/>
          </a:p>
          <a:p>
            <a:pPr>
              <a:buNone/>
            </a:pPr>
            <a:r>
              <a:rPr lang="zh-CN" altLang="en-US" sz="800" b="1" dirty="0"/>
              <a:t>霍夫曼斯塔尔强调“变形</a:t>
            </a:r>
            <a:r>
              <a:rPr lang="en-US" altLang="zh-CN" sz="800" b="1" dirty="0"/>
              <a:t>/</a:t>
            </a:r>
            <a:r>
              <a:rPr lang="zh-CN" altLang="en-US" sz="800" b="1" dirty="0"/>
              <a:t>转变”这一主题</a:t>
            </a:r>
            <a:r>
              <a:rPr lang="en-US" altLang="zh-CN" sz="800" b="1" dirty="0"/>
              <a:t>——</a:t>
            </a:r>
            <a:r>
              <a:rPr lang="zh-CN" altLang="en-US" sz="800" b="1" dirty="0"/>
              <a:t>在你看来，它如今仍重要吗？</a:t>
            </a:r>
            <a:endParaRPr lang="zh-CN" altLang="en-US" sz="800" dirty="0"/>
          </a:p>
          <a:p>
            <a:pPr>
              <a:buNone/>
            </a:pPr>
            <a:r>
              <a:rPr lang="zh-CN" altLang="en-US" sz="800" dirty="0"/>
              <a:t>对今天来说，这仍然重要，就像对</a:t>
            </a:r>
            <a:r>
              <a:rPr lang="en-US" altLang="zh-CN" sz="800" dirty="0"/>
              <a:t>1910</a:t>
            </a:r>
            <a:r>
              <a:rPr lang="zh-CN" altLang="en-US" sz="800" dirty="0"/>
              <a:t>年代的霍夫曼斯塔尔文本一样。我们的女主角经历了一种“转变”：她摆脱了内在的阻滞，可以再次呼吸，学会放手，让忒修斯离开。她卸下悲伤的重负，再次感到生命的吸引力。这个转变发生在她与狄俄尼索斯相遇之后，但这并不是把她变成另一个人，或在各种情色“变形”之间切换；而更像是一种复原与自我通达的过程，逐步走向康复、自我澄明。</a:t>
            </a:r>
          </a:p>
          <a:p>
            <a:pPr>
              <a:buNone/>
            </a:pPr>
            <a:endParaRPr lang="zh-CN" altLang="en-US" sz="800" dirty="0"/>
          </a:p>
          <a:p>
            <a:pPr>
              <a:buNone/>
            </a:pPr>
            <a:r>
              <a:rPr lang="en-US" altLang="zh-CN" sz="800" b="1" dirty="0"/>
              <a:t>1916</a:t>
            </a:r>
            <a:r>
              <a:rPr lang="zh-CN" altLang="en-US" sz="800" b="1" dirty="0"/>
              <a:t>年，作品在一战期间于维也纳首演。你在剧中看到战争的痕迹吗？</a:t>
            </a:r>
            <a:endParaRPr lang="zh-CN" altLang="en-US" sz="800" dirty="0"/>
          </a:p>
          <a:p>
            <a:pPr>
              <a:buNone/>
            </a:pPr>
            <a:r>
              <a:rPr lang="en-US" altLang="zh-CN" sz="800" dirty="0"/>
              <a:t>1912</a:t>
            </a:r>
            <a:r>
              <a:rPr lang="zh-CN" altLang="en-US" sz="800" dirty="0"/>
              <a:t>年的第一版写于战前，</a:t>
            </a:r>
            <a:r>
              <a:rPr lang="en-US" altLang="zh-CN" sz="800" dirty="0"/>
              <a:t>1916</a:t>
            </a:r>
            <a:r>
              <a:rPr lang="zh-CN" altLang="en-US" sz="800" dirty="0"/>
              <a:t>年的第二版诞生在战火之中。两版中“对战争痕迹的尖叫式缺席”本身就很重要。</a:t>
            </a:r>
            <a:r>
              <a:rPr lang="en-US" altLang="zh-CN" sz="800" dirty="0"/>
              <a:t>《</a:t>
            </a:r>
            <a:r>
              <a:rPr lang="zh-CN" altLang="en-US" sz="800" dirty="0"/>
              <a:t>阿丽亚德涅</a:t>
            </a:r>
            <a:r>
              <a:rPr lang="en-US" altLang="zh-CN" sz="800" dirty="0"/>
              <a:t>》</a:t>
            </a:r>
            <a:r>
              <a:rPr lang="zh-CN" altLang="en-US" sz="800" dirty="0"/>
              <a:t>给我的感觉像是“在深渊之上的一场游戏”。</a:t>
            </a:r>
          </a:p>
          <a:p>
            <a:pPr>
              <a:buNone/>
            </a:pPr>
            <a:endParaRPr lang="zh-CN" altLang="en-US" sz="800" dirty="0"/>
          </a:p>
          <a:p>
            <a:pPr>
              <a:buNone/>
            </a:pPr>
            <a:r>
              <a:rPr lang="zh-CN" altLang="en-US" sz="800" b="1" dirty="0"/>
              <a:t>这部歌剧以“剧中之剧”为中心，关涉到戏剧制作的条件。这在你的版本里重要吗？</a:t>
            </a:r>
            <a:endParaRPr lang="zh-CN" altLang="en-US" sz="800" dirty="0"/>
          </a:p>
          <a:p>
            <a:pPr>
              <a:buNone/>
            </a:pPr>
            <a:r>
              <a:rPr lang="zh-CN" altLang="en-US" sz="800" dirty="0"/>
              <a:t>不，这点在我们的处理里并不占很大分量。我们把故事移入一场“家庭演出”</a:t>
            </a:r>
            <a:r>
              <a:rPr lang="en-US" altLang="zh-CN" sz="800" dirty="0"/>
              <a:t>——</a:t>
            </a:r>
            <a:r>
              <a:rPr lang="zh-CN" altLang="en-US" sz="800" dirty="0"/>
              <a:t>一个由非常熟悉众人的人（总管</a:t>
            </a:r>
            <a:r>
              <a:rPr lang="en-US" altLang="zh-CN" sz="800" dirty="0"/>
              <a:t>/</a:t>
            </a:r>
            <a:r>
              <a:rPr lang="zh-CN" altLang="en-US" sz="800" dirty="0"/>
              <a:t>家臣式角色）操持的业余剧场。在这出戏里，我们既不把这位维也纳来的先生当作“房屋管理员”，也不让他与阿丽亚德涅获得任何“信息”的优势；从一开始，他就是当晚一切的作者与“造物者”。他设想好这一切细节，并把它们逐一纳入演出。</a:t>
            </a:r>
          </a:p>
        </p:txBody>
      </p:sp>
    </p:spTree>
    <p:extLst>
      <p:ext uri="{BB962C8B-B14F-4D97-AF65-F5344CB8AC3E}">
        <p14:creationId xmlns:p14="http://schemas.microsoft.com/office/powerpoint/2010/main" val="1940044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19937-74B9-3DA8-3381-DF9A456E830B}"/>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1C523520-3313-5FA6-EE68-47067717219A}"/>
              </a:ext>
            </a:extLst>
          </p:cNvPr>
          <p:cNvSpPr txBox="1"/>
          <p:nvPr/>
        </p:nvSpPr>
        <p:spPr>
          <a:xfrm>
            <a:off x="4953000" y="12680"/>
            <a:ext cx="4648200" cy="215444"/>
          </a:xfrm>
          <a:prstGeom prst="rect">
            <a:avLst/>
          </a:prstGeom>
          <a:noFill/>
        </p:spPr>
        <p:txBody>
          <a:bodyPr wrap="square">
            <a:spAutoFit/>
          </a:bodyPr>
          <a:lstStyle/>
          <a:p>
            <a:r>
              <a:rPr lang="en-US" altLang="zh-CN" sz="800" dirty="0"/>
              <a:t>XXX</a:t>
            </a:r>
            <a:endParaRPr lang="zh-CN" altLang="en-US" sz="800" dirty="0"/>
          </a:p>
        </p:txBody>
      </p:sp>
      <p:sp>
        <p:nvSpPr>
          <p:cNvPr id="7" name="TextBox 6">
            <a:extLst>
              <a:ext uri="{FF2B5EF4-FFF2-40B4-BE49-F238E27FC236}">
                <a16:creationId xmlns:a16="http://schemas.microsoft.com/office/drawing/2014/main" id="{A0861867-BC39-1076-A82A-F52A9B262DC4}"/>
              </a:ext>
            </a:extLst>
          </p:cNvPr>
          <p:cNvSpPr txBox="1"/>
          <p:nvPr/>
        </p:nvSpPr>
        <p:spPr>
          <a:xfrm>
            <a:off x="211014" y="-5417"/>
            <a:ext cx="4771291" cy="4524315"/>
          </a:xfrm>
          <a:prstGeom prst="rect">
            <a:avLst/>
          </a:prstGeom>
          <a:noFill/>
        </p:spPr>
        <p:txBody>
          <a:bodyPr wrap="square">
            <a:spAutoFit/>
          </a:bodyPr>
          <a:lstStyle/>
          <a:p>
            <a:r>
              <a:rPr lang="en-US" altLang="zh-CN" sz="800" b="1" dirty="0"/>
              <a:t>《</a:t>
            </a:r>
            <a:r>
              <a:rPr lang="zh-CN" altLang="en-US" sz="800" b="1" dirty="0"/>
              <a:t>纳克索斯岛的阿丽亚德涅</a:t>
            </a:r>
            <a:r>
              <a:rPr lang="en-US" altLang="zh-CN" sz="800" b="1" dirty="0"/>
              <a:t>》</a:t>
            </a:r>
            <a:r>
              <a:rPr lang="zh-CN" altLang="en-US" sz="800" b="1" dirty="0"/>
              <a:t>制作概念</a:t>
            </a:r>
          </a:p>
          <a:p>
            <a:r>
              <a:rPr lang="zh-CN" altLang="en-US" sz="800" dirty="0"/>
              <a:t>在本次制作中，</a:t>
            </a:r>
            <a:r>
              <a:rPr lang="en-US" altLang="zh-CN" sz="800" dirty="0"/>
              <a:t>《</a:t>
            </a:r>
            <a:r>
              <a:rPr lang="zh-CN" altLang="en-US" sz="800" dirty="0"/>
              <a:t>纳克索斯岛的阿丽亚德涅</a:t>
            </a:r>
            <a:r>
              <a:rPr lang="en-US" altLang="zh-CN" sz="800" dirty="0"/>
              <a:t>》</a:t>
            </a:r>
            <a:r>
              <a:rPr lang="zh-CN" altLang="en-US" sz="800" dirty="0"/>
              <a:t>被重新置入一个现实而陌生的当代空间：一栋巨大的住宅，既像维也纳式的老公寓，又像一个象征性蜂巢</a:t>
            </a:r>
            <a:r>
              <a:rPr lang="en-US" altLang="zh-CN" sz="800" dirty="0"/>
              <a:t>——</a:t>
            </a:r>
            <a:r>
              <a:rPr lang="zh-CN" altLang="en-US" sz="800" dirty="0"/>
              <a:t>封闭、庞杂、充满声音与回响。这个空间中生活着许多人物，他们彼此熟悉又彼此隔绝。每个房间、走廊和角落都像一个孤立的精神格层，暗示人类关系的断裂与当下世界的失序。观众所看到的只是其中的一部分，其余的生活被墙壁、门和时间所遮蔽。这种“半可见的结构”使得整部作品成为一个不断在距离与亲近、理解与误解之间摆动的现实寓言。</a:t>
            </a:r>
            <a:endParaRPr lang="en-US" altLang="zh-CN" sz="800" dirty="0"/>
          </a:p>
          <a:p>
            <a:endParaRPr lang="zh-CN" altLang="en-US" sz="800" dirty="0"/>
          </a:p>
          <a:p>
            <a:r>
              <a:rPr lang="zh-CN" altLang="en-US" sz="800" dirty="0"/>
              <a:t>这部作品的核心主题，是在破碎的世界中寻找意义的勇气。阿丽亚德涅、策比奈塔和作曲家不再代表“悲剧与喜剧”“理想与现实”的对立类型，而是共同构成同一社会的不同面相。阿丽亚德涅是被遗弃的灵魂</a:t>
            </a:r>
            <a:r>
              <a:rPr lang="en-US" altLang="zh-CN" sz="800" dirty="0"/>
              <a:t>——</a:t>
            </a:r>
            <a:r>
              <a:rPr lang="zh-CN" altLang="en-US" sz="800" dirty="0"/>
              <a:t>她的孤独不再属于神话，而属于我们这个时代；策比奈塔是轻盈的生存者，她的笑声掩盖着对孤独的恐惧；而年轻的作曲家，则化身为创造者与旁观者的双重象征</a:t>
            </a:r>
            <a:r>
              <a:rPr lang="en-US" altLang="zh-CN" sz="800" dirty="0"/>
              <a:t>——</a:t>
            </a:r>
            <a:r>
              <a:rPr lang="zh-CN" altLang="en-US" sz="800" dirty="0"/>
              <a:t>他渴望通过艺术重建意义，却在过程中暴露了艺术本身的无力。三人之间的张力，正是当代人共同的境况：我们都在失去秩序的世界里，用不同的方式维持尊严与希望。</a:t>
            </a:r>
            <a:endParaRPr lang="en-US" altLang="zh-CN" sz="800" dirty="0"/>
          </a:p>
          <a:p>
            <a:endParaRPr lang="zh-CN" altLang="en-US" sz="800" dirty="0"/>
          </a:p>
          <a:p>
            <a:r>
              <a:rPr lang="zh-CN" altLang="en-US" sz="800" dirty="0"/>
              <a:t>舞台的视觉语言延续了这种多重现实。观众所面对的不是传统意义上的“纳克索斯岛”，而是一处心理空间，一处被记忆、幻想与现实共同侵蚀的居所。舞台设计呈现出开放又破碎的结构：不同的房间并置、重叠，人物的行动在空间中同时展开，灯光与声响如同潜意识的回声，暗示外部世界的崩塌正在悄然逼近。这里没有古典神话的宏伟景象，只有现代生活中被遗弃的神话残迹</a:t>
            </a:r>
            <a:r>
              <a:rPr lang="en-US" altLang="zh-CN" sz="800" dirty="0"/>
              <a:t>——</a:t>
            </a:r>
            <a:r>
              <a:rPr lang="zh-CN" altLang="en-US" sz="800" dirty="0"/>
              <a:t>碎裂的雕像、旧画框、象征性的家具</a:t>
            </a:r>
            <a:r>
              <a:rPr lang="en-US" altLang="zh-CN" sz="800" dirty="0"/>
              <a:t>——</a:t>
            </a:r>
            <a:r>
              <a:rPr lang="zh-CN" altLang="en-US" sz="800" dirty="0"/>
              <a:t>一切都带着曾经辉煌的阴影。</a:t>
            </a:r>
            <a:endParaRPr lang="en-US" altLang="zh-CN" sz="800" dirty="0"/>
          </a:p>
          <a:p>
            <a:endParaRPr lang="zh-CN" altLang="en-US" sz="800" dirty="0"/>
          </a:p>
          <a:p>
            <a:r>
              <a:rPr lang="zh-CN" altLang="en-US" sz="800" dirty="0"/>
              <a:t>在叙事结构上，我们不再将作品划分为“前奏”和“正歌”，而是把整个文本视为一条连续的心理线索。所谓“戏中戏”的层次被转化为“共演的命运”：每个角色都被迫在同一空间里演出一个他们尚未理解的故事。管家（</a:t>
            </a:r>
            <a:r>
              <a:rPr lang="en-GB" sz="800" dirty="0" err="1"/>
              <a:t>Hausmeister</a:t>
            </a:r>
            <a:r>
              <a:rPr lang="en-GB" sz="800" dirty="0"/>
              <a:t>）</a:t>
            </a:r>
            <a:r>
              <a:rPr lang="zh-CN" altLang="en-US" sz="800" dirty="0"/>
              <a:t>成为这场演出的引导者和维系者</a:t>
            </a:r>
            <a:r>
              <a:rPr lang="en-US" altLang="zh-CN" sz="800" dirty="0"/>
              <a:t>——</a:t>
            </a:r>
            <a:r>
              <a:rPr lang="zh-CN" altLang="en-US" sz="800" dirty="0"/>
              <a:t>他既是导演，又是见证者，是那个在混乱中试图保持秩序、却终究也陷入崩解的人。艺术在这里不再是一种逃避，而是一种暴露；创作的过程揭示的不只是美学秩序的瓦解，更是人类在面对变动世界时的无力与坚持。</a:t>
            </a:r>
            <a:endParaRPr lang="en-US" altLang="zh-CN" sz="800" dirty="0"/>
          </a:p>
          <a:p>
            <a:endParaRPr lang="zh-CN" altLang="en-US" sz="800" dirty="0"/>
          </a:p>
          <a:p>
            <a:r>
              <a:rPr lang="zh-CN" altLang="en-US" sz="800" dirty="0"/>
              <a:t>霍夫曼斯塔尔在原作中提出“变形”（</a:t>
            </a:r>
            <a:r>
              <a:rPr lang="en-GB" sz="800" dirty="0" err="1"/>
              <a:t>Verwandlung</a:t>
            </a:r>
            <a:r>
              <a:rPr lang="en-GB" sz="800" dirty="0"/>
              <a:t>）</a:t>
            </a:r>
            <a:r>
              <a:rPr lang="zh-CN" altLang="en-US" sz="800" dirty="0"/>
              <a:t>作为存在的可能性，这一理念在本制作中获得了新的诠释。变形不再是神话中的奇迹，而是人类灵魂自我修复的象征</a:t>
            </a:r>
            <a:r>
              <a:rPr lang="en-US" altLang="zh-CN" sz="800" dirty="0"/>
              <a:t>——</a:t>
            </a:r>
            <a:r>
              <a:rPr lang="zh-CN" altLang="en-US" sz="800" dirty="0"/>
              <a:t>是个体从封闭、绝望与失落中重拾生命的过程。阿丽亚德涅的“死亡”不再是终结，而是一种重生；策比奈塔的“游戏”不再是轻浮，而是一种对抗虚无的方式；而作曲家的创作冲动，则象征着在一切崩坏之后仍对意义的信念。</a:t>
            </a:r>
          </a:p>
          <a:p>
            <a:r>
              <a:rPr lang="zh-CN" altLang="en-US" sz="800" dirty="0"/>
              <a:t>因此，这部</a:t>
            </a:r>
            <a:r>
              <a:rPr lang="en-US" altLang="zh-CN" sz="800" dirty="0"/>
              <a:t>《</a:t>
            </a:r>
            <a:r>
              <a:rPr lang="zh-CN" altLang="en-US" sz="800" dirty="0"/>
              <a:t>纳克索斯岛的阿丽亚德涅</a:t>
            </a:r>
            <a:r>
              <a:rPr lang="en-US" altLang="zh-CN" sz="800" dirty="0"/>
              <a:t>》</a:t>
            </a:r>
            <a:r>
              <a:rPr lang="zh-CN" altLang="en-US" sz="800" dirty="0"/>
              <a:t>并不是关于古希腊的神话，而是关于</a:t>
            </a:r>
            <a:r>
              <a:rPr lang="zh-CN" altLang="en-US" sz="800" b="1" dirty="0"/>
              <a:t>我们自己的神话</a:t>
            </a:r>
            <a:r>
              <a:rPr lang="zh-CN" altLang="en-US" sz="800" dirty="0"/>
              <a:t>。它讲述现代人如何在变动、断裂与孤独的现实中仍试图相互理解、相互扶持；讲述艺术如何在时代的瓦砾之上重新寻找存在的价值。舞台上的“岛屿”不再是一处被遗弃的地方，而是一个不断重生的共同体</a:t>
            </a:r>
            <a:r>
              <a:rPr lang="en-US" altLang="zh-CN" sz="800" dirty="0"/>
              <a:t>——</a:t>
            </a:r>
            <a:r>
              <a:rPr lang="zh-CN" altLang="en-US" sz="800" dirty="0"/>
              <a:t>在此，悲剧与喜剧、崩溃与希望、绝望与勇气彼此交织。音乐与戏剧的交汇不再区分高与低、古典与现代，而是汇聚为一种新的、共同的人性表达。正如霍夫曼斯塔尔所言：“音乐是一种神圣的艺术，汇集了所有形式的勇气。”</a:t>
            </a:r>
          </a:p>
        </p:txBody>
      </p:sp>
    </p:spTree>
    <p:extLst>
      <p:ext uri="{BB962C8B-B14F-4D97-AF65-F5344CB8AC3E}">
        <p14:creationId xmlns:p14="http://schemas.microsoft.com/office/powerpoint/2010/main" val="28579557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005F0A2-7771-4B92-2C82-24B0EA006B58}"/>
              </a:ext>
            </a:extLst>
          </p:cNvPr>
          <p:cNvSpPr txBox="1"/>
          <p:nvPr/>
        </p:nvSpPr>
        <p:spPr>
          <a:xfrm>
            <a:off x="298938" y="19477"/>
            <a:ext cx="4654062" cy="5755422"/>
          </a:xfrm>
          <a:prstGeom prst="rect">
            <a:avLst/>
          </a:prstGeom>
          <a:noFill/>
        </p:spPr>
        <p:txBody>
          <a:bodyPr wrap="square">
            <a:spAutoFit/>
          </a:bodyPr>
          <a:lstStyle/>
          <a:p>
            <a:pPr algn="l"/>
            <a:r>
              <a:rPr lang="zh-CN" altLang="en-US" sz="800" b="0" i="0" dirty="0">
                <a:solidFill>
                  <a:srgbClr val="222222"/>
                </a:solidFill>
                <a:effectLst/>
                <a:latin typeface="Helvetica Neue" panose="02000503000000020004" pitchFamily="2" charset="0"/>
              </a:rPr>
              <a:t>情定孤岛，或者说</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阿里阿德涅在拿索斯岛</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 </a:t>
            </a:r>
            <a:r>
              <a:rPr lang="en-GB" sz="800" b="0" i="0" dirty="0">
                <a:solidFill>
                  <a:srgbClr val="222222"/>
                </a:solidFill>
                <a:effectLst/>
                <a:latin typeface="Helvetica Neue" panose="02000503000000020004" pitchFamily="2" charset="0"/>
              </a:rPr>
              <a:t>Ariadne auf Naxos（1912/16 Op.60）</a:t>
            </a:r>
            <a:r>
              <a:rPr lang="zh-CN" altLang="en-US" sz="800" b="0" i="0" dirty="0">
                <a:solidFill>
                  <a:srgbClr val="222222"/>
                </a:solidFill>
                <a:effectLst/>
                <a:latin typeface="Helvetica Neue" panose="02000503000000020004" pitchFamily="2" charset="0"/>
              </a:rPr>
              <a:t>原名</a:t>
            </a:r>
            <a:r>
              <a:rPr lang="en-GB" sz="800" b="0" i="0" dirty="0">
                <a:solidFill>
                  <a:srgbClr val="222222"/>
                </a:solidFill>
                <a:effectLst/>
                <a:latin typeface="Helvetica Neue" panose="02000503000000020004" pitchFamily="2" charset="0"/>
              </a:rPr>
              <a:t>Ariadne auf Naxos ，</a:t>
            </a:r>
            <a:r>
              <a:rPr lang="zh-CN" altLang="en-US" sz="800" b="0" i="0" dirty="0">
                <a:solidFill>
                  <a:srgbClr val="222222"/>
                </a:solidFill>
                <a:effectLst/>
                <a:latin typeface="Helvetica Neue" panose="02000503000000020004" pitchFamily="2" charset="0"/>
              </a:rPr>
              <a:t>是德国作曲家理查德</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斯特劳斯</a:t>
            </a:r>
            <a:r>
              <a:rPr lang="en-US" altLang="zh-CN" sz="800" b="0" i="0" dirty="0">
                <a:solidFill>
                  <a:srgbClr val="222222"/>
                </a:solidFill>
                <a:effectLst/>
                <a:latin typeface="Helvetica Neue" panose="02000503000000020004" pitchFamily="2" charset="0"/>
              </a:rPr>
              <a:t>1912</a:t>
            </a:r>
            <a:r>
              <a:rPr lang="zh-CN" altLang="en-US" sz="800" b="0" i="0" dirty="0">
                <a:solidFill>
                  <a:srgbClr val="222222"/>
                </a:solidFill>
                <a:effectLst/>
                <a:latin typeface="Helvetica Neue" panose="02000503000000020004" pitchFamily="2" charset="0"/>
              </a:rPr>
              <a:t>年的作品，剧本则由雨果</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冯</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霍夫曼斯塔尔撰写。</a:t>
            </a:r>
          </a:p>
          <a:p>
            <a:pPr algn="l"/>
            <a:r>
              <a:rPr lang="zh-CN" altLang="en-US" sz="800" b="0" i="0" dirty="0">
                <a:solidFill>
                  <a:srgbClr val="222222"/>
                </a:solidFill>
                <a:effectLst/>
                <a:latin typeface="Helvetica Neue" panose="02000503000000020004" pitchFamily="2" charset="0"/>
              </a:rPr>
              <a:t>歌剧</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阿里阿德涅在拿索斯岛</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最早完成于</a:t>
            </a:r>
            <a:r>
              <a:rPr lang="en-US" altLang="zh-CN" sz="800" b="0" i="0" dirty="0">
                <a:solidFill>
                  <a:srgbClr val="222222"/>
                </a:solidFill>
                <a:effectLst/>
                <a:latin typeface="Helvetica Neue" panose="02000503000000020004" pitchFamily="2" charset="0"/>
              </a:rPr>
              <a:t>1912</a:t>
            </a:r>
            <a:r>
              <a:rPr lang="zh-CN" altLang="en-US" sz="800" b="0" i="0" dirty="0">
                <a:solidFill>
                  <a:srgbClr val="222222"/>
                </a:solidFill>
                <a:effectLst/>
                <a:latin typeface="Helvetica Neue" panose="02000503000000020004" pitchFamily="2" charset="0"/>
              </a:rPr>
              <a:t>年，是施特劳斯与知名剧作家霍夫曼斯塔尔这对“黄金搭档”合作完成的代表作之一。该剧的最初版本的创作改编自古希腊神话中，并借用莫里哀戏剧</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贵人迷</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中“戏中戏”的创意，而在</a:t>
            </a:r>
            <a:r>
              <a:rPr lang="en-US" altLang="zh-CN" sz="800" b="0" i="0" dirty="0">
                <a:solidFill>
                  <a:srgbClr val="222222"/>
                </a:solidFill>
                <a:effectLst/>
                <a:latin typeface="Helvetica Neue" panose="02000503000000020004" pitchFamily="2" charset="0"/>
              </a:rPr>
              <a:t>1916</a:t>
            </a:r>
            <a:r>
              <a:rPr lang="zh-CN" altLang="en-US" sz="800" b="0" i="0" dirty="0">
                <a:solidFill>
                  <a:srgbClr val="222222"/>
                </a:solidFill>
                <a:effectLst/>
                <a:latin typeface="Helvetica Neue" panose="02000503000000020004" pitchFamily="2" charset="0"/>
              </a:rPr>
              <a:t>年经过修改后，该剧在主题、解构与音乐风格上都更加成熟，实现了“高雅”与“通俗”的和谐统一，也将正歌剧与喜歌剧两大风格完美交融，赋予了这部歌剧独特的艺术魅力。</a:t>
            </a:r>
          </a:p>
          <a:p>
            <a:pPr algn="l"/>
            <a:r>
              <a:rPr lang="zh-CN" altLang="en-US" sz="800" b="0" i="0" dirty="0">
                <a:solidFill>
                  <a:srgbClr val="222222"/>
                </a:solidFill>
                <a:effectLst/>
                <a:latin typeface="Helvetica Neue" panose="02000503000000020004" pitchFamily="2" charset="0"/>
              </a:rPr>
              <a:t>该剧有三个看点较为突出：其一是戏剧主题的多重趣味。序幕凸显了“高雅音乐”与“低俗音乐”的矛盾，彼此轻蔑、水火不容</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歌剧则着力刻画“坚守”与“改变”这一对人性矛盾，并借此对“忠诚”的人生信条进行反思。从“序幕”到“歌剧”，还体现了上述两对矛盾各自的解决，所谓“在对立中发现整体的和谐”。其二，“戏中戏”的结构形式。戏外情节</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序幕里的争吵</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是“戏内”旨意的铺设，“戏内”情节是对“戏外”矛盾的化解。其三，音乐风格上的异质交融：此剧兼有正歌剧和喜歌剧两种风格，阿里阿德涅和酒神巴克斯是典型的正歌剧角色，而泽比内塔和她的四个情人则是喜歌剧角色</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阿里阿德涅在洞口醒来后的悲叹、她在得知 “死亡使者”到来时视死如归的殉情姿态、酒神登岛之后与公主的会面与结合，都属于典型的正歌剧情节</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而序幕中的闹剧、歌剧中泽比内塔与四位情人逗公主开心的重唱与舞蹈，以及三位情人在夜幕中寻找泽比内塔的情境，则属于妙趣横生的喜歌剧场景</a:t>
            </a:r>
            <a:r>
              <a:rPr lang="en-US" altLang="zh-CN" sz="800" b="0" i="0" dirty="0">
                <a:solidFill>
                  <a:srgbClr val="222222"/>
                </a:solidFill>
                <a:effectLst/>
                <a:latin typeface="Helvetica Neue" panose="02000503000000020004" pitchFamily="2" charset="0"/>
              </a:rPr>
              <a:t>;</a:t>
            </a:r>
            <a:r>
              <a:rPr lang="zh-CN" altLang="en-US" sz="800" b="0" i="0" dirty="0">
                <a:solidFill>
                  <a:srgbClr val="222222"/>
                </a:solidFill>
                <a:effectLst/>
                <a:latin typeface="Helvetica Neue" panose="02000503000000020004" pitchFamily="2" charset="0"/>
              </a:rPr>
              <a:t>不同性质的角色在唱腔风格上也反映出了这种对比与并置。</a:t>
            </a:r>
            <a:endParaRPr lang="en-US" altLang="zh-CN" sz="800" b="0" i="0" dirty="0">
              <a:solidFill>
                <a:srgbClr val="222222"/>
              </a:solidFill>
              <a:effectLst/>
              <a:latin typeface="Helvetica Neue" panose="02000503000000020004" pitchFamily="2" charset="0"/>
            </a:endParaRPr>
          </a:p>
          <a:p>
            <a:pPr algn="l"/>
            <a:endParaRPr lang="en-US" altLang="zh-CN" sz="800" dirty="0">
              <a:solidFill>
                <a:srgbClr val="222222"/>
              </a:solidFill>
              <a:latin typeface="Helvetica Neue" panose="02000503000000020004" pitchFamily="2" charset="0"/>
            </a:endParaRPr>
          </a:p>
          <a:p>
            <a:r>
              <a:rPr lang="zh-CN" altLang="en-US" sz="800" b="1" dirty="0"/>
              <a:t>序幕（</a:t>
            </a:r>
            <a:r>
              <a:rPr lang="en-GB" sz="800" b="1" dirty="0"/>
              <a:t>Prologue）</a:t>
            </a:r>
          </a:p>
          <a:p>
            <a:r>
              <a:rPr lang="zh-CN" altLang="en-US" sz="800" dirty="0"/>
              <a:t>序幕发生在一位富有的维也纳贵妇人的宫殿中。她计划在晚宴后为客人们提供两场表演：一个是严肃的歌剧</a:t>
            </a:r>
            <a:r>
              <a:rPr lang="en-US" altLang="zh-CN" sz="800" dirty="0"/>
              <a:t>《</a:t>
            </a:r>
            <a:r>
              <a:rPr lang="zh-CN" altLang="en-US" sz="800" dirty="0"/>
              <a:t>阿里阿德涅在拿索斯</a:t>
            </a:r>
            <a:r>
              <a:rPr lang="en-US" altLang="zh-CN" sz="800" dirty="0"/>
              <a:t>》</a:t>
            </a:r>
            <a:r>
              <a:rPr lang="zh-CN" altLang="en-US" sz="800" dirty="0"/>
              <a:t>，另一个是一个喜剧演员团队表演的滑稽戏。然而，由于时间关系，贵妇人最后决定两个团队需要同时在同一个舞台上表演，这导致了两个戏剧团体之间的冲突和喜剧效果。</a:t>
            </a:r>
          </a:p>
          <a:p>
            <a:r>
              <a:rPr lang="zh-CN" altLang="en-US" sz="800" dirty="0"/>
              <a:t>序幕中，各个角色都在为即将到来的表演做准备，歌剧演员和喜剧演员之间的艺术观念差异引发了一系列幽默而尖锐的对话。音乐家（即作曲家）是一个年轻的理想主义者，非常投入于他的歌剧作品，对于必须与低俗喜剧混搭感到失望和愤怒。</a:t>
            </a:r>
          </a:p>
          <a:p>
            <a:endParaRPr lang="zh-CN" altLang="en-US" sz="800" b="1" dirty="0"/>
          </a:p>
          <a:p>
            <a:r>
              <a:rPr lang="zh-CN" altLang="en-US" sz="800" b="1" dirty="0"/>
              <a:t>第一幕</a:t>
            </a:r>
          </a:p>
          <a:p>
            <a:r>
              <a:rPr lang="zh-CN" altLang="en-US" sz="800" dirty="0"/>
              <a:t>舞台上展示的是荒岛的场景。阿里阿德涅独自一人，她被忒修斯遗弃在了岛上，陷入了深深的绝望和孤独。她唱着悲伤的歌，表达对爱情和生活的失望。阿里阿德涅期待着死神的来临，以结束她的痛苦。</a:t>
            </a:r>
          </a:p>
          <a:p>
            <a:r>
              <a:rPr lang="zh-CN" altLang="en-US" sz="800" dirty="0"/>
              <a:t>然而，喜剧演员扎芮那和她的助手们打断了阿里阿德涅的悲伤，试图用滑稽的方式逗她开心。他们的出现形成了一种奇妙的对比，既显得突兀，也增添了幽默感。</a:t>
            </a:r>
            <a:endParaRPr lang="en-US" altLang="zh-CN" sz="800" dirty="0"/>
          </a:p>
          <a:p>
            <a:endParaRPr lang="zh-CN" altLang="en-US" sz="800" dirty="0"/>
          </a:p>
          <a:p>
            <a:r>
              <a:rPr lang="zh-CN" altLang="en-US" sz="800" b="1" dirty="0"/>
              <a:t>第二幕</a:t>
            </a:r>
          </a:p>
          <a:p>
            <a:r>
              <a:rPr lang="zh-CN" altLang="en-US" sz="800" dirty="0"/>
              <a:t>赫尔墨斯的使者巴库斯（</a:t>
            </a:r>
            <a:r>
              <a:rPr lang="en-GB" sz="800" dirty="0"/>
              <a:t>Bacchus）</a:t>
            </a:r>
            <a:r>
              <a:rPr lang="zh-CN" altLang="en-US" sz="800" dirty="0"/>
              <a:t>登场。他原本是前往爱神岛的途中，却意外地来到了阿里阿德涅的岛上。最初，阿里阿德涅以为他是死神，但随着二人的对话，她逐渐从绝望中恢复了生机，两人共鸣爱情的主题。</a:t>
            </a:r>
          </a:p>
          <a:p>
            <a:r>
              <a:rPr lang="zh-CN" altLang="en-US" sz="800" dirty="0"/>
              <a:t>最终，阿里阿德涅与巴库斯相爱，她的悲伤转化为对爱与生命的新的认识和接受。二人的爱情象征着重生与希望，也把歌剧推向了高潮。</a:t>
            </a:r>
          </a:p>
          <a:p>
            <a:endParaRPr lang="en-US" altLang="zh-CN" sz="800" b="1" dirty="0"/>
          </a:p>
          <a:p>
            <a:r>
              <a:rPr lang="zh-CN" altLang="en-US" sz="800" b="1" dirty="0"/>
              <a:t>结局</a:t>
            </a:r>
          </a:p>
          <a:p>
            <a:r>
              <a:rPr lang="zh-CN" altLang="en-US" sz="800" dirty="0"/>
              <a:t>歌剧以阿里阿德涅和巴库斯的爱情得以升华和完成为终结，象征着艺术与生活、悲剧与喜剧之间的和谐共存。音乐家（作曲家）在经历了一系列情感的波折后，最终也接受了自己作品中不可避免的喜剧元素，理解到生活中悲喜交加的本质。</a:t>
            </a:r>
          </a:p>
          <a:p>
            <a:pPr algn="l"/>
            <a:endParaRPr lang="zh-CN" altLang="en-US" sz="800" b="0" i="0" dirty="0">
              <a:solidFill>
                <a:srgbClr val="222222"/>
              </a:solidFill>
              <a:effectLst/>
              <a:latin typeface="Helvetica Neue" panose="02000503000000020004" pitchFamily="2" charset="0"/>
            </a:endParaRPr>
          </a:p>
        </p:txBody>
      </p:sp>
    </p:spTree>
    <p:extLst>
      <p:ext uri="{BB962C8B-B14F-4D97-AF65-F5344CB8AC3E}">
        <p14:creationId xmlns:p14="http://schemas.microsoft.com/office/powerpoint/2010/main" val="2932788787"/>
      </p:ext>
    </p:extLst>
  </p:cSld>
  <p:clrMapOvr>
    <a:masterClrMapping/>
  </p:clrMapOvr>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172</TotalTime>
  <Words>3484</Words>
  <Application>Microsoft Macintosh PowerPoint</Application>
  <PresentationFormat>A4 Paper (210x297 mm)</PresentationFormat>
  <Paragraphs>69</Paragraphs>
  <Slides>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Arial</vt:lpstr>
      <vt:lpstr>Calibri</vt:lpstr>
      <vt:lpstr>Calibri Light</vt:lpstr>
      <vt:lpstr>Helvetica Neue</vt:lpstr>
      <vt:lpstr>Office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Bai, Zehui</dc:creator>
  <cp:lastModifiedBy>Zehui Bai</cp:lastModifiedBy>
  <cp:revision>189</cp:revision>
  <cp:lastPrinted>2025-11-16T14:45:49Z</cp:lastPrinted>
  <dcterms:created xsi:type="dcterms:W3CDTF">2022-11-07T20:45:57Z</dcterms:created>
  <dcterms:modified xsi:type="dcterms:W3CDTF">2025-11-16T14:48:05Z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898e16e8-c07a-4d54-b613-7ba52508ca4b_Enabled">
    <vt:lpwstr>true</vt:lpwstr>
  </property>
  <property fmtid="{D5CDD505-2E9C-101B-9397-08002B2CF9AE}" pid="3" name="MSIP_Label_898e16e8-c07a-4d54-b613-7ba52508ca4b_SetDate">
    <vt:lpwstr>2024-05-02T11:59:04Z</vt:lpwstr>
  </property>
  <property fmtid="{D5CDD505-2E9C-101B-9397-08002B2CF9AE}" pid="4" name="MSIP_Label_898e16e8-c07a-4d54-b613-7ba52508ca4b_Method">
    <vt:lpwstr>Standard</vt:lpwstr>
  </property>
  <property fmtid="{D5CDD505-2E9C-101B-9397-08002B2CF9AE}" pid="5" name="MSIP_Label_898e16e8-c07a-4d54-b613-7ba52508ca4b_Name">
    <vt:lpwstr>Restricted – Any Recipient</vt:lpwstr>
  </property>
  <property fmtid="{D5CDD505-2E9C-101B-9397-08002B2CF9AE}" pid="6" name="MSIP_Label_898e16e8-c07a-4d54-b613-7ba52508ca4b_SiteId">
    <vt:lpwstr>06fe4af5-9412-436c-acdb-444ee0010489</vt:lpwstr>
  </property>
  <property fmtid="{D5CDD505-2E9C-101B-9397-08002B2CF9AE}" pid="7" name="MSIP_Label_898e16e8-c07a-4d54-b613-7ba52508ca4b_ActionId">
    <vt:lpwstr>98a1625e-6089-4799-8e2a-64db4a74906f</vt:lpwstr>
  </property>
  <property fmtid="{D5CDD505-2E9C-101B-9397-08002B2CF9AE}" pid="8" name="MSIP_Label_898e16e8-c07a-4d54-b613-7ba52508ca4b_ContentBits">
    <vt:lpwstr>0</vt:lpwstr>
  </property>
</Properties>
</file>