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76" y="11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1E980196-448A-481A-8A1B-A58FF56D884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0527" y="4777782"/>
            <a:ext cx="5438140" cy="390783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B552DB39-1987-4DDB-8E06-96607888F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3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8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8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3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1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9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3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7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8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7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CEDD3-0525-4453-AC94-ABA547278219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83C20-71CB-4325-A0DB-27D93BA0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A1523-D270-D325-A3DF-0F1C02A0BA47}"/>
              </a:ext>
            </a:extLst>
          </p:cNvPr>
          <p:cNvSpPr txBox="1"/>
          <p:nvPr/>
        </p:nvSpPr>
        <p:spPr>
          <a:xfrm>
            <a:off x="-1656" y="0"/>
            <a:ext cx="495465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800" b="0" i="0" dirty="0" err="1">
                <a:effectLst/>
                <a:latin typeface="HSO Diatype"/>
              </a:rPr>
              <a:t>Historische</a:t>
            </a:r>
            <a:r>
              <a:rPr lang="en-GB" sz="800" b="0" i="0" dirty="0">
                <a:effectLst/>
                <a:latin typeface="HSO Diatype"/>
              </a:rPr>
              <a:t> </a:t>
            </a:r>
            <a:r>
              <a:rPr lang="en-GB" sz="800" b="0" i="0" dirty="0" err="1">
                <a:effectLst/>
                <a:latin typeface="HSO Diatype"/>
              </a:rPr>
              <a:t>Stückinfos</a:t>
            </a:r>
            <a:r>
              <a:rPr lang="en-GB" sz="800" b="0" i="0" dirty="0">
                <a:effectLst/>
                <a:latin typeface="inherit"/>
              </a:rPr>
              <a:t>−</a:t>
            </a:r>
            <a:endParaRPr lang="en-GB" sz="800" dirty="0"/>
          </a:p>
          <a:p>
            <a:pPr fontAlgn="base">
              <a:buNone/>
            </a:pPr>
            <a:r>
              <a:rPr lang="en-GB" sz="800" b="0" i="0" dirty="0">
                <a:effectLst/>
                <a:latin typeface="HSO Diatype"/>
              </a:rPr>
              <a:t>URAUFFÜHRUNG: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 err="1">
                <a:effectLst/>
                <a:latin typeface="HSO Diatype"/>
              </a:rPr>
              <a:t>Königlich</a:t>
            </a:r>
            <a:r>
              <a:rPr lang="en-GB" sz="800" b="0" i="0" dirty="0">
                <a:effectLst/>
                <a:latin typeface="HSO Diatype"/>
              </a:rPr>
              <a:t> </a:t>
            </a:r>
            <a:r>
              <a:rPr lang="en-GB" sz="800" b="0" i="0" dirty="0" err="1">
                <a:effectLst/>
                <a:latin typeface="HSO Diatype"/>
              </a:rPr>
              <a:t>Dänisches</a:t>
            </a:r>
            <a:r>
              <a:rPr lang="en-GB" sz="800" b="0" i="0" dirty="0">
                <a:effectLst/>
                <a:latin typeface="HSO Diatype"/>
              </a:rPr>
              <a:t> </a:t>
            </a:r>
            <a:r>
              <a:rPr lang="en-GB" sz="800" b="0" i="0" dirty="0" err="1">
                <a:effectLst/>
                <a:latin typeface="HSO Diatype"/>
              </a:rPr>
              <a:t>Ballett</a:t>
            </a:r>
            <a:r>
              <a:rPr lang="en-GB" sz="800" b="0" i="0" dirty="0">
                <a:effectLst/>
                <a:latin typeface="HSO Diatype"/>
              </a:rPr>
              <a:t>, </a:t>
            </a:r>
            <a:r>
              <a:rPr lang="en-GB" sz="800" b="0" i="0" dirty="0" err="1">
                <a:effectLst/>
                <a:latin typeface="HSO Diatype"/>
              </a:rPr>
              <a:t>Opernhaus</a:t>
            </a:r>
            <a:r>
              <a:rPr lang="en-GB" sz="800" b="0" i="0" dirty="0">
                <a:effectLst/>
                <a:latin typeface="HSO Diatype"/>
              </a:rPr>
              <a:t>, </a:t>
            </a:r>
            <a:r>
              <a:rPr lang="en-GB" sz="800" b="0" i="0" dirty="0" err="1">
                <a:effectLst/>
                <a:latin typeface="HSO Diatype"/>
              </a:rPr>
              <a:t>Kopenhagen</a:t>
            </a:r>
            <a:r>
              <a:rPr lang="en-GB" sz="800" b="0" i="0" dirty="0">
                <a:effectLst/>
                <a:latin typeface="HSO Diatype"/>
              </a:rPr>
              <a:t>, 15. April 2005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PREMIERE IN HAMBURG: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Hamburg </a:t>
            </a:r>
            <a:r>
              <a:rPr lang="en-GB" sz="800" b="0" i="0" dirty="0" err="1">
                <a:effectLst/>
                <a:latin typeface="HSO Diatype"/>
              </a:rPr>
              <a:t>Ballett</a:t>
            </a:r>
            <a:r>
              <a:rPr lang="en-GB" sz="800" b="0" i="0" dirty="0">
                <a:effectLst/>
                <a:latin typeface="HSO Diatype"/>
              </a:rPr>
              <a:t>, 1. Juli 2007</a:t>
            </a:r>
            <a:br>
              <a:rPr lang="en-GB" sz="800" b="0" i="0" dirty="0">
                <a:effectLst/>
                <a:latin typeface="HSO Diatype"/>
              </a:rPr>
            </a:b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ORIGINALBESETZUNG: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Der Dichter: Mogens Boesen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Die </a:t>
            </a:r>
            <a:r>
              <a:rPr lang="en-GB" sz="800" b="0" i="0" dirty="0" err="1">
                <a:effectLst/>
                <a:latin typeface="HSO Diatype"/>
              </a:rPr>
              <a:t>kleine</a:t>
            </a:r>
            <a:r>
              <a:rPr lang="en-GB" sz="800" b="0" i="0" dirty="0">
                <a:effectLst/>
                <a:latin typeface="HSO Diatype"/>
              </a:rPr>
              <a:t> </a:t>
            </a:r>
            <a:r>
              <a:rPr lang="en-GB" sz="800" b="0" i="0" dirty="0" err="1">
                <a:effectLst/>
                <a:latin typeface="HSO Diatype"/>
              </a:rPr>
              <a:t>Meerjungfrau</a:t>
            </a:r>
            <a:r>
              <a:rPr lang="en-GB" sz="800" b="0" i="0" dirty="0">
                <a:effectLst/>
                <a:latin typeface="HSO Diatype"/>
              </a:rPr>
              <a:t>: Marie-Pierre Greve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Edvard/Der Prinz: Kenneth Greve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Henriette/Die </a:t>
            </a:r>
            <a:r>
              <a:rPr lang="en-GB" sz="800" b="0" i="0" dirty="0" err="1">
                <a:effectLst/>
                <a:latin typeface="HSO Diatype"/>
              </a:rPr>
              <a:t>Prinzessin</a:t>
            </a:r>
            <a:r>
              <a:rPr lang="en-GB" sz="800" b="0" i="0" dirty="0">
                <a:effectLst/>
                <a:latin typeface="HSO Diatype"/>
              </a:rPr>
              <a:t>: Gudrun Bojesen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Der </a:t>
            </a:r>
            <a:r>
              <a:rPr lang="en-GB" sz="800" b="0" i="0" dirty="0" err="1">
                <a:effectLst/>
                <a:latin typeface="HSO Diatype"/>
              </a:rPr>
              <a:t>Meerhexer</a:t>
            </a:r>
            <a:r>
              <a:rPr lang="en-GB" sz="800" b="0" i="0" dirty="0">
                <a:effectLst/>
                <a:latin typeface="HSO Diatype"/>
              </a:rPr>
              <a:t>: Jean-Lucien Massot</a:t>
            </a:r>
            <a:br>
              <a:rPr lang="en-GB" sz="800" b="0" i="0" dirty="0">
                <a:effectLst/>
                <a:latin typeface="HSO Diatype"/>
              </a:rPr>
            </a:b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GASTSPIELE: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2009 Nagoya, Nishinomiya, Tokio 2013 Costa Mesa (CA), Baden-Baden 2017 Washington</a:t>
            </a:r>
            <a:br>
              <a:rPr lang="en-GB" sz="800" b="0" i="0" dirty="0">
                <a:effectLst/>
                <a:latin typeface="HSO Diatype"/>
              </a:rPr>
            </a:b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IM REPERTOIRE: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Houston Ballet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Joffrey Ballet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 err="1">
                <a:effectLst/>
                <a:latin typeface="HSO Diatype"/>
              </a:rPr>
              <a:t>Königlich</a:t>
            </a:r>
            <a:r>
              <a:rPr lang="en-GB" sz="800" b="0" i="0" dirty="0">
                <a:effectLst/>
                <a:latin typeface="HSO Diatype"/>
              </a:rPr>
              <a:t> </a:t>
            </a:r>
            <a:r>
              <a:rPr lang="en-GB" sz="800" b="0" i="0" dirty="0" err="1">
                <a:effectLst/>
                <a:latin typeface="HSO Diatype"/>
              </a:rPr>
              <a:t>Dänisches</a:t>
            </a:r>
            <a:r>
              <a:rPr lang="en-GB" sz="800" b="0" i="0" dirty="0">
                <a:effectLst/>
                <a:latin typeface="HSO Diatype"/>
              </a:rPr>
              <a:t> </a:t>
            </a:r>
            <a:r>
              <a:rPr lang="en-GB" sz="800" b="0" i="0" dirty="0" err="1">
                <a:effectLst/>
                <a:latin typeface="HSO Diatype"/>
              </a:rPr>
              <a:t>Ballett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San Francisco Ballet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Stanislawski- und </a:t>
            </a:r>
            <a:r>
              <a:rPr lang="en-GB" sz="800" b="0" i="0" dirty="0" err="1">
                <a:effectLst/>
                <a:latin typeface="HSO Diatype"/>
              </a:rPr>
              <a:t>Nemirowitsch-Dantschenko-Musiktheater</a:t>
            </a:r>
            <a:br>
              <a:rPr lang="en-GB" sz="800" b="0" i="0" dirty="0">
                <a:effectLst/>
                <a:latin typeface="HSO Diatype"/>
              </a:rPr>
            </a:br>
            <a:r>
              <a:rPr lang="en-GB" sz="800" b="0" i="0" dirty="0">
                <a:effectLst/>
                <a:latin typeface="HSO Diatype"/>
              </a:rPr>
              <a:t>The National Ballet of China</a:t>
            </a:r>
          </a:p>
          <a:p>
            <a:pPr fontAlgn="base">
              <a:buNone/>
            </a:pPr>
            <a:endParaRPr lang="en-GB" sz="800" dirty="0">
              <a:latin typeface="HSO Diatype"/>
            </a:endParaRPr>
          </a:p>
          <a:p>
            <a:pPr>
              <a:buNone/>
            </a:pPr>
            <a:r>
              <a:rPr lang="zh-CN" altLang="en-US" sz="800" b="1" dirty="0"/>
              <a:t>序幕（</a:t>
            </a:r>
            <a:r>
              <a:rPr lang="en-GB" sz="800" b="1" dirty="0" err="1"/>
              <a:t>Prolog</a:t>
            </a:r>
            <a:r>
              <a:rPr lang="en-GB" sz="800" b="1" dirty="0"/>
              <a:t>）</a:t>
            </a:r>
          </a:p>
          <a:p>
            <a:pPr>
              <a:buNone/>
            </a:pPr>
            <a:r>
              <a:rPr lang="zh-CN" altLang="en-US" sz="800" dirty="0"/>
              <a:t>在一次海上航行中，诗人回忆起爱德华与亨丽埃特的婚礼。一滴泪珠缓缓滑落他的面颊，坠入记忆与幻想的浩瀚之海。</a:t>
            </a:r>
            <a:br>
              <a:rPr lang="zh-CN" altLang="en-US" sz="800" dirty="0"/>
            </a:b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第一部分（</a:t>
            </a:r>
            <a:r>
              <a:rPr lang="en-GB" sz="800" b="1" dirty="0"/>
              <a:t>Teil 1）</a:t>
            </a:r>
          </a:p>
          <a:p>
            <a:pPr>
              <a:buNone/>
            </a:pPr>
            <a:r>
              <a:rPr lang="zh-CN" altLang="en-US" sz="800" dirty="0"/>
              <a:t>在海底，诗人对爱德华的思念化作了“小美人鱼”的形象。她望见海面上的一艘船，憧憬着人类的世界。船上，水手们在操练，他们的船长</a:t>
            </a:r>
            <a:r>
              <a:rPr lang="en-US" altLang="zh-CN" sz="800" dirty="0"/>
              <a:t>——</a:t>
            </a:r>
            <a:r>
              <a:rPr lang="zh-CN" altLang="en-US" sz="800" dirty="0"/>
              <a:t>一位与爱德华极为相似的王子</a:t>
            </a:r>
            <a:r>
              <a:rPr lang="en-US" altLang="zh-CN" sz="800" dirty="0"/>
              <a:t>——</a:t>
            </a:r>
            <a:r>
              <a:rPr lang="zh-CN" altLang="en-US" sz="800" dirty="0"/>
              <a:t>荒诞地在甲板上打高尔夫球。当他将球击出船外时，球坠入大海，王子也随之落水。虽然他看不见她，小美人鱼却如幽香般将他拥入怀中。</a:t>
            </a:r>
          </a:p>
          <a:p>
            <a:pPr>
              <a:buNone/>
            </a:pPr>
            <a:r>
              <a:rPr lang="zh-CN" altLang="en-US" sz="800" dirty="0"/>
              <a:t>海巫登场，猛烈的暴风骤起。若非小美人鱼凭借诗人的意志相救，王子恐怕已溺亡。她吻了他。</a:t>
            </a:r>
          </a:p>
          <a:p>
            <a:pPr>
              <a:buNone/>
            </a:pPr>
            <a:r>
              <a:rPr lang="zh-CN" altLang="en-US" sz="800" dirty="0"/>
              <a:t>钟声响起。岸边出现一群修道院女学生。其中一位公主</a:t>
            </a:r>
            <a:r>
              <a:rPr lang="en-US" altLang="zh-CN" sz="800" dirty="0"/>
              <a:t>——</a:t>
            </a:r>
            <a:r>
              <a:rPr lang="zh-CN" altLang="en-US" sz="800" dirty="0"/>
              <a:t>她与亨丽埃特极为相似</a:t>
            </a:r>
            <a:r>
              <a:rPr lang="en-US" altLang="zh-CN" sz="800" dirty="0"/>
              <a:t>——</a:t>
            </a:r>
            <a:r>
              <a:rPr lang="zh-CN" altLang="en-US" sz="800" dirty="0"/>
              <a:t>发现了昏迷的王子，轻轻将他唤醒。王子误以为是她救了自己，并似乎爱上了她。</a:t>
            </a:r>
          </a:p>
          <a:p>
            <a:pPr>
              <a:buNone/>
            </a:pPr>
            <a:r>
              <a:rPr lang="zh-CN" altLang="en-US" sz="800" dirty="0"/>
              <a:t>小美人鱼悲伤地目睹王子与公主之间萌生的情愫。她的渴望化为绝望，折射出诗人灵魂的痛苦。</a:t>
            </a:r>
          </a:p>
          <a:p>
            <a:pPr>
              <a:buNone/>
            </a:pPr>
            <a:r>
              <a:rPr lang="zh-CN" altLang="en-US" sz="800" dirty="0"/>
              <a:t>她决心成为人类，于是前去求助于海巫。为了爱情，她鼓起勇气请求拥有人的身体</a:t>
            </a:r>
            <a:r>
              <a:rPr lang="en-US" altLang="zh-CN" sz="800" dirty="0"/>
              <a:t>——</a:t>
            </a:r>
            <a:r>
              <a:rPr lang="zh-CN" altLang="en-US" sz="800" dirty="0"/>
              <a:t>无论代价如何。海巫残酷地施法，将她变成人。她拥有了双腿</a:t>
            </a:r>
            <a:r>
              <a:rPr lang="en-US" altLang="zh-CN" sz="800" dirty="0"/>
              <a:t>……</a:t>
            </a:r>
          </a:p>
          <a:p>
            <a:pPr>
              <a:buNone/>
            </a:pPr>
            <a:r>
              <a:rPr lang="zh-CN" altLang="en-US" sz="800" dirty="0"/>
              <a:t>她赤身在岸上醒来，迈出第一步时承受着难以忍受的疼痛。年轻的王子出现了，对这个奇异的生物生出怜悯，将她抱上船。她的梦想似乎要实现了。</a:t>
            </a:r>
          </a:p>
          <a:p>
            <a:pPr>
              <a:buNone/>
            </a:pPr>
            <a:r>
              <a:rPr lang="zh-CN" altLang="en-US" sz="800" dirty="0"/>
              <a:t>然而，当公主也出现在船上时，王子与她的爱情愈发炽热，而小美人鱼也愈加深陷人类的苦难。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第二部分（</a:t>
            </a:r>
            <a:r>
              <a:rPr lang="en-GB" sz="800" b="1" dirty="0"/>
              <a:t>Teil 2）</a:t>
            </a:r>
          </a:p>
          <a:p>
            <a:pPr>
              <a:buNone/>
            </a:pPr>
            <a:r>
              <a:rPr lang="zh-CN" altLang="en-US" sz="800" dirty="0"/>
              <a:t>小美人鱼渴望成为人，但在人类的空间中却饱受幽闭的折磨。尽管努力，她仍笨拙不堪，身体显得格格不入。海底生活的幻象不断侵入她的梦境</a:t>
            </a:r>
            <a:r>
              <a:rPr lang="en-US" altLang="zh-CN" sz="800" dirty="0"/>
              <a:t>……</a:t>
            </a:r>
          </a:p>
          <a:p>
            <a:pPr>
              <a:buNone/>
            </a:pPr>
            <a:r>
              <a:rPr lang="zh-CN" altLang="en-US" sz="800" dirty="0"/>
              <a:t>她深深爱着王子，却无法得到回应</a:t>
            </a:r>
            <a:r>
              <a:rPr lang="en-US" altLang="zh-CN" sz="800" dirty="0"/>
              <a:t>——</a:t>
            </a:r>
            <a:r>
              <a:rPr lang="zh-CN" altLang="en-US" sz="800" dirty="0"/>
              <a:t>因为就在今天，他将与公主成婚，而她自己则是伴娘。婚宴上，海巫以奇异的表演者身份出现，递给她一把锋利的匕首，并许诺：只要她杀死王子，就能重获鱼尾，回归海底的故乡。</a:t>
            </a:r>
          </a:p>
          <a:p>
            <a:pPr>
              <a:buNone/>
            </a:pPr>
            <a:r>
              <a:rPr lang="zh-CN" altLang="en-US" sz="800" dirty="0"/>
              <a:t>然而，她终究无法伤害他。告别之际，王子是否曾感受到她燃烧的情感？他们是否短暂地相拥一吻？随即，王子决然转身，走向与公主的洞房。</a:t>
            </a:r>
          </a:p>
          <a:p>
            <a:pPr>
              <a:buNone/>
            </a:pPr>
            <a:endParaRPr lang="zh-CN" altLang="en-US" sz="800" dirty="0"/>
          </a:p>
          <a:p>
            <a:pPr>
              <a:buNone/>
            </a:pPr>
            <a:r>
              <a:rPr lang="zh-CN" altLang="en-US" sz="800" b="1" dirty="0"/>
              <a:t>尾声（</a:t>
            </a:r>
            <a:r>
              <a:rPr lang="en-GB" sz="800" b="1" dirty="0" err="1"/>
              <a:t>Epilog</a:t>
            </a:r>
            <a:r>
              <a:rPr lang="en-GB" sz="800" b="1" dirty="0"/>
              <a:t>）</a:t>
            </a:r>
          </a:p>
          <a:p>
            <a:pPr>
              <a:buNone/>
            </a:pPr>
            <a:r>
              <a:rPr lang="zh-CN" altLang="en-US" sz="800" dirty="0"/>
              <a:t>小美人鱼孤独地留在原地。她的痛苦映照出诗人的悲哀，他们仿佛互为彼此的影子</a:t>
            </a:r>
            <a:r>
              <a:rPr lang="en-US" altLang="zh-CN" sz="800" dirty="0"/>
              <a:t>——</a:t>
            </a:r>
            <a:r>
              <a:rPr lang="zh-CN" altLang="en-US" sz="800" dirty="0"/>
              <a:t>创作者与被创造者融为一体。诗人对小美人鱼的爱赋予了她灵魂，使她获得不朽；而她的存在，又让诗人的创作超越了死亡。最终，他们无所畏惧地踏上旅程，去寻找一个新的世界。</a:t>
            </a:r>
          </a:p>
          <a:p>
            <a:pPr fontAlgn="base">
              <a:buNone/>
            </a:pPr>
            <a:endParaRPr lang="en-GB" sz="800" b="0" i="0" dirty="0">
              <a:effectLst/>
              <a:latin typeface="HSO Diatyp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2DFA58-70CB-E947-5618-6246C83D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844" y="146050"/>
            <a:ext cx="4572000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2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722</Words>
  <Application>Microsoft Macintosh PowerPoint</Application>
  <PresentationFormat>A4 Paper (210x297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HSO Diatype</vt:lpstr>
      <vt:lpstr>inherit</vt:lpstr>
      <vt:lpstr>Arial</vt:lpstr>
      <vt:lpstr>Calibri</vt:lpstr>
      <vt:lpstr>Calibri Light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Bai, Zehui</dc:creator>
  <cp:lastModifiedBy>Zehui Bai</cp:lastModifiedBy>
  <cp:revision>172</cp:revision>
  <cp:lastPrinted>2025-10-18T11:56:03Z</cp:lastPrinted>
  <dcterms:created xsi:type="dcterms:W3CDTF">2022-11-07T20:45:57Z</dcterms:created>
  <dcterms:modified xsi:type="dcterms:W3CDTF">2025-10-18T11:56:05Z</dcterms:modified>
</cp:coreProperties>
</file>